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0" r:id="rId8"/>
    <p:sldId id="261" r:id="rId9"/>
    <p:sldId id="262" r:id="rId10"/>
    <p:sldId id="263" r:id="rId11"/>
    <p:sldId id="264" r:id="rId12"/>
    <p:sldId id="265" r:id="rId13"/>
    <p:sldId id="266" r:id="rId14"/>
    <p:sldId id="267" r:id="rId15"/>
    <p:sldId id="273" r:id="rId16"/>
    <p:sldId id="281" r:id="rId17"/>
    <p:sldId id="274" r:id="rId18"/>
    <p:sldId id="277" r:id="rId19"/>
    <p:sldId id="278" r:id="rId20"/>
    <p:sldId id="279" r:id="rId21"/>
    <p:sldId id="275" r:id="rId22"/>
    <p:sldId id="280" r:id="rId23"/>
    <p:sldId id="276"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ECB43-5EF0-4C7F-BE41-33A1BD7CFBE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C6B604-4E28-4FE8-B6D9-6501A821FFF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sz="1200"/>
              <a:t>研究现状与三个后续研究内容的衔接：</a:t>
            </a:r>
            <a:endParaRPr lang="zh-CN" sz="1200"/>
          </a:p>
          <a:p>
            <a:r>
              <a:rPr lang="zh-CN" sz="1200"/>
              <a:t>1. MultiCorrupt、Robo3D等研究表明需要按退化类型和强度分析感知变化，对应多模态数据特性分析与退化方法。</a:t>
            </a:r>
            <a:endParaRPr lang="zh-CN" sz="1200"/>
          </a:p>
          <a:p>
            <a:r>
              <a:rPr lang="zh-CN" sz="1200"/>
              <a:t>2. TransFusion、ReliFusion研究了自适应特征关联或可靠性调节，对应输入质量引导的融合机制研究。</a:t>
            </a:r>
            <a:endParaRPr lang="zh-CN" sz="1200"/>
          </a:p>
          <a:p>
            <a:r>
              <a:rPr lang="zh-CN" sz="1200"/>
              <a:t>3. 计算开销的直接依据为UMoE[18]第6.5节（MC-dropout runtime analysis）：作者在各传感器检测器的检测头上执行10次MC-Dropout推理。不确定性编码前后，RetinaNet由约40 fps变为6 fps，SECOND由24 fps变为11 fps，PointPillar由40 fps变为15 fps。以上为单模态检测器的速度，不是完整融合系统速度，也不能将下降单独归因于MoE模块。论文还说明5次运行后性能增益趋稳，并讨论通过并行计算缓解成本。表格据此归纳重复推理会增加开销、降低速度，未泛称所有鲁棒融合方法计算量大。</a:t>
            </a:r>
            <a:endParaRPr lang="zh-CN" sz="1200"/>
          </a:p>
          <a:p>
            <a:r>
              <a:rPr lang="zh-CN" sz="1200"/>
              <a:t>[13] TransFusion: https://arxiv.org/abs/2203.11496</a:t>
            </a:r>
            <a:endParaRPr lang="zh-CN" sz="1200"/>
          </a:p>
          <a:p>
            <a:r>
              <a:rPr lang="zh-CN" sz="1200"/>
              <a:t>[14] BEVFusion: https://arxiv.org/abs/2205.13542</a:t>
            </a:r>
            <a:endParaRPr lang="zh-CN" sz="1200"/>
          </a:p>
          <a:p>
            <a:r>
              <a:rPr lang="zh-CN" sz="1200"/>
              <a:t>[17] MultiCorrupt: https://arxiv.org/abs/2402.11677</a:t>
            </a:r>
            <a:endParaRPr lang="zh-CN" sz="1200"/>
          </a:p>
          <a:p>
            <a:r>
              <a:rPr lang="zh-CN" sz="1200"/>
              <a:t>[19] ReliFusion: https://arxiv.org/abs/2502.01856</a:t>
            </a:r>
            <a:endParaRPr lang="zh-CN" sz="1200"/>
          </a:p>
          <a:p>
            <a:r>
              <a:rPr lang="zh-CN" sz="1200"/>
              <a:t>[18] Yang Lou et al., Uncertainty-Encoded Multi-Modal Fusion for Robust Object Detection in Autonomous Driving, ECAI 2023, Section 6.5. DOI:10.3233/FAIA230441. https://arxiv.org/html/2307.16121#S6.SS5 ; https://arxiv.org/pdf/2307.16121 （PDF第7页）。</a:t>
            </a:r>
            <a:endParaRPr lang="zh-CN" sz="1200"/>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后续研究分为三个方向。第一个方向分析复杂工况下图像和点云的数据变化，并引入更充分的退化方法，建立成对数据、筛选质量指标。第二个方向利用这些指标生成模态权重，调节图像与点云特征的融合。第三个方向研究指标与模块的精简，控制新增计算开销。三个方向围绕同一套检测系统展开，分别提供数据依据、方法改进和效率支撑。</a:t>
            </a:r>
            <a:endParaRPr lang="zh-CN" altLang="en-US"/>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本页为拟研究的技术路线，图示不是实验结果。六类退化方法依据图像语义与点云几何质量变化需求选择。图像采用亮度衰减与混合噪声、深度相关散射、深度运动模糊和泊松高斯噪声；点云采用扫描线删减与分级坐标噪声。拟按退化类型选取质量指标，设置物理合理范围内的目标质量变化区间，并离线检查、调节参数，保存符合设定的成对样本；质量指标和阈值在训练数据中确定，不能用测试集检测结果反向调整退化参数，也不保证质量指标变化等价于检测精度变化。评价拟与固定参数生成方式比较，检查质量变化分布、失败比例及后续检测任务收益。已有3DCC第3.2节使用平均SSIM校准退化强度，因此质量校准本身不是本课题已确认的创新。本课题面向质量引导融合的具体多模态指标选择和反馈调节仍属待验证设计，不宣称首创。来源：3D Common Corruptions and Data Augmentation, CVPR 2022, https://openaccess.thecvf.com/content/CVPR2022/papers/Kar_3D_Common_Corruptions_and_Data_Augmentation_CVPR_2022_paper.pdf ; MultiCorrupt, IV 2024, https://github.com/ika-rwth-aachen/MultiCorrupt ; 成像噪声原理：https://doi.org/10.1109/TIP.2008.2001399 。</a:t>
            </a:r>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图中的实线表示特征流，虚线表示权重调节。图像和点云分别提取特征，同时统计质量指标；两类指标归一化后，送入小型</a:t>
            </a:r>
            <a:r>
              <a:rPr lang="en-US" altLang="zh-CN"/>
              <a:t>MLP</a:t>
            </a:r>
            <a:r>
              <a:rPr lang="zh-CN" altLang="en-US"/>
              <a:t>，再通过</a:t>
            </a:r>
            <a:r>
              <a:rPr lang="en-US" altLang="zh-CN"/>
              <a:t>Softmax</a:t>
            </a:r>
            <a:r>
              <a:rPr lang="zh-CN" altLang="en-US"/>
              <a:t>生成图像权重和点云权重。这两项权重分别调节已对齐的图像特征与点云特征，之后完成加权拼接与三维检测。后续拟基于检测任务训练权重模块，并与原始</a:t>
            </a:r>
            <a:r>
              <a:rPr lang="en-US" altLang="zh-CN"/>
              <a:t>MVX-Net</a:t>
            </a:r>
            <a:r>
              <a:rPr lang="zh-CN" altLang="en-US"/>
              <a:t>进行对比，验证这种质量引导是否有效。</a:t>
            </a:r>
            <a:endParaRPr lang="zh-CN" altLang="en-US"/>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第三个方向关注获得改进效果需要增加多少计算。首先比较不同质量指标的作用，去掉贡献小、重复或计算成本高的统计；其次控制</a:t>
            </a:r>
            <a:r>
              <a:rPr lang="en-US" altLang="zh-CN"/>
              <a:t>MLP</a:t>
            </a:r>
            <a:r>
              <a:rPr lang="zh-CN" altLang="en-US"/>
              <a:t>规模，优先选择简单门控加权。评价时不仅看网络参数，还统计质量计算、权重生成和特征加权的总开销，同时比较检测性能、端到端耗时及显存。这里的目标是控制相对原</a:t>
            </a:r>
            <a:r>
              <a:rPr lang="en-US" altLang="zh-CN"/>
              <a:t>MVX-Net</a:t>
            </a:r>
            <a:r>
              <a:rPr lang="zh-CN" altLang="en-US"/>
              <a:t>新增的开销，不是预先宣称增加模块后整体速度一定更快。</a:t>
            </a:r>
            <a:endParaRPr lang="zh-CN" altLang="en-US"/>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sz="1200"/>
              <a:t>本页说明当前方案的实施基础与待满足条件，不代表后续方法已经实现或验证有效。</a:t>
            </a:r>
            <a:endParaRPr lang="zh-CN" sz="1200"/>
          </a:p>
          <a:p>
            <a:r>
              <a:rPr lang="zh-CN" sz="1200"/>
              <a:t>已有基础：PointPillars、MVX-Net推理流程和少量六类简单退化成对样例。尚需完成规模化数据准备、改进模块训练及完整定量评测。</a:t>
            </a:r>
            <a:endParaRPr lang="zh-CN" sz="1200"/>
          </a:p>
          <a:p>
            <a:r>
              <a:rPr lang="zh-CN" sz="1200"/>
              <a:t>数据方向：参考现有公开退化工具，扩充道路场景与退化强度。深度相关雾化、模糊需要补齐或估计深度，并适配KITTI输入与标定；不宣称六类退化都具有原理创新。</a:t>
            </a:r>
            <a:endParaRPr lang="zh-CN" sz="1200"/>
          </a:p>
          <a:p>
            <a:r>
              <a:rPr lang="zh-CN" sz="1200"/>
              <a:t>融合方向：指标可计算不等于能可靠描述检测质量。指标组合与融合权重需要利用检测任务训练、对比实验和模块消融验证。</a:t>
            </a:r>
            <a:endParaRPr lang="zh-CN" sz="1200"/>
          </a:p>
          <a:p>
            <a:r>
              <a:rPr lang="zh-CN" sz="1200"/>
              <a:t>轻量化方向：完整计算质量统计、权重生成和特征加权的新增成本，在一致硬件和设置下比较检测性能、端到端耗时、参数量及显存。</a:t>
            </a:r>
            <a:endParaRPr lang="zh-CN" sz="1200"/>
          </a:p>
          <a:p>
            <a:r>
              <a:rPr lang="zh-CN" sz="1200"/>
              <a:t>评价方向：使用带标注数据计算3D AP、召回及定位误差；数量与置信度仅辅助分析，不替代检测精度评价。</a:t>
            </a:r>
            <a:endParaRPr lang="zh-CN" sz="1200"/>
          </a:p>
          <a:p>
            <a:r>
              <a:rPr lang="zh-CN" sz="1200"/>
              <a:t>3DCC官方实现：https://github.com/EPFL-VILAB/3DCommonCorruptions</a:t>
            </a:r>
            <a:endParaRPr lang="zh-CN" sz="1200"/>
          </a:p>
          <a:p>
            <a:r>
              <a:rPr lang="zh-CN" sz="1200"/>
              <a:t>MultiCorrupt官方实现：https://github.com/ika-rwth-aachen/MultiCorrupt</a:t>
            </a:r>
            <a:endParaRPr lang="zh-CN" sz="1200"/>
          </a:p>
        </p:txBody>
      </p:sp>
      <p:sp>
        <p:nvSpPr>
          <p:cNvPr id="4" name="灯片编号占位符 3"/>
          <p:cNvSpPr>
            <a:spLocks noGrp="1"/>
          </p:cNvSpPr>
          <p:nvPr>
            <p:ph type="sldNum" sz="quarter" idx="5"/>
          </p:nvPr>
        </p:nvSpPr>
        <p:spPr/>
        <p:txBody>
          <a:bodyPr/>
          <a:lstStyle/>
          <a:p>
            <a:fld id="{F0C6B604-4E28-4FE8-B6D9-6501A821FFF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1016B18-F9C4-48E5-916F-D8CF7AC66BF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918EFD-174B-40B9-AB68-3392A6B1899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016B18-F9C4-48E5-916F-D8CF7AC66BF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918EFD-174B-40B9-AB68-3392A6B1899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0"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jpeg"/><Relationship Id="rId1" Type="http://schemas.openxmlformats.org/officeDocument/2006/relationships/image" Target="../media/image20.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3" Type="http://schemas.openxmlformats.org/officeDocument/2006/relationships/slideLayout" Target="../slideLayouts/slideLayout7.xml"/><Relationship Id="rId12" Type="http://schemas.openxmlformats.org/officeDocument/2006/relationships/image" Target="../media/image37.png"/><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7.xml"/><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7018215" y="1041400"/>
            <a:ext cx="5115169" cy="5613400"/>
          </a:xfrm>
          <a:prstGeom prst="rect">
            <a:avLst/>
          </a:prstGeom>
        </p:spPr>
      </p:pic>
      <p:sp>
        <p:nvSpPr>
          <p:cNvPr id="4" name="文本框 3"/>
          <p:cNvSpPr txBox="1"/>
          <p:nvPr/>
        </p:nvSpPr>
        <p:spPr>
          <a:xfrm>
            <a:off x="622300" y="546100"/>
            <a:ext cx="6286500" cy="345440"/>
          </a:xfrm>
          <a:prstGeom prst="rect">
            <a:avLst/>
          </a:prstGeom>
          <a:noFill/>
        </p:spPr>
        <p:txBody>
          <a:bodyPr vert="horz" wrap="square" lIns="0" tIns="0" rIns="0" bIns="0" rtlCol="0">
            <a:noAutofit/>
          </a:bodyPr>
          <a:lstStyle/>
          <a:p>
            <a:r>
              <a:rPr lang="zh-CN" altLang="en-US" sz="2100" b="1">
                <a:solidFill>
                  <a:srgbClr val="004A9F"/>
                </a:solidFill>
                <a:latin typeface="微软雅黑" panose="020B0503020204020204" pitchFamily="34" charset="-122"/>
                <a:ea typeface="微软雅黑" panose="020B0503020204020204" pitchFamily="34" charset="-122"/>
              </a:rPr>
              <a:t>硕士学位论文开题汇报</a:t>
            </a:r>
            <a:endParaRPr lang="zh-CN" altLang="en-US" sz="2100" b="1">
              <a:solidFill>
                <a:srgbClr val="004A9F"/>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93200" y="596900"/>
            <a:ext cx="2705100" cy="276999"/>
          </a:xfrm>
          <a:prstGeom prst="rect">
            <a:avLst/>
          </a:prstGeom>
          <a:noFill/>
        </p:spPr>
        <p:txBody>
          <a:bodyPr vert="horz" wrap="square" lIns="0" tIns="0" rIns="0" bIns="0" rtlCol="0">
            <a:noAutofit/>
          </a:bodyPr>
          <a:lstStyle/>
          <a:p>
            <a:r>
              <a:rPr lang="en-US" altLang="zh-CN" sz="1300">
                <a:solidFill>
                  <a:srgbClr val="586674"/>
                </a:solidFill>
                <a:latin typeface="微软雅黑" panose="020B0503020204020204" pitchFamily="34" charset="-122"/>
                <a:ea typeface="微软雅黑" panose="020B0503020204020204" pitchFamily="34" charset="-122"/>
              </a:rPr>
              <a:t>Northeastern University</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35000" y="1028700"/>
            <a:ext cx="6858000" cy="0"/>
          </a:xfrm>
          <a:prstGeom prst="line">
            <a:avLst/>
          </a:prstGeom>
          <a:ln w="50800">
            <a:solidFill>
              <a:srgbClr val="D8E4E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35000" y="1028700"/>
            <a:ext cx="609600" cy="0"/>
          </a:xfrm>
          <a:prstGeom prst="line">
            <a:avLst/>
          </a:prstGeom>
          <a:ln w="50800">
            <a:solidFill>
              <a:srgbClr val="004A9F"/>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2300" y="1892300"/>
            <a:ext cx="7112000" cy="756920"/>
          </a:xfrm>
          <a:prstGeom prst="rect">
            <a:avLst/>
          </a:prstGeom>
          <a:noFill/>
        </p:spPr>
        <p:txBody>
          <a:bodyPr vert="horz" wrap="square" lIns="0" tIns="0" rIns="0" bIns="0" rtlCol="0">
            <a:noAutofit/>
          </a:bodyPr>
          <a:lstStyle/>
          <a:p>
            <a:r>
              <a:rPr lang="zh-CN" altLang="en-US" sz="4800" b="1">
                <a:solidFill>
                  <a:srgbClr val="004A9F"/>
                </a:solidFill>
                <a:latin typeface="微软雅黑" panose="020B0503020204020204" pitchFamily="34" charset="-122"/>
                <a:ea typeface="微软雅黑" panose="020B0503020204020204" pitchFamily="34" charset="-122"/>
              </a:rPr>
              <a:t>复杂工况下</a:t>
            </a:r>
            <a:endParaRPr lang="zh-CN" altLang="en-US" sz="4800" b="1">
              <a:solidFill>
                <a:srgbClr val="004A9F"/>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22300" y="2717800"/>
            <a:ext cx="7048500" cy="726440"/>
          </a:xfrm>
          <a:prstGeom prst="rect">
            <a:avLst/>
          </a:prstGeom>
          <a:noFill/>
        </p:spPr>
        <p:txBody>
          <a:bodyPr vert="horz" wrap="square" lIns="0" tIns="0" rIns="0" bIns="0" rtlCol="0">
            <a:noAutofit/>
          </a:bodyPr>
          <a:lstStyle/>
          <a:p>
            <a:r>
              <a:rPr lang="zh-CN" altLang="en-US" sz="4600" b="1">
                <a:solidFill>
                  <a:srgbClr val="004A9F"/>
                </a:solidFill>
                <a:latin typeface="微软雅黑" panose="020B0503020204020204" pitchFamily="34" charset="-122"/>
                <a:ea typeface="微软雅黑" panose="020B0503020204020204" pitchFamily="34" charset="-122"/>
              </a:rPr>
              <a:t>三维目标检测方法研究</a:t>
            </a:r>
            <a:endParaRPr lang="zh-CN" altLang="en-US" sz="4600" b="1">
              <a:solidFill>
                <a:srgbClr val="004A9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35000" y="3733800"/>
            <a:ext cx="6680200" cy="276999"/>
          </a:xfrm>
          <a:prstGeom prst="rect">
            <a:avLst/>
          </a:prstGeom>
          <a:noFill/>
        </p:spPr>
        <p:txBody>
          <a:bodyPr vert="horz" wrap="square" lIns="0" tIns="0" rIns="0" bIns="0" rtlCol="0">
            <a:noAutofit/>
          </a:bodyPr>
          <a:lstStyle/>
          <a:p>
            <a:r>
              <a:rPr lang="zh-CN" altLang="en-US">
                <a:solidFill>
                  <a:srgbClr val="586674"/>
                </a:solidFill>
                <a:latin typeface="微软雅黑" panose="020B0503020204020204" pitchFamily="34" charset="-122"/>
                <a:ea typeface="微软雅黑" panose="020B0503020204020204" pitchFamily="34" charset="-122"/>
              </a:rPr>
              <a:t>面向图像</a:t>
            </a:r>
            <a:r>
              <a:rPr lang="en-US" altLang="zh-CN">
                <a:solidFill>
                  <a:srgbClr val="586674"/>
                </a:solidFill>
                <a:latin typeface="微软雅黑" panose="020B0503020204020204" pitchFamily="34" charset="-122"/>
                <a:ea typeface="微软雅黑" panose="020B0503020204020204" pitchFamily="34" charset="-122"/>
              </a:rPr>
              <a:t>-</a:t>
            </a:r>
            <a:r>
              <a:rPr lang="zh-CN" altLang="en-US">
                <a:solidFill>
                  <a:srgbClr val="586674"/>
                </a:solidFill>
                <a:latin typeface="微软雅黑" panose="020B0503020204020204" pitchFamily="34" charset="-122"/>
                <a:ea typeface="微软雅黑" panose="020B0503020204020204" pitchFamily="34" charset="-122"/>
              </a:rPr>
              <a:t>激光雷达多模态感知的鲁棒性分析与方法探索</a:t>
            </a:r>
            <a:endParaRPr lang="zh-CN" altLang="en-US">
              <a:solidFill>
                <a:srgbClr val="586674"/>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635000" y="4495800"/>
            <a:ext cx="4699000" cy="0"/>
          </a:xfrm>
          <a:prstGeom prst="line">
            <a:avLst/>
          </a:prstGeom>
          <a:ln w="50800">
            <a:solidFill>
              <a:srgbClr val="D8E4E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35000" y="4495800"/>
            <a:ext cx="723900" cy="0"/>
          </a:xfrm>
          <a:prstGeom prst="line">
            <a:avLst/>
          </a:prstGeom>
          <a:ln w="50800">
            <a:solidFill>
              <a:srgbClr val="004A9F"/>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35000" y="5486400"/>
            <a:ext cx="7112000" cy="276999"/>
          </a:xfrm>
          <a:prstGeom prst="rect">
            <a:avLst/>
          </a:prstGeom>
          <a:noFill/>
        </p:spPr>
        <p:txBody>
          <a:bodyPr vert="horz" wrap="square" lIns="0" tIns="0" rIns="0" bIns="0" rtlCol="0">
            <a:noAutofit/>
          </a:bodyPr>
          <a:lstStyle/>
          <a:p>
            <a:r>
              <a:rPr lang="zh-CN" altLang="en-US" sz="1700">
                <a:solidFill>
                  <a:srgbClr val="18222D"/>
                </a:solidFill>
                <a:latin typeface="微软雅黑" panose="020B0503020204020204" pitchFamily="34" charset="-122"/>
                <a:ea typeface="微软雅黑" panose="020B0503020204020204" pitchFamily="34" charset="-122"/>
              </a:rPr>
              <a:t>汇报人：罗思宇     导师：潘峰     时间：</a:t>
            </a:r>
            <a:r>
              <a:rPr lang="en-US" altLang="zh-CN" sz="1700">
                <a:solidFill>
                  <a:srgbClr val="18222D"/>
                </a:solidFill>
                <a:latin typeface="微软雅黑" panose="020B0503020204020204" pitchFamily="34" charset="-122"/>
                <a:ea typeface="微软雅黑" panose="020B0503020204020204" pitchFamily="34" charset="-122"/>
              </a:rPr>
              <a:t>2026</a:t>
            </a:r>
            <a:r>
              <a:rPr lang="zh-CN" altLang="en-US" sz="1700">
                <a:solidFill>
                  <a:srgbClr val="18222D"/>
                </a:solidFill>
                <a:latin typeface="微软雅黑" panose="020B0503020204020204" pitchFamily="34" charset="-122"/>
                <a:ea typeface="微软雅黑" panose="020B0503020204020204" pitchFamily="34" charset="-122"/>
              </a:rPr>
              <a:t>年</a:t>
            </a:r>
            <a:r>
              <a:rPr lang="en-US" altLang="zh-CN" sz="1700">
                <a:solidFill>
                  <a:srgbClr val="18222D"/>
                </a:solidFill>
                <a:latin typeface="微软雅黑" panose="020B0503020204020204" pitchFamily="34" charset="-122"/>
                <a:ea typeface="微软雅黑" panose="020B0503020204020204" pitchFamily="34" charset="-122"/>
              </a:rPr>
              <a:t>10</a:t>
            </a:r>
            <a:r>
              <a:rPr lang="zh-CN" altLang="en-US" sz="1700">
                <a:solidFill>
                  <a:srgbClr val="18222D"/>
                </a:solidFill>
                <a:latin typeface="微软雅黑" panose="020B0503020204020204" pitchFamily="34" charset="-122"/>
                <a:ea typeface="微软雅黑" panose="020B0503020204020204" pitchFamily="34" charset="-122"/>
              </a:rPr>
              <a:t>月</a:t>
            </a:r>
            <a:endParaRPr lang="zh-CN" altLang="en-US" sz="1700">
              <a:solidFill>
                <a:srgbClr val="18222D"/>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35000" y="5943600"/>
            <a:ext cx="7188200" cy="276999"/>
          </a:xfrm>
          <a:prstGeom prst="rect">
            <a:avLst/>
          </a:prstGeom>
          <a:noFill/>
        </p:spPr>
        <p:txBody>
          <a:bodyPr vert="horz" wrap="square" lIns="0" tIns="0" rIns="0" bIns="0" rtlCol="0">
            <a:noAutofit/>
          </a:bodyPr>
          <a:lstStyle/>
          <a:p>
            <a:r>
              <a:rPr lang="en-US" altLang="zh-CN" sz="1100">
                <a:solidFill>
                  <a:srgbClr val="586674"/>
                </a:solidFill>
                <a:latin typeface="微软雅黑" panose="020B0503020204020204" pitchFamily="34" charset="-122"/>
                <a:ea typeface="微软雅黑" panose="020B0503020204020204" pitchFamily="34" charset="-122"/>
              </a:rPr>
              <a:t>3D Object Detection Under Complex Driving Conditions</a:t>
            </a:r>
            <a:endParaRPr lang="zh-CN" altLang="en-US" sz="1100">
              <a:solidFill>
                <a:srgbClr val="586674"/>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16713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01</a:t>
            </a:r>
            <a:endParaRPr lang="zh-CN" altLang="en-US" sz="1200">
              <a:solidFill>
                <a:srgbClr val="58667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矩形 1"/>
          <p:cNvSpPr/>
          <p:nvPr/>
        </p:nvSpPr>
        <p:spPr>
          <a:xfrm>
            <a:off x="0" y="685800"/>
            <a:ext cx="3911600" cy="61722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4" name="图片 3"/>
          <p:cNvPicPr/>
          <p:nvPr/>
        </p:nvPicPr>
        <p:blipFill>
          <a:blip r:embed="rId1">
            <a:extLst>
              <a:ext uri="{28A0092B-C50C-407E-A947-70E740481C1C}">
                <a14:useLocalDpi xmlns:a14="http://schemas.microsoft.com/office/drawing/2010/main" val="0"/>
              </a:ext>
            </a:extLst>
          </a:blip>
          <a:stretch>
            <a:fillRect/>
          </a:stretch>
        </p:blipFill>
        <p:spPr>
          <a:xfrm>
            <a:off x="21347" y="3886200"/>
            <a:ext cx="2560806" cy="2971800"/>
          </a:xfrm>
          <a:prstGeom prst="rect">
            <a:avLst/>
          </a:prstGeom>
        </p:spPr>
      </p:pic>
      <p:sp>
        <p:nvSpPr>
          <p:cNvPr id="5" name="文本框 4"/>
          <p:cNvSpPr txBox="1"/>
          <p:nvPr/>
        </p:nvSpPr>
        <p:spPr>
          <a:xfrm>
            <a:off x="635000" y="1727200"/>
            <a:ext cx="3048000" cy="848360"/>
          </a:xfrm>
          <a:prstGeom prst="rect">
            <a:avLst/>
          </a:prstGeom>
          <a:noFill/>
        </p:spPr>
        <p:txBody>
          <a:bodyPr vert="horz" wrap="square" lIns="0" tIns="0" rIns="0" bIns="0" rtlCol="0">
            <a:noAutofit/>
          </a:bodyPr>
          <a:lstStyle/>
          <a:p>
            <a:r>
              <a:rPr lang="zh-CN" altLang="en-US" sz="5400" b="1">
                <a:solidFill>
                  <a:srgbClr val="FFFFFF"/>
                </a:solidFill>
                <a:latin typeface="微软雅黑" panose="020B0503020204020204" pitchFamily="34" charset="-122"/>
                <a:ea typeface="微软雅黑" panose="020B0503020204020204" pitchFamily="34" charset="-122"/>
              </a:rPr>
              <a:t>目录</a:t>
            </a:r>
            <a:endParaRPr lang="zh-CN" altLang="en-US" sz="5400" b="1">
              <a:solidFill>
                <a:srgbClr val="FFFFFF"/>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60400" y="2616200"/>
            <a:ext cx="14986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47700" y="2857500"/>
            <a:ext cx="3111500" cy="406400"/>
          </a:xfrm>
          <a:prstGeom prst="rect">
            <a:avLst/>
          </a:prstGeom>
          <a:noFill/>
        </p:spPr>
        <p:txBody>
          <a:bodyPr vert="horz" wrap="square" lIns="0" tIns="0" rIns="0" bIns="0" rtlCol="0">
            <a:noAutofit/>
          </a:bodyPr>
          <a:lstStyle/>
          <a:p>
            <a:r>
              <a:rPr lang="en-US" altLang="zh-CN" sz="2500">
                <a:solidFill>
                  <a:srgbClr val="FFFFFF"/>
                </a:solidFill>
                <a:latin typeface="微软雅黑" panose="020B0503020204020204" pitchFamily="34" charset="-122"/>
                <a:ea typeface="微软雅黑" panose="020B0503020204020204" pitchFamily="34" charset="-122"/>
              </a:rPr>
              <a:t>CONTENTS</a:t>
            </a:r>
            <a:endParaRPr lang="zh-CN" altLang="en-US" sz="2500">
              <a:solidFill>
                <a:srgbClr val="FFFFFF"/>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787900" y="1524000"/>
            <a:ext cx="774700" cy="543560"/>
          </a:xfrm>
          <a:prstGeom prst="rect">
            <a:avLst/>
          </a:prstGeom>
          <a:noFill/>
        </p:spPr>
        <p:txBody>
          <a:bodyPr vert="horz" wrap="square" lIns="0" tIns="0" rIns="0" bIns="0" rtlCol="0">
            <a:noAutofit/>
          </a:bodyPr>
          <a:lstStyle/>
          <a:p>
            <a:r>
              <a:rPr lang="en-US" altLang="zh-CN" sz="3400" b="1">
                <a:solidFill>
                  <a:srgbClr val="004A9F"/>
                </a:solidFill>
                <a:latin typeface="微软雅黑" panose="020B0503020204020204" pitchFamily="34" charset="-122"/>
                <a:ea typeface="微软雅黑" panose="020B0503020204020204" pitchFamily="34" charset="-122"/>
              </a:rPr>
              <a:t>01</a:t>
            </a:r>
            <a:endParaRPr lang="zh-CN" altLang="en-US" sz="3400" b="1">
              <a:solidFill>
                <a:srgbClr val="004A9F"/>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5702300" y="1574800"/>
            <a:ext cx="0" cy="3429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981700" y="1612900"/>
            <a:ext cx="5715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研究背景与技术现状</a:t>
            </a:r>
            <a:endParaRPr lang="zh-CN" altLang="en-US" sz="2200" b="1">
              <a:solidFill>
                <a:srgbClr val="18222D"/>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4800600" y="2209800"/>
            <a:ext cx="6883400" cy="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787900" y="2794000"/>
            <a:ext cx="774700" cy="543560"/>
          </a:xfrm>
          <a:prstGeom prst="rect">
            <a:avLst/>
          </a:prstGeom>
          <a:noFill/>
        </p:spPr>
        <p:txBody>
          <a:bodyPr vert="horz" wrap="square" lIns="0" tIns="0" rIns="0" bIns="0" rtlCol="0">
            <a:noAutofit/>
          </a:bodyPr>
          <a:lstStyle/>
          <a:p>
            <a:r>
              <a:rPr lang="en-US" altLang="zh-CN" sz="3400" b="1">
                <a:solidFill>
                  <a:srgbClr val="16857D"/>
                </a:solidFill>
                <a:latin typeface="微软雅黑" panose="020B0503020204020204" pitchFamily="34" charset="-122"/>
                <a:ea typeface="微软雅黑" panose="020B0503020204020204" pitchFamily="34" charset="-122"/>
              </a:rPr>
              <a:t>02</a:t>
            </a:r>
            <a:endParaRPr lang="zh-CN" altLang="en-US" sz="3400" b="1">
              <a:solidFill>
                <a:srgbClr val="16857D"/>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5702300" y="2844800"/>
            <a:ext cx="0" cy="3429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981700" y="2882900"/>
            <a:ext cx="5715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前期已完成工作</a:t>
            </a:r>
            <a:endParaRPr lang="zh-CN" altLang="en-US" sz="2200" b="1">
              <a:solidFill>
                <a:srgbClr val="18222D"/>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4800600" y="3479800"/>
            <a:ext cx="6883400" cy="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4787900" y="4064000"/>
            <a:ext cx="774700" cy="543560"/>
          </a:xfrm>
          <a:prstGeom prst="rect">
            <a:avLst/>
          </a:prstGeom>
          <a:noFill/>
        </p:spPr>
        <p:txBody>
          <a:bodyPr vert="horz" wrap="square" lIns="0" tIns="0" rIns="0" bIns="0" rtlCol="0">
            <a:noAutofit/>
          </a:bodyPr>
          <a:lstStyle/>
          <a:p>
            <a:r>
              <a:rPr lang="en-US" altLang="zh-CN" sz="3400" b="1">
                <a:solidFill>
                  <a:srgbClr val="B5121B"/>
                </a:solidFill>
                <a:latin typeface="微软雅黑" panose="020B0503020204020204" pitchFamily="34" charset="-122"/>
                <a:ea typeface="微软雅黑" panose="020B0503020204020204" pitchFamily="34" charset="-122"/>
              </a:rPr>
              <a:t>03</a:t>
            </a:r>
            <a:endParaRPr lang="zh-CN" altLang="en-US" sz="3400" b="1">
              <a:solidFill>
                <a:srgbClr val="B5121B"/>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5702300" y="4114800"/>
            <a:ext cx="0" cy="3429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981700" y="4152900"/>
            <a:ext cx="5715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研究内容与技术路线</a:t>
            </a:r>
            <a:endParaRPr lang="zh-CN" altLang="en-US" sz="2200" b="1">
              <a:solidFill>
                <a:srgbClr val="18222D"/>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4800600" y="4749800"/>
            <a:ext cx="6883400" cy="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4787900" y="5334000"/>
            <a:ext cx="774700" cy="543560"/>
          </a:xfrm>
          <a:prstGeom prst="rect">
            <a:avLst/>
          </a:prstGeom>
          <a:noFill/>
        </p:spPr>
        <p:txBody>
          <a:bodyPr vert="horz" wrap="square" lIns="0" tIns="0" rIns="0" bIns="0" rtlCol="0">
            <a:noAutofit/>
          </a:bodyPr>
          <a:lstStyle/>
          <a:p>
            <a:r>
              <a:rPr lang="en-US" altLang="zh-CN" sz="3400" b="1">
                <a:solidFill>
                  <a:srgbClr val="004A9F"/>
                </a:solidFill>
                <a:latin typeface="微软雅黑" panose="020B0503020204020204" pitchFamily="34" charset="-122"/>
                <a:ea typeface="微软雅黑" panose="020B0503020204020204" pitchFamily="34" charset="-122"/>
              </a:rPr>
              <a:t>04</a:t>
            </a:r>
            <a:endParaRPr lang="zh-CN" altLang="en-US" sz="3400" b="1">
              <a:solidFill>
                <a:srgbClr val="004A9F"/>
              </a:solidFill>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5702300" y="5384800"/>
            <a:ext cx="0" cy="3429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981700" y="5422900"/>
            <a:ext cx="5715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预期成果与工作计划</a:t>
            </a:r>
            <a:endParaRPr lang="zh-CN" altLang="en-US" sz="2200" b="1">
              <a:solidFill>
                <a:srgbClr val="18222D"/>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4800600" y="6019800"/>
            <a:ext cx="6883400" cy="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16713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02</a:t>
            </a:r>
            <a:endParaRPr lang="zh-CN" altLang="en-US" sz="1200">
              <a:solidFill>
                <a:srgbClr val="58667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01</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研究背景：复杂道路环境下三维检测稳定性问题</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03</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椭圆 6"/>
          <p:cNvSpPr/>
          <p:nvPr/>
        </p:nvSpPr>
        <p:spPr>
          <a:xfrm>
            <a:off x="368300" y="1041400"/>
            <a:ext cx="368300" cy="368300"/>
          </a:xfrm>
          <a:prstGeom prst="ellipse">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8" name="文本框 7"/>
          <p:cNvSpPr txBox="1"/>
          <p:nvPr/>
        </p:nvSpPr>
        <p:spPr>
          <a:xfrm>
            <a:off x="368300" y="10795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01</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863600" y="1143000"/>
            <a:ext cx="3238500" cy="276999"/>
          </a:xfrm>
          <a:prstGeom prst="rect">
            <a:avLst/>
          </a:prstGeom>
          <a:noFill/>
        </p:spPr>
        <p:txBody>
          <a:bodyPr vert="horz" wrap="square" lIns="0" tIns="0" rIns="0" bIns="0" rtlCol="0">
            <a:noAutofit/>
          </a:bodyPr>
          <a:lstStyle/>
          <a:p>
            <a:r>
              <a:rPr lang="zh-CN" altLang="en-US" sz="1600" b="1">
                <a:solidFill>
                  <a:srgbClr val="18222D"/>
                </a:solidFill>
                <a:latin typeface="微软雅黑" panose="020B0503020204020204" pitchFamily="34" charset="-122"/>
                <a:ea typeface="微软雅黑" panose="020B0503020204020204" pitchFamily="34" charset="-122"/>
              </a:rPr>
              <a:t>智能驾驶依赖三维空间感知</a:t>
            </a:r>
            <a:endParaRPr lang="zh-CN" altLang="en-US" sz="1600" b="1">
              <a:solidFill>
                <a:srgbClr val="18222D"/>
              </a:solidFill>
              <a:latin typeface="微软雅黑" panose="020B0503020204020204" pitchFamily="34" charset="-122"/>
              <a:ea typeface="微软雅黑" panose="020B0503020204020204" pitchFamily="34" charset="-122"/>
            </a:endParaRPr>
          </a:p>
        </p:txBody>
      </p:sp>
      <p:sp>
        <p:nvSpPr>
          <p:cNvPr id="10" name="矩形 9"/>
          <p:cNvSpPr/>
          <p:nvPr/>
        </p:nvSpPr>
        <p:spPr>
          <a:xfrm>
            <a:off x="520700" y="1511300"/>
            <a:ext cx="38100" cy="27686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1" name="文本框 10"/>
          <p:cNvSpPr txBox="1"/>
          <p:nvPr/>
        </p:nvSpPr>
        <p:spPr>
          <a:xfrm>
            <a:off x="876300" y="1562100"/>
            <a:ext cx="3200400" cy="61976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车辆需要持续判断周围车辆、行人和骑行者的位置、尺寸、朝向与相对关系，为目标预测、路径规划和车辆控制提供依据。</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12" name="椭圆 11"/>
          <p:cNvSpPr/>
          <p:nvPr/>
        </p:nvSpPr>
        <p:spPr>
          <a:xfrm>
            <a:off x="4292600" y="1041400"/>
            <a:ext cx="368300" cy="368300"/>
          </a:xfrm>
          <a:prstGeom prst="ellipse">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文本框 12"/>
          <p:cNvSpPr txBox="1"/>
          <p:nvPr/>
        </p:nvSpPr>
        <p:spPr>
          <a:xfrm>
            <a:off x="4292600" y="10795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02</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4787900" y="1143000"/>
            <a:ext cx="3238500" cy="276999"/>
          </a:xfrm>
          <a:prstGeom prst="rect">
            <a:avLst/>
          </a:prstGeom>
          <a:noFill/>
        </p:spPr>
        <p:txBody>
          <a:bodyPr vert="horz" wrap="square" lIns="0" tIns="0" rIns="0" bIns="0" rtlCol="0">
            <a:noAutofit/>
          </a:bodyPr>
          <a:lstStyle/>
          <a:p>
            <a:r>
              <a:rPr lang="zh-CN" altLang="en-US" sz="1600" b="1">
                <a:solidFill>
                  <a:srgbClr val="18222D"/>
                </a:solidFill>
                <a:latin typeface="微软雅黑" panose="020B0503020204020204" pitchFamily="34" charset="-122"/>
                <a:ea typeface="微软雅黑" panose="020B0503020204020204" pitchFamily="34" charset="-122"/>
              </a:rPr>
              <a:t>图像与点云信息具有互补性</a:t>
            </a:r>
            <a:endParaRPr lang="zh-CN" altLang="en-US" sz="1600" b="1">
              <a:solidFill>
                <a:srgbClr val="18222D"/>
              </a:solidFill>
              <a:latin typeface="微软雅黑" panose="020B0503020204020204" pitchFamily="34" charset="-122"/>
              <a:ea typeface="微软雅黑" panose="020B0503020204020204" pitchFamily="34" charset="-122"/>
            </a:endParaRPr>
          </a:p>
        </p:txBody>
      </p:sp>
      <p:sp>
        <p:nvSpPr>
          <p:cNvPr id="15" name="矩形 14"/>
          <p:cNvSpPr/>
          <p:nvPr/>
        </p:nvSpPr>
        <p:spPr>
          <a:xfrm>
            <a:off x="4445000" y="1511300"/>
            <a:ext cx="38100" cy="2768600"/>
          </a:xfrm>
          <a:prstGeom prst="rect">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6" name="文本框 15"/>
          <p:cNvSpPr txBox="1"/>
          <p:nvPr/>
        </p:nvSpPr>
        <p:spPr>
          <a:xfrm>
            <a:off x="4800600" y="1562100"/>
            <a:ext cx="3200400" cy="61976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激光雷达提供空间几何信息，相机图像提供颜色、纹理和语义信息。图像</a:t>
            </a:r>
            <a:r>
              <a:rPr lang="en-US" altLang="zh-CN" sz="1300">
                <a:solidFill>
                  <a:srgbClr val="586674"/>
                </a:solidFill>
                <a:latin typeface="微软雅黑" panose="020B0503020204020204" pitchFamily="34" charset="-122"/>
                <a:ea typeface="微软雅黑" panose="020B0503020204020204" pitchFamily="34" charset="-122"/>
              </a:rPr>
              <a:t>-</a:t>
            </a:r>
            <a:r>
              <a:rPr lang="zh-CN" altLang="en-US" sz="1300">
                <a:solidFill>
                  <a:srgbClr val="586674"/>
                </a:solidFill>
                <a:latin typeface="微软雅黑" panose="020B0503020204020204" pitchFamily="34" charset="-122"/>
                <a:ea typeface="微软雅黑" panose="020B0503020204020204" pitchFamily="34" charset="-122"/>
              </a:rPr>
              <a:t>点云融合已成为智能驾驶三维感知的重要技术路线。</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17" name="椭圆 16"/>
          <p:cNvSpPr/>
          <p:nvPr/>
        </p:nvSpPr>
        <p:spPr>
          <a:xfrm>
            <a:off x="8216900" y="1041400"/>
            <a:ext cx="368300" cy="368300"/>
          </a:xfrm>
          <a:prstGeom prst="ellipse">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8" name="文本框 17"/>
          <p:cNvSpPr txBox="1"/>
          <p:nvPr/>
        </p:nvSpPr>
        <p:spPr>
          <a:xfrm>
            <a:off x="8216900" y="10795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03</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8712200" y="1143000"/>
            <a:ext cx="3238500" cy="276999"/>
          </a:xfrm>
          <a:prstGeom prst="rect">
            <a:avLst/>
          </a:prstGeom>
          <a:noFill/>
        </p:spPr>
        <p:txBody>
          <a:bodyPr vert="horz" wrap="square" lIns="0" tIns="0" rIns="0" bIns="0" rtlCol="0">
            <a:noAutofit/>
          </a:bodyPr>
          <a:lstStyle/>
          <a:p>
            <a:r>
              <a:rPr lang="zh-CN" altLang="en-US" sz="1600" b="1">
                <a:solidFill>
                  <a:srgbClr val="18222D"/>
                </a:solidFill>
                <a:latin typeface="微软雅黑" panose="020B0503020204020204" pitchFamily="34" charset="-122"/>
                <a:ea typeface="微软雅黑" panose="020B0503020204020204" pitchFamily="34" charset="-122"/>
              </a:rPr>
              <a:t>真实道路输入质量并不稳定</a:t>
            </a:r>
            <a:endParaRPr lang="zh-CN" altLang="en-US" sz="1600" b="1">
              <a:solidFill>
                <a:srgbClr val="18222D"/>
              </a:solidFill>
              <a:latin typeface="微软雅黑" panose="020B0503020204020204" pitchFamily="34" charset="-122"/>
              <a:ea typeface="微软雅黑" panose="020B0503020204020204" pitchFamily="34" charset="-122"/>
            </a:endParaRPr>
          </a:p>
        </p:txBody>
      </p:sp>
      <p:sp>
        <p:nvSpPr>
          <p:cNvPr id="20" name="矩形 19"/>
          <p:cNvSpPr/>
          <p:nvPr/>
        </p:nvSpPr>
        <p:spPr>
          <a:xfrm>
            <a:off x="8369300" y="1511300"/>
            <a:ext cx="38100" cy="2768600"/>
          </a:xfrm>
          <a:prstGeom prst="rect">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1" name="文本框 20"/>
          <p:cNvSpPr txBox="1"/>
          <p:nvPr/>
        </p:nvSpPr>
        <p:spPr>
          <a:xfrm>
            <a:off x="8724900" y="1562100"/>
            <a:ext cx="3200400" cy="61976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弱光、雾天、运动模糊、图像噪声、点云稀疏和点云扰动会削弱图像语义或点云几何表达，影响检测结果稳定性。</a:t>
            </a:r>
            <a:endParaRPr lang="zh-CN" altLang="en-US" sz="1300">
              <a:solidFill>
                <a:srgbClr val="586674"/>
              </a:solidFill>
              <a:latin typeface="微软雅黑" panose="020B0503020204020204" pitchFamily="34" charset="-122"/>
              <a:ea typeface="微软雅黑" panose="020B0503020204020204" pitchFamily="34" charset="-122"/>
            </a:endParaRPr>
          </a:p>
        </p:txBody>
      </p:sp>
      <p:pic>
        <p:nvPicPr>
          <p:cNvPr id="23" name="图片 22"/>
          <p:cNvPicPr/>
          <p:nvPr/>
        </p:nvPicPr>
        <p:blipFill>
          <a:blip r:embed="rId1">
            <a:extLst>
              <a:ext uri="{28A0092B-C50C-407E-A947-70E740481C1C}">
                <a14:useLocalDpi xmlns:a14="http://schemas.microsoft.com/office/drawing/2010/main" val="0"/>
              </a:ext>
            </a:extLst>
          </a:blip>
          <a:stretch>
            <a:fillRect/>
          </a:stretch>
        </p:blipFill>
        <p:spPr>
          <a:xfrm>
            <a:off x="686416" y="2387600"/>
            <a:ext cx="3135667" cy="1866900"/>
          </a:xfrm>
          <a:prstGeom prst="rect">
            <a:avLst/>
          </a:prstGeom>
        </p:spPr>
      </p:pic>
      <p:pic>
        <p:nvPicPr>
          <p:cNvPr id="25" name="图片 24"/>
          <p:cNvPicPr/>
          <p:nvPr/>
        </p:nvPicPr>
        <p:blipFill>
          <a:blip r:embed="rId2">
            <a:extLst>
              <a:ext uri="{28A0092B-C50C-407E-A947-70E740481C1C}">
                <a14:useLocalDpi xmlns:a14="http://schemas.microsoft.com/office/drawing/2010/main" val="0"/>
              </a:ext>
            </a:extLst>
          </a:blip>
          <a:stretch>
            <a:fillRect/>
          </a:stretch>
        </p:blipFill>
        <p:spPr>
          <a:xfrm>
            <a:off x="4699000" y="2664959"/>
            <a:ext cx="1409700" cy="956582"/>
          </a:xfrm>
          <a:prstGeom prst="rect">
            <a:avLst/>
          </a:prstGeom>
        </p:spPr>
      </p:pic>
      <p:pic>
        <p:nvPicPr>
          <p:cNvPr id="27" name="图片 26"/>
          <p:cNvPicPr/>
          <p:nvPr/>
        </p:nvPicPr>
        <p:blipFill>
          <a:blip r:embed="rId3">
            <a:extLst>
              <a:ext uri="{28A0092B-C50C-407E-A947-70E740481C1C}">
                <a14:useLocalDpi xmlns:a14="http://schemas.microsoft.com/office/drawing/2010/main" val="0"/>
              </a:ext>
            </a:extLst>
          </a:blip>
          <a:stretch>
            <a:fillRect/>
          </a:stretch>
        </p:blipFill>
        <p:spPr>
          <a:xfrm>
            <a:off x="6375400" y="2671187"/>
            <a:ext cx="1422400" cy="944126"/>
          </a:xfrm>
          <a:prstGeom prst="rect">
            <a:avLst/>
          </a:prstGeom>
        </p:spPr>
      </p:pic>
      <p:sp>
        <p:nvSpPr>
          <p:cNvPr id="28" name="文本框 27"/>
          <p:cNvSpPr txBox="1"/>
          <p:nvPr/>
        </p:nvSpPr>
        <p:spPr>
          <a:xfrm>
            <a:off x="6159500" y="2933700"/>
            <a:ext cx="228600" cy="276999"/>
          </a:xfrm>
          <a:prstGeom prst="rect">
            <a:avLst/>
          </a:prstGeom>
          <a:noFill/>
        </p:spPr>
        <p:txBody>
          <a:bodyPr vert="horz" wrap="square" lIns="0" tIns="0" rIns="0" bIns="0" rtlCol="0">
            <a:noAutofit/>
          </a:bodyPr>
          <a:lstStyle/>
          <a:p>
            <a:pPr algn="ctr"/>
            <a:r>
              <a:rPr lang="en-US" altLang="zh-CN" sz="2000" b="1">
                <a:solidFill>
                  <a:srgbClr val="16857D"/>
                </a:solidFill>
                <a:latin typeface="微软雅黑" panose="020B0503020204020204" pitchFamily="34" charset="-122"/>
                <a:ea typeface="微软雅黑" panose="020B0503020204020204" pitchFamily="34" charset="-122"/>
              </a:rPr>
              <a:t>+</a:t>
            </a:r>
            <a:endParaRPr lang="zh-CN" altLang="en-US" sz="2000" b="1">
              <a:solidFill>
                <a:srgbClr val="16857D"/>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4686300" y="3771900"/>
            <a:ext cx="1435100" cy="360680"/>
          </a:xfrm>
          <a:prstGeom prst="rect">
            <a:avLst/>
          </a:prstGeom>
          <a:noFill/>
        </p:spPr>
        <p:txBody>
          <a:bodyPr vert="horz" wrap="square" lIns="0" tIns="0" rIns="0" bIns="0" rtlCol="0">
            <a:noAutofit/>
          </a:bodyPr>
          <a:lstStyle/>
          <a:p>
            <a:pPr algn="ctr"/>
            <a:r>
              <a:rPr lang="zh-CN" altLang="en-US" sz="1100">
                <a:solidFill>
                  <a:srgbClr val="586674"/>
                </a:solidFill>
                <a:latin typeface="微软雅黑" panose="020B0503020204020204" pitchFamily="34" charset="-122"/>
                <a:ea typeface="微软雅黑" panose="020B0503020204020204" pitchFamily="34" charset="-122"/>
              </a:rPr>
              <a:t>相机图像
颜色、纹理与语义</a:t>
            </a:r>
            <a:endParaRPr lang="zh-CN" altLang="en-US" sz="1100">
              <a:solidFill>
                <a:srgbClr val="586674"/>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350000" y="3771900"/>
            <a:ext cx="1460500" cy="360680"/>
          </a:xfrm>
          <a:prstGeom prst="rect">
            <a:avLst/>
          </a:prstGeom>
          <a:noFill/>
        </p:spPr>
        <p:txBody>
          <a:bodyPr vert="horz" wrap="square" lIns="0" tIns="0" rIns="0" bIns="0" rtlCol="0">
            <a:noAutofit/>
          </a:bodyPr>
          <a:lstStyle/>
          <a:p>
            <a:pPr algn="ctr"/>
            <a:r>
              <a:rPr lang="zh-CN" altLang="en-US" sz="1100">
                <a:solidFill>
                  <a:srgbClr val="586674"/>
                </a:solidFill>
                <a:latin typeface="微软雅黑" panose="020B0503020204020204" pitchFamily="34" charset="-122"/>
                <a:ea typeface="微软雅黑" panose="020B0503020204020204" pitchFamily="34" charset="-122"/>
              </a:rPr>
              <a:t>激光雷达点云
空间几何信息</a:t>
            </a:r>
            <a:endParaRPr lang="zh-CN" altLang="en-US" sz="1100">
              <a:solidFill>
                <a:srgbClr val="586674"/>
              </a:solidFill>
              <a:latin typeface="微软雅黑" panose="020B0503020204020204" pitchFamily="34" charset="-122"/>
              <a:ea typeface="微软雅黑" panose="020B0503020204020204" pitchFamily="34" charset="-122"/>
            </a:endParaRPr>
          </a:p>
        </p:txBody>
      </p:sp>
      <p:pic>
        <p:nvPicPr>
          <p:cNvPr id="32" name="图片 31"/>
          <p:cNvPicPr/>
          <p:nvPr/>
        </p:nvPicPr>
        <p:blipFill>
          <a:blip r:embed="rId4">
            <a:extLst>
              <a:ext uri="{28A0092B-C50C-407E-A947-70E740481C1C}">
                <a14:useLocalDpi xmlns:a14="http://schemas.microsoft.com/office/drawing/2010/main" val="0"/>
              </a:ext>
            </a:extLst>
          </a:blip>
          <a:stretch>
            <a:fillRect/>
          </a:stretch>
        </p:blipFill>
        <p:spPr>
          <a:xfrm>
            <a:off x="8602114" y="2362200"/>
            <a:ext cx="1007571" cy="698500"/>
          </a:xfrm>
          <a:prstGeom prst="rect">
            <a:avLst/>
          </a:prstGeom>
        </p:spPr>
      </p:pic>
      <p:sp>
        <p:nvSpPr>
          <p:cNvPr id="33" name="文本框 32"/>
          <p:cNvSpPr txBox="1"/>
          <p:nvPr/>
        </p:nvSpPr>
        <p:spPr>
          <a:xfrm>
            <a:off x="8597900" y="30988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弱光</a:t>
            </a:r>
            <a:endParaRPr lang="zh-CN" altLang="en-US" sz="1000">
              <a:solidFill>
                <a:srgbClr val="586674"/>
              </a:solidFill>
              <a:latin typeface="微软雅黑" panose="020B0503020204020204" pitchFamily="34" charset="-122"/>
              <a:ea typeface="微软雅黑" panose="020B0503020204020204" pitchFamily="34" charset="-122"/>
            </a:endParaRPr>
          </a:p>
        </p:txBody>
      </p:sp>
      <p:pic>
        <p:nvPicPr>
          <p:cNvPr id="35" name="图片 34"/>
          <p:cNvPicPr/>
          <p:nvPr/>
        </p:nvPicPr>
        <p:blipFill>
          <a:blip r:embed="rId5">
            <a:extLst>
              <a:ext uri="{28A0092B-C50C-407E-A947-70E740481C1C}">
                <a14:useLocalDpi xmlns:a14="http://schemas.microsoft.com/office/drawing/2010/main" val="0"/>
              </a:ext>
            </a:extLst>
          </a:blip>
          <a:stretch>
            <a:fillRect/>
          </a:stretch>
        </p:blipFill>
        <p:spPr>
          <a:xfrm>
            <a:off x="9694314" y="2362200"/>
            <a:ext cx="1007571" cy="698500"/>
          </a:xfrm>
          <a:prstGeom prst="rect">
            <a:avLst/>
          </a:prstGeom>
        </p:spPr>
      </p:pic>
      <p:sp>
        <p:nvSpPr>
          <p:cNvPr id="36" name="文本框 35"/>
          <p:cNvSpPr txBox="1"/>
          <p:nvPr/>
        </p:nvSpPr>
        <p:spPr>
          <a:xfrm>
            <a:off x="9690100" y="30988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雾天</a:t>
            </a:r>
            <a:endParaRPr lang="zh-CN" altLang="en-US" sz="1000">
              <a:solidFill>
                <a:srgbClr val="586674"/>
              </a:solidFill>
              <a:latin typeface="微软雅黑" panose="020B0503020204020204" pitchFamily="34" charset="-122"/>
              <a:ea typeface="微软雅黑" panose="020B0503020204020204" pitchFamily="34" charset="-122"/>
            </a:endParaRPr>
          </a:p>
        </p:txBody>
      </p:sp>
      <p:pic>
        <p:nvPicPr>
          <p:cNvPr id="38" name="图片 37"/>
          <p:cNvPicPr/>
          <p:nvPr/>
        </p:nvPicPr>
        <p:blipFill>
          <a:blip r:embed="rId6">
            <a:extLst>
              <a:ext uri="{28A0092B-C50C-407E-A947-70E740481C1C}">
                <a14:useLocalDpi xmlns:a14="http://schemas.microsoft.com/office/drawing/2010/main" val="0"/>
              </a:ext>
            </a:extLst>
          </a:blip>
          <a:stretch>
            <a:fillRect/>
          </a:stretch>
        </p:blipFill>
        <p:spPr>
          <a:xfrm>
            <a:off x="10786514" y="2362200"/>
            <a:ext cx="1007571" cy="698500"/>
          </a:xfrm>
          <a:prstGeom prst="rect">
            <a:avLst/>
          </a:prstGeom>
        </p:spPr>
      </p:pic>
      <p:sp>
        <p:nvSpPr>
          <p:cNvPr id="39" name="文本框 38"/>
          <p:cNvSpPr txBox="1"/>
          <p:nvPr/>
        </p:nvSpPr>
        <p:spPr>
          <a:xfrm>
            <a:off x="10782300" y="30988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运动模糊</a:t>
            </a:r>
            <a:endParaRPr lang="zh-CN" altLang="en-US" sz="1000">
              <a:solidFill>
                <a:srgbClr val="586674"/>
              </a:solidFill>
              <a:latin typeface="微软雅黑" panose="020B0503020204020204" pitchFamily="34" charset="-122"/>
              <a:ea typeface="微软雅黑" panose="020B0503020204020204" pitchFamily="34" charset="-122"/>
            </a:endParaRPr>
          </a:p>
        </p:txBody>
      </p:sp>
      <p:pic>
        <p:nvPicPr>
          <p:cNvPr id="41" name="图片 40"/>
          <p:cNvPicPr/>
          <p:nvPr/>
        </p:nvPicPr>
        <p:blipFill>
          <a:blip r:embed="rId7">
            <a:extLst>
              <a:ext uri="{28A0092B-C50C-407E-A947-70E740481C1C}">
                <a14:useLocalDpi xmlns:a14="http://schemas.microsoft.com/office/drawing/2010/main" val="0"/>
              </a:ext>
            </a:extLst>
          </a:blip>
          <a:stretch>
            <a:fillRect/>
          </a:stretch>
        </p:blipFill>
        <p:spPr>
          <a:xfrm>
            <a:off x="8602114" y="3352800"/>
            <a:ext cx="1007571" cy="698500"/>
          </a:xfrm>
          <a:prstGeom prst="rect">
            <a:avLst/>
          </a:prstGeom>
        </p:spPr>
      </p:pic>
      <p:sp>
        <p:nvSpPr>
          <p:cNvPr id="42" name="文本框 41"/>
          <p:cNvSpPr txBox="1"/>
          <p:nvPr/>
        </p:nvSpPr>
        <p:spPr>
          <a:xfrm>
            <a:off x="8597900" y="40894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图像噪声</a:t>
            </a:r>
            <a:endParaRPr lang="zh-CN" altLang="en-US" sz="1000">
              <a:solidFill>
                <a:srgbClr val="586674"/>
              </a:solidFill>
              <a:latin typeface="微软雅黑" panose="020B0503020204020204" pitchFamily="34" charset="-122"/>
              <a:ea typeface="微软雅黑" panose="020B0503020204020204" pitchFamily="34" charset="-122"/>
            </a:endParaRPr>
          </a:p>
        </p:txBody>
      </p:sp>
      <p:pic>
        <p:nvPicPr>
          <p:cNvPr id="44" name="图片 43"/>
          <p:cNvPicPr/>
          <p:nvPr/>
        </p:nvPicPr>
        <p:blipFill>
          <a:blip r:embed="rId8">
            <a:extLst>
              <a:ext uri="{28A0092B-C50C-407E-A947-70E740481C1C}">
                <a14:useLocalDpi xmlns:a14="http://schemas.microsoft.com/office/drawing/2010/main" val="0"/>
              </a:ext>
            </a:extLst>
          </a:blip>
          <a:stretch>
            <a:fillRect/>
          </a:stretch>
        </p:blipFill>
        <p:spPr>
          <a:xfrm>
            <a:off x="9694314" y="3352800"/>
            <a:ext cx="1007571" cy="698500"/>
          </a:xfrm>
          <a:prstGeom prst="rect">
            <a:avLst/>
          </a:prstGeom>
        </p:spPr>
      </p:pic>
      <p:sp>
        <p:nvSpPr>
          <p:cNvPr id="45" name="文本框 44"/>
          <p:cNvSpPr txBox="1"/>
          <p:nvPr/>
        </p:nvSpPr>
        <p:spPr>
          <a:xfrm>
            <a:off x="9690100" y="40894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点云稀疏</a:t>
            </a:r>
            <a:endParaRPr lang="zh-CN" altLang="en-US" sz="1000">
              <a:solidFill>
                <a:srgbClr val="586674"/>
              </a:solidFill>
              <a:latin typeface="微软雅黑" panose="020B0503020204020204" pitchFamily="34" charset="-122"/>
              <a:ea typeface="微软雅黑" panose="020B0503020204020204" pitchFamily="34" charset="-122"/>
            </a:endParaRPr>
          </a:p>
        </p:txBody>
      </p:sp>
      <p:pic>
        <p:nvPicPr>
          <p:cNvPr id="47" name="图片 46"/>
          <p:cNvPicPr/>
          <p:nvPr/>
        </p:nvPicPr>
        <p:blipFill>
          <a:blip r:embed="rId9">
            <a:extLst>
              <a:ext uri="{28A0092B-C50C-407E-A947-70E740481C1C}">
                <a14:useLocalDpi xmlns:a14="http://schemas.microsoft.com/office/drawing/2010/main" val="0"/>
              </a:ext>
            </a:extLst>
          </a:blip>
          <a:stretch>
            <a:fillRect/>
          </a:stretch>
        </p:blipFill>
        <p:spPr>
          <a:xfrm>
            <a:off x="10786514" y="3352800"/>
            <a:ext cx="1007571" cy="698500"/>
          </a:xfrm>
          <a:prstGeom prst="rect">
            <a:avLst/>
          </a:prstGeom>
        </p:spPr>
      </p:pic>
      <p:sp>
        <p:nvSpPr>
          <p:cNvPr id="48" name="文本框 47"/>
          <p:cNvSpPr txBox="1"/>
          <p:nvPr/>
        </p:nvSpPr>
        <p:spPr>
          <a:xfrm>
            <a:off x="10782300" y="4089400"/>
            <a:ext cx="1016000" cy="276999"/>
          </a:xfrm>
          <a:prstGeom prst="rect">
            <a:avLst/>
          </a:prstGeom>
          <a:noFill/>
        </p:spPr>
        <p:txBody>
          <a:bodyPr vert="horz" wrap="square" lIns="0" tIns="0" rIns="0" bIns="0" rtlCol="0">
            <a:noAutofit/>
          </a:bodyPr>
          <a:lstStyle/>
          <a:p>
            <a:pPr algn="ctr"/>
            <a:r>
              <a:rPr lang="zh-CN" altLang="en-US" sz="1000">
                <a:solidFill>
                  <a:srgbClr val="586674"/>
                </a:solidFill>
                <a:latin typeface="微软雅黑" panose="020B0503020204020204" pitchFamily="34" charset="-122"/>
                <a:ea typeface="微软雅黑" panose="020B0503020204020204" pitchFamily="34" charset="-122"/>
              </a:rPr>
              <a:t>点云扰动</a:t>
            </a:r>
            <a:endParaRPr lang="zh-CN" altLang="en-US" sz="1000">
              <a:solidFill>
                <a:srgbClr val="586674"/>
              </a:solidFill>
              <a:latin typeface="微软雅黑" panose="020B0503020204020204" pitchFamily="34" charset="-122"/>
              <a:ea typeface="微软雅黑" panose="020B0503020204020204" pitchFamily="34" charset="-122"/>
            </a:endParaRPr>
          </a:p>
        </p:txBody>
      </p:sp>
      <p:cxnSp>
        <p:nvCxnSpPr>
          <p:cNvPr id="49" name="直接连接符 48"/>
          <p:cNvCxnSpPr/>
          <p:nvPr/>
        </p:nvCxnSpPr>
        <p:spPr>
          <a:xfrm>
            <a:off x="355600" y="45339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55600" y="4787900"/>
            <a:ext cx="11480800" cy="1016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1" name="文本框 50"/>
          <p:cNvSpPr txBox="1"/>
          <p:nvPr/>
        </p:nvSpPr>
        <p:spPr>
          <a:xfrm>
            <a:off x="609600" y="4953000"/>
            <a:ext cx="10972800" cy="276999"/>
          </a:xfrm>
          <a:prstGeom prst="rect">
            <a:avLst/>
          </a:prstGeom>
          <a:noFill/>
        </p:spPr>
        <p:txBody>
          <a:bodyPr vert="horz" wrap="square" lIns="0" tIns="0" rIns="0" bIns="0" rtlCol="0">
            <a:noAutofit/>
          </a:bodyPr>
          <a:lstStyle/>
          <a:p>
            <a:pPr algn="ctr"/>
            <a:r>
              <a:rPr lang="zh-CN" altLang="en-US" sz="1700" b="1">
                <a:solidFill>
                  <a:srgbClr val="004A9F"/>
                </a:solidFill>
                <a:latin typeface="微软雅黑" panose="020B0503020204020204" pitchFamily="34" charset="-122"/>
                <a:ea typeface="微软雅黑" panose="020B0503020204020204" pitchFamily="34" charset="-122"/>
              </a:rPr>
              <a:t>复杂工况下，多模态三维检测可能出现置信度下降、漏检、误检或三维框定位不稳定等问题。</a:t>
            </a:r>
            <a:endParaRPr lang="zh-CN" altLang="en-US" sz="1700" b="1">
              <a:solidFill>
                <a:srgbClr val="004A9F"/>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850900" y="5397500"/>
            <a:ext cx="10502900" cy="276999"/>
          </a:xfrm>
          <a:prstGeom prst="rect">
            <a:avLst/>
          </a:prstGeom>
          <a:noFill/>
        </p:spPr>
        <p:txBody>
          <a:bodyPr vert="horz" wrap="square" lIns="0" tIns="0" rIns="0" bIns="0" rtlCol="0">
            <a:noAutofit/>
          </a:bodyPr>
          <a:lstStyle/>
          <a:p>
            <a:pPr algn="ctr"/>
            <a:r>
              <a:rPr lang="zh-CN" altLang="en-US" sz="1250">
                <a:solidFill>
                  <a:srgbClr val="586674"/>
                </a:solidFill>
                <a:latin typeface="微软雅黑" panose="020B0503020204020204" pitchFamily="34" charset="-122"/>
                <a:ea typeface="微软雅黑" panose="020B0503020204020204" pitchFamily="34" charset="-122"/>
              </a:rPr>
              <a:t>因此，本课题围绕图像和点云输入退化对融合检测结果的影响开展研究，并进一步探索更适用于复杂道路环境的三维目标检测方法。</a:t>
            </a:r>
            <a:endParaRPr lang="zh-CN" altLang="en-US" sz="1250">
              <a:solidFill>
                <a:srgbClr val="586674"/>
              </a:solidFill>
              <a:latin typeface="微软雅黑" panose="020B0503020204020204" pitchFamily="34" charset="-122"/>
              <a:ea typeface="微软雅黑" panose="020B0503020204020204" pitchFamily="34" charset="-122"/>
            </a:endParaRPr>
          </a:p>
        </p:txBody>
      </p:sp>
      <p:sp>
        <p:nvSpPr>
          <p:cNvPr id="53" name="矩形 52"/>
          <p:cNvSpPr/>
          <p:nvPr/>
        </p:nvSpPr>
        <p:spPr>
          <a:xfrm>
            <a:off x="1346200" y="6019800"/>
            <a:ext cx="2755900" cy="393700"/>
          </a:xfrm>
          <a:prstGeom prst="rect">
            <a:avLst/>
          </a:prstGeom>
          <a:solidFill>
            <a:srgbClr val="FFFFFF"/>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4" name="文本框 53"/>
          <p:cNvSpPr txBox="1"/>
          <p:nvPr/>
        </p:nvSpPr>
        <p:spPr>
          <a:xfrm>
            <a:off x="1346200" y="6083300"/>
            <a:ext cx="2755900" cy="276999"/>
          </a:xfrm>
          <a:prstGeom prst="rect">
            <a:avLst/>
          </a:prstGeom>
          <a:noFill/>
        </p:spPr>
        <p:txBody>
          <a:bodyPr vert="horz" wrap="square" lIns="0" tIns="0" rIns="0" bIns="0" rtlCol="0">
            <a:noAutofit/>
          </a:bodyPr>
          <a:lstStyle/>
          <a:p>
            <a:pPr algn="ctr"/>
            <a:r>
              <a:rPr lang="zh-CN" altLang="en-US" sz="1400" b="1">
                <a:solidFill>
                  <a:srgbClr val="18222D"/>
                </a:solidFill>
                <a:latin typeface="微软雅黑" panose="020B0503020204020204" pitchFamily="34" charset="-122"/>
                <a:ea typeface="微软雅黑" panose="020B0503020204020204" pitchFamily="34" charset="-122"/>
              </a:rPr>
              <a:t>图像质量下降</a:t>
            </a:r>
            <a:endParaRPr lang="zh-CN" altLang="en-US" sz="1400" b="1">
              <a:solidFill>
                <a:srgbClr val="18222D"/>
              </a:solidFill>
              <a:latin typeface="微软雅黑" panose="020B0503020204020204" pitchFamily="34" charset="-122"/>
              <a:ea typeface="微软雅黑" panose="020B0503020204020204" pitchFamily="34" charset="-122"/>
            </a:endParaRPr>
          </a:p>
        </p:txBody>
      </p:sp>
      <p:cxnSp>
        <p:nvCxnSpPr>
          <p:cNvPr id="55" name="直接连接符 54"/>
          <p:cNvCxnSpPr/>
          <p:nvPr/>
        </p:nvCxnSpPr>
        <p:spPr>
          <a:xfrm>
            <a:off x="4191000" y="6223000"/>
            <a:ext cx="3810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4711700" y="6019800"/>
            <a:ext cx="2755900" cy="393700"/>
          </a:xfrm>
          <a:prstGeom prst="rect">
            <a:avLst/>
          </a:prstGeom>
          <a:solidFill>
            <a:srgbClr val="FFFFFF"/>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7" name="文本框 56"/>
          <p:cNvSpPr txBox="1"/>
          <p:nvPr/>
        </p:nvSpPr>
        <p:spPr>
          <a:xfrm>
            <a:off x="4711700" y="6083300"/>
            <a:ext cx="2755900" cy="276999"/>
          </a:xfrm>
          <a:prstGeom prst="rect">
            <a:avLst/>
          </a:prstGeom>
          <a:noFill/>
        </p:spPr>
        <p:txBody>
          <a:bodyPr vert="horz" wrap="square" lIns="0" tIns="0" rIns="0" bIns="0" rtlCol="0">
            <a:noAutofit/>
          </a:bodyPr>
          <a:lstStyle/>
          <a:p>
            <a:pPr algn="ctr"/>
            <a:r>
              <a:rPr lang="zh-CN" altLang="en-US" sz="1400" b="1">
                <a:solidFill>
                  <a:srgbClr val="18222D"/>
                </a:solidFill>
                <a:latin typeface="微软雅黑" panose="020B0503020204020204" pitchFamily="34" charset="-122"/>
                <a:ea typeface="微软雅黑" panose="020B0503020204020204" pitchFamily="34" charset="-122"/>
              </a:rPr>
              <a:t>点云结构不完整</a:t>
            </a:r>
            <a:endParaRPr lang="zh-CN" altLang="en-US" sz="1400" b="1">
              <a:solidFill>
                <a:srgbClr val="18222D"/>
              </a:solidFill>
              <a:latin typeface="微软雅黑" panose="020B0503020204020204" pitchFamily="34" charset="-122"/>
              <a:ea typeface="微软雅黑" panose="020B0503020204020204" pitchFamily="34" charset="-122"/>
            </a:endParaRPr>
          </a:p>
        </p:txBody>
      </p:sp>
      <p:cxnSp>
        <p:nvCxnSpPr>
          <p:cNvPr id="58" name="直接连接符 57"/>
          <p:cNvCxnSpPr/>
          <p:nvPr/>
        </p:nvCxnSpPr>
        <p:spPr>
          <a:xfrm>
            <a:off x="7556500" y="6223000"/>
            <a:ext cx="3810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8077200" y="6019800"/>
            <a:ext cx="2755900" cy="393700"/>
          </a:xfrm>
          <a:prstGeom prst="rect">
            <a:avLst/>
          </a:prstGeom>
          <a:solidFill>
            <a:srgbClr val="FFFFFF"/>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0" name="文本框 59"/>
          <p:cNvSpPr txBox="1"/>
          <p:nvPr/>
        </p:nvSpPr>
        <p:spPr>
          <a:xfrm>
            <a:off x="8077200" y="6083300"/>
            <a:ext cx="2755900" cy="276999"/>
          </a:xfrm>
          <a:prstGeom prst="rect">
            <a:avLst/>
          </a:prstGeom>
          <a:noFill/>
        </p:spPr>
        <p:txBody>
          <a:bodyPr vert="horz" wrap="square" lIns="0" tIns="0" rIns="0" bIns="0" rtlCol="0">
            <a:noAutofit/>
          </a:bodyPr>
          <a:lstStyle/>
          <a:p>
            <a:pPr algn="ctr"/>
            <a:r>
              <a:rPr lang="zh-CN" altLang="en-US" sz="1400" b="1">
                <a:solidFill>
                  <a:srgbClr val="18222D"/>
                </a:solidFill>
                <a:latin typeface="微软雅黑" panose="020B0503020204020204" pitchFamily="34" charset="-122"/>
                <a:ea typeface="微软雅黑" panose="020B0503020204020204" pitchFamily="34" charset="-122"/>
              </a:rPr>
              <a:t>融合结果波动</a:t>
            </a:r>
            <a:endParaRPr lang="zh-CN" altLang="en-US" sz="1400" b="1">
              <a:solidFill>
                <a:srgbClr val="18222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01</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研究现状：文献分类与发展脉络</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04</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81000" y="927100"/>
            <a:ext cx="11430000" cy="276999"/>
          </a:xfrm>
          <a:prstGeom prst="rect">
            <a:avLst/>
          </a:prstGeom>
          <a:noFill/>
        </p:spPr>
        <p:txBody>
          <a:bodyPr vert="horz" wrap="square" lIns="0" tIns="0" rIns="0" bIns="0" rtlCol="0">
            <a:noAutofit/>
          </a:bodyPr>
          <a:lstStyle/>
          <a:p>
            <a:r>
              <a:rPr lang="zh-CN" altLang="en-US" sz="1400">
                <a:solidFill>
                  <a:srgbClr val="18222D"/>
                </a:solidFill>
                <a:latin typeface="微软雅黑" panose="020B0503020204020204" pitchFamily="34" charset="-122"/>
                <a:ea typeface="微软雅黑" panose="020B0503020204020204" pitchFamily="34" charset="-122"/>
              </a:rPr>
              <a:t>结合文献可将智能驾驶目标检测研究分为数据基准、二维检测、点云三维检测、多模态三维检测和复杂工况鲁棒性五类。</a:t>
            </a:r>
            <a:endParaRPr lang="zh-CN" altLang="en-US" sz="1400">
              <a:solidFill>
                <a:srgbClr val="18222D"/>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368300" y="1371600"/>
          <a:ext cx="11480800" cy="4470402"/>
        </p:xfrm>
        <a:graphic>
          <a:graphicData uri="http://schemas.openxmlformats.org/drawingml/2006/table">
            <a:tbl>
              <a:tblPr firstRow="1" bandRow="1">
                <a:tableStyleId>{5C22544A-7EE6-4342-B048-85BDC9FD1C3A}</a:tableStyleId>
              </a:tblPr>
              <a:tblGrid>
                <a:gridCol w="2066544"/>
                <a:gridCol w="3214624"/>
                <a:gridCol w="3214624"/>
                <a:gridCol w="2985008"/>
              </a:tblGrid>
              <a:tr h="745067">
                <a:tc>
                  <a:txBody>
                    <a:bodyPr/>
                    <a:lstStyle/>
                    <a:p>
                      <a:pPr algn="ctr"/>
                      <a:r>
                        <a:rPr lang="zh-CN" altLang="en-US" sz="1300" b="1">
                          <a:solidFill>
                            <a:srgbClr val="FFFFFF"/>
                          </a:solidFill>
                          <a:latin typeface="微软雅黑" panose="020B0503020204020204" pitchFamily="34" charset="-122"/>
                          <a:ea typeface="微软雅黑" panose="020B0503020204020204" pitchFamily="34" charset="-122"/>
                        </a:rPr>
                        <a:t>研究类别</a:t>
                      </a:r>
                      <a:endParaRPr lang="zh-CN" altLang="en-US" sz="1300" b="1">
                        <a:solidFill>
                          <a:srgbClr val="FFFFFF"/>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004A9F"/>
                    </a:solidFill>
                  </a:tcPr>
                </a:tc>
                <a:tc>
                  <a:txBody>
                    <a:bodyPr/>
                    <a:lstStyle/>
                    <a:p>
                      <a:pPr algn="ctr"/>
                      <a:r>
                        <a:rPr lang="zh-CN" altLang="en-US" sz="1300" b="1">
                          <a:solidFill>
                            <a:srgbClr val="FFFFFF"/>
                          </a:solidFill>
                          <a:latin typeface="微软雅黑" panose="020B0503020204020204" pitchFamily="34" charset="-122"/>
                          <a:ea typeface="微软雅黑" panose="020B0503020204020204" pitchFamily="34" charset="-122"/>
                        </a:rPr>
                        <a:t>代表文献</a:t>
                      </a:r>
                      <a:endParaRPr lang="zh-CN" altLang="en-US" sz="1300" b="1">
                        <a:solidFill>
                          <a:srgbClr val="FFFFFF"/>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004A9F"/>
                    </a:solidFill>
                  </a:tcPr>
                </a:tc>
                <a:tc>
                  <a:txBody>
                    <a:bodyPr/>
                    <a:lstStyle/>
                    <a:p>
                      <a:pPr algn="ctr"/>
                      <a:r>
                        <a:rPr lang="zh-CN" altLang="en-US" sz="1300" b="1">
                          <a:solidFill>
                            <a:srgbClr val="FFFFFF"/>
                          </a:solidFill>
                          <a:latin typeface="微软雅黑" panose="020B0503020204020204" pitchFamily="34" charset="-122"/>
                          <a:ea typeface="微软雅黑" panose="020B0503020204020204" pitchFamily="34" charset="-122"/>
                        </a:rPr>
                        <a:t>主要贡献</a:t>
                      </a:r>
                      <a:endParaRPr lang="zh-CN" altLang="en-US" sz="1300" b="1">
                        <a:solidFill>
                          <a:srgbClr val="FFFFFF"/>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004A9F"/>
                    </a:solidFill>
                  </a:tcPr>
                </a:tc>
                <a:tc>
                  <a:txBody>
                    <a:bodyPr/>
                    <a:lstStyle/>
                    <a:p>
                      <a:pPr algn="ctr"/>
                      <a:r>
                        <a:rPr lang="zh-CN" altLang="en-US" sz="1300" b="1">
                          <a:solidFill>
                            <a:srgbClr val="FFFFFF"/>
                          </a:solidFill>
                          <a:latin typeface="微软雅黑" panose="020B0503020204020204" pitchFamily="34" charset="-122"/>
                          <a:ea typeface="微软雅黑" panose="020B0503020204020204" pitchFamily="34" charset="-122"/>
                        </a:rPr>
                        <a:t>局限或启示</a:t>
                      </a:r>
                      <a:endParaRPr lang="zh-CN" altLang="en-US" sz="1300" b="1">
                        <a:solidFill>
                          <a:srgbClr val="FFFFFF"/>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004A9F"/>
                    </a:solidFill>
                  </a:tcPr>
                </a:tc>
              </a:tr>
              <a:tr h="745067">
                <a:tc>
                  <a:txBody>
                    <a:bodyPr/>
                    <a:lstStyle/>
                    <a:p>
                      <a:pPr algn="l"/>
                      <a:r>
                        <a:rPr lang="zh-CN" altLang="en-US" sz="1300" b="1">
                          <a:solidFill>
                            <a:srgbClr val="18222D"/>
                          </a:solidFill>
                          <a:latin typeface="微软雅黑" panose="020B0503020204020204" pitchFamily="34" charset="-122"/>
                          <a:ea typeface="微软雅黑" panose="020B0503020204020204" pitchFamily="34" charset="-122"/>
                        </a:rPr>
                        <a:t>数据集与基准</a:t>
                      </a:r>
                      <a:endParaRPr lang="zh-CN" altLang="en-US" sz="1300" b="1">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en-US" altLang="zh-CN" sz="1300" b="0">
                          <a:solidFill>
                            <a:srgbClr val="18222D"/>
                          </a:solidFill>
                          <a:latin typeface="微软雅黑" panose="020B0503020204020204" pitchFamily="34" charset="-122"/>
                          <a:ea typeface="微软雅黑" panose="020B0503020204020204" pitchFamily="34" charset="-122"/>
                        </a:rPr>
                        <a:t>KITTI [1]</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nuScenes [2]</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提供图像、点云和多传感器数据，支撑自动驾驶检测评价。</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为三维检测研究提供统一实验基础。</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r>
              <a:tr h="745067">
                <a:tc>
                  <a:txBody>
                    <a:bodyPr/>
                    <a:lstStyle/>
                    <a:p>
                      <a:pPr algn="l"/>
                      <a:r>
                        <a:rPr lang="zh-CN" altLang="en-US" sz="1300" b="1">
                          <a:solidFill>
                            <a:srgbClr val="18222D"/>
                          </a:solidFill>
                          <a:latin typeface="微软雅黑" panose="020B0503020204020204" pitchFamily="34" charset="-122"/>
                          <a:ea typeface="微软雅黑" panose="020B0503020204020204" pitchFamily="34" charset="-122"/>
                        </a:rPr>
                        <a:t>图像二维检测</a:t>
                      </a:r>
                      <a:endParaRPr lang="zh-CN" altLang="en-US" sz="1300" b="1">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pt-BR" altLang="zh-CN" sz="1300" b="0">
                          <a:solidFill>
                            <a:srgbClr val="18222D"/>
                          </a:solidFill>
                          <a:latin typeface="微软雅黑" panose="020B0503020204020204" pitchFamily="34" charset="-122"/>
                          <a:ea typeface="微软雅黑" panose="020B0503020204020204" pitchFamily="34" charset="-122"/>
                        </a:rPr>
                        <a:t>Faster R-CNN [3]</a:t>
                      </a:r>
                      <a:r>
                        <a:rPr lang="zh-CN" altLang="pt-BR" sz="1300" b="0">
                          <a:solidFill>
                            <a:srgbClr val="18222D"/>
                          </a:solidFill>
                          <a:latin typeface="微软雅黑" panose="020B0503020204020204" pitchFamily="34" charset="-122"/>
                          <a:ea typeface="微软雅黑" panose="020B0503020204020204" pitchFamily="34" charset="-122"/>
                        </a:rPr>
                        <a:t>，</a:t>
                      </a:r>
                      <a:r>
                        <a:rPr lang="pt-BR" altLang="zh-CN" sz="1300" b="0">
                          <a:solidFill>
                            <a:srgbClr val="18222D"/>
                          </a:solidFill>
                          <a:latin typeface="微软雅黑" panose="020B0503020204020204" pitchFamily="34" charset="-122"/>
                          <a:ea typeface="微软雅黑" panose="020B0503020204020204" pitchFamily="34" charset="-122"/>
                        </a:rPr>
                        <a:t>YOLO [4]</a:t>
                      </a:r>
                      <a:r>
                        <a:rPr lang="zh-CN" altLang="pt-BR" sz="1300" b="0">
                          <a:solidFill>
                            <a:srgbClr val="18222D"/>
                          </a:solidFill>
                          <a:latin typeface="微软雅黑" panose="020B0503020204020204" pitchFamily="34" charset="-122"/>
                          <a:ea typeface="微软雅黑" panose="020B0503020204020204" pitchFamily="34" charset="-122"/>
                        </a:rPr>
                        <a:t>，</a:t>
                      </a:r>
                      <a:r>
                        <a:rPr lang="pt-BR" altLang="zh-CN" sz="1300" b="0">
                          <a:solidFill>
                            <a:srgbClr val="18222D"/>
                          </a:solidFill>
                          <a:latin typeface="微软雅黑" panose="020B0503020204020204" pitchFamily="34" charset="-122"/>
                          <a:ea typeface="微软雅黑" panose="020B0503020204020204" pitchFamily="34" charset="-122"/>
                        </a:rPr>
                        <a:t>DETR [5]</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识别目标类别和图像平面二维边界框。</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难以直接给出真实距离、尺寸和朝向。</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r>
              <a:tr h="745067">
                <a:tc>
                  <a:txBody>
                    <a:bodyPr/>
                    <a:lstStyle/>
                    <a:p>
                      <a:pPr algn="l"/>
                      <a:r>
                        <a:rPr lang="zh-CN" altLang="en-US" sz="1300" b="1">
                          <a:solidFill>
                            <a:srgbClr val="18222D"/>
                          </a:solidFill>
                          <a:latin typeface="微软雅黑" panose="020B0503020204020204" pitchFamily="34" charset="-122"/>
                          <a:ea typeface="微软雅黑" panose="020B0503020204020204" pitchFamily="34" charset="-122"/>
                        </a:rPr>
                        <a:t>点云三维检测</a:t>
                      </a:r>
                      <a:endParaRPr lang="zh-CN" altLang="en-US" sz="1300" b="1">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en-US" altLang="zh-CN" sz="1300" b="0">
                          <a:solidFill>
                            <a:srgbClr val="18222D"/>
                          </a:solidFill>
                          <a:latin typeface="微软雅黑" panose="020B0503020204020204" pitchFamily="34" charset="-122"/>
                          <a:ea typeface="微软雅黑" panose="020B0503020204020204" pitchFamily="34" charset="-122"/>
                        </a:rPr>
                        <a:t>VoxelNet [6]</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PointPillars [7]</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PointRCNN [8]</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CenterPoint [9]</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利用激光雷达几何信息预测三维目标框。</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点云稀疏、遮挡和扰动会影响稳定性。</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r>
              <a:tr h="745067">
                <a:tc>
                  <a:txBody>
                    <a:bodyPr/>
                    <a:lstStyle/>
                    <a:p>
                      <a:pPr algn="l"/>
                      <a:r>
                        <a:rPr lang="zh-CN" altLang="en-US" sz="1300" b="1">
                          <a:solidFill>
                            <a:srgbClr val="18222D"/>
                          </a:solidFill>
                          <a:latin typeface="微软雅黑" panose="020B0503020204020204" pitchFamily="34" charset="-122"/>
                          <a:ea typeface="微软雅黑" panose="020B0503020204020204" pitchFamily="34" charset="-122"/>
                        </a:rPr>
                        <a:t>多模态三维检测</a:t>
                      </a:r>
                      <a:endParaRPr lang="zh-CN" altLang="en-US" sz="1300" b="1">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en-US" altLang="zh-CN" sz="1300" b="0">
                          <a:solidFill>
                            <a:srgbClr val="18222D"/>
                          </a:solidFill>
                          <a:latin typeface="微软雅黑" panose="020B0503020204020204" pitchFamily="34" charset="-122"/>
                          <a:ea typeface="微软雅黑" panose="020B0503020204020204" pitchFamily="34" charset="-122"/>
                        </a:rPr>
                        <a:t>MV3D [10]</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MVX-Net [11]</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PointPainting [12]</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TransFusion [13]</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BEVFusion [14]</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融合图像语义信息和点云几何信息。</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效果依赖输入质量和跨模态对齐关系。</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3F8FD"/>
                    </a:solidFill>
                  </a:tcPr>
                </a:tc>
              </a:tr>
              <a:tr h="745067">
                <a:tc>
                  <a:txBody>
                    <a:bodyPr/>
                    <a:lstStyle/>
                    <a:p>
                      <a:pPr algn="l"/>
                      <a:r>
                        <a:rPr lang="zh-CN" altLang="en-US" sz="1300" b="1">
                          <a:solidFill>
                            <a:srgbClr val="18222D"/>
                          </a:solidFill>
                          <a:latin typeface="微软雅黑" panose="020B0503020204020204" pitchFamily="34" charset="-122"/>
                          <a:ea typeface="微软雅黑" panose="020B0503020204020204" pitchFamily="34" charset="-122"/>
                        </a:rPr>
                        <a:t>复杂工况鲁棒性</a:t>
                      </a:r>
                      <a:endParaRPr lang="zh-CN" altLang="en-US" sz="1300" b="1">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en-US" altLang="zh-CN" sz="1300" b="0">
                          <a:solidFill>
                            <a:srgbClr val="18222D"/>
                          </a:solidFill>
                          <a:latin typeface="微软雅黑" panose="020B0503020204020204" pitchFamily="34" charset="-122"/>
                          <a:ea typeface="微软雅黑" panose="020B0503020204020204" pitchFamily="34" charset="-122"/>
                        </a:rPr>
                        <a:t>Fog Simulation [15]</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Robo3D [16]</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MultiCorrupt [17]</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UMoE [18]</a:t>
                      </a:r>
                      <a:r>
                        <a:rPr lang="zh-CN" altLang="en-US" sz="1300" b="0">
                          <a:solidFill>
                            <a:srgbClr val="18222D"/>
                          </a:solidFill>
                          <a:latin typeface="微软雅黑" panose="020B0503020204020204" pitchFamily="34" charset="-122"/>
                          <a:ea typeface="微软雅黑" panose="020B0503020204020204" pitchFamily="34" charset="-122"/>
                        </a:rPr>
                        <a:t>，</a:t>
                      </a:r>
                      <a:r>
                        <a:rPr lang="en-US" altLang="zh-CN" sz="1300" b="0">
                          <a:solidFill>
                            <a:srgbClr val="18222D"/>
                          </a:solidFill>
                          <a:latin typeface="微软雅黑" panose="020B0503020204020204" pitchFamily="34" charset="-122"/>
                          <a:ea typeface="微软雅黑" panose="020B0503020204020204" pitchFamily="34" charset="-122"/>
                        </a:rPr>
                        <a:t>ReliFusion [19]</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algn="l"/>
                      <a:r>
                        <a:rPr lang="zh-CN" altLang="en-US" sz="1300" b="0">
                          <a:solidFill>
                            <a:srgbClr val="18222D"/>
                          </a:solidFill>
                          <a:latin typeface="微软雅黑" panose="020B0503020204020204" pitchFamily="34" charset="-122"/>
                          <a:ea typeface="微软雅黑" panose="020B0503020204020204" pitchFamily="34" charset="-122"/>
                        </a:rPr>
                        <a:t>关注恶劣天气、扰动数据和可靠性融合。</a:t>
                      </a:r>
                      <a:endParaRPr lang="zh-CN" altLang="en-US" sz="1300" b="0">
                        <a:solidFill>
                          <a:srgbClr val="18222D"/>
                        </a:solidFill>
                        <a:latin typeface="微软雅黑" panose="020B0503020204020204" pitchFamily="34" charset="-122"/>
                        <a:ea typeface="微软雅黑" panose="020B0503020204020204" pitchFamily="34" charset="-122"/>
                      </a:endParaRPr>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c>
                  <a:txBody>
                    <a:bodyPr/>
                    <a:lstStyle/>
                    <a:p>
                      <a:pPr marL="0" marR="0" algn="l">
                        <a:lnSpc>
                          <a:spcPts val="1500"/>
                        </a:lnSpc>
                        <a:buNone/>
                      </a:pPr>
                      <a:r>
                        <a:rPr lang="zh-CN" altLang="en-US" sz="1280" b="0">
                          <a:solidFill>
                            <a:srgbClr val="18222D"/>
                          </a:solidFill>
                          <a:latin typeface="微软雅黑" panose="020B0503020204020204" pitchFamily="34" charset="-122"/>
                          <a:ea typeface="微软雅黑" panose="020B0503020204020204" pitchFamily="34" charset="-122"/>
                        </a:rPr>
                        <a:t>UMoE [18]多次推理估计不确定性，</a:t>
                      </a:r>
                      <a:endParaRPr lang="zh-CN" sz="1280"/>
                    </a:p>
                    <a:p>
                      <a:pPr marL="0" marR="0" algn="l">
                        <a:lnSpc>
                          <a:spcPts val="1500"/>
                        </a:lnSpc>
                        <a:buNone/>
                      </a:pPr>
                      <a:r>
                        <a:rPr lang="zh-CN" altLang="en-US" sz="1280" b="0">
                          <a:solidFill>
                            <a:srgbClr val="18222D"/>
                          </a:solidFill>
                          <a:latin typeface="微软雅黑" panose="020B0503020204020204" pitchFamily="34" charset="-122"/>
                          <a:ea typeface="微软雅黑" panose="020B0503020204020204" pitchFamily="34" charset="-122"/>
                        </a:rPr>
                        <a:t>增加计算开销、降低推理速度；</a:t>
                      </a:r>
                      <a:endParaRPr lang="zh-CN" sz="1280"/>
                    </a:p>
                    <a:p>
                      <a:pPr marL="0" marR="0" algn="l">
                        <a:lnSpc>
                          <a:spcPts val="1500"/>
                        </a:lnSpc>
                        <a:buNone/>
                      </a:pPr>
                      <a:r>
                        <a:rPr lang="zh-CN" altLang="en-US" sz="1280" b="0">
                          <a:solidFill>
                            <a:srgbClr val="18222D"/>
                          </a:solidFill>
                          <a:latin typeface="微软雅黑" panose="020B0503020204020204" pitchFamily="34" charset="-122"/>
                          <a:ea typeface="微软雅黑" panose="020B0503020204020204" pitchFamily="34" charset="-122"/>
                        </a:rPr>
                        <a:t>需兼顾鲁棒性与实时性。</a:t>
                      </a:r>
                      <a:endParaRPr lang="zh-CN" sz="1280"/>
                    </a:p>
                  </a:txBody>
                  <a:tcPr marL="127000" marR="101600" marT="63500" marB="63500" anchor="ctr">
                    <a:lnL w="6350" cmpd="sng">
                      <a:solidFill>
                        <a:srgbClr val="D8E4EF"/>
                      </a:solidFill>
                    </a:lnL>
                    <a:lnR w="6350" cmpd="sng">
                      <a:solidFill>
                        <a:srgbClr val="D8E4EF"/>
                      </a:solidFill>
                    </a:lnR>
                    <a:lnT w="6350" cmpd="sng">
                      <a:solidFill>
                        <a:srgbClr val="D8E4EF"/>
                      </a:solidFill>
                    </a:lnT>
                    <a:lnB w="6350" cmpd="sng">
                      <a:solidFill>
                        <a:srgbClr val="D8E4EF"/>
                      </a:solidFill>
                    </a:lnB>
                    <a:solidFill>
                      <a:srgbClr val="FFFFFF"/>
                    </a:solidFill>
                  </a:tcPr>
                </a:tc>
              </a:tr>
            </a:tbl>
          </a:graphicData>
        </a:graphic>
      </p:graphicFrame>
      <p:sp>
        <p:nvSpPr>
          <p:cNvPr id="9" name="矩形 8"/>
          <p:cNvSpPr/>
          <p:nvPr/>
        </p:nvSpPr>
        <p:spPr>
          <a:xfrm>
            <a:off x="355600" y="6057900"/>
            <a:ext cx="11480800" cy="4826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0" name="Research implications: three research problems"/>
          <p:cNvSpPr txBox="1"/>
          <p:nvPr/>
        </p:nvSpPr>
        <p:spPr>
          <a:xfrm>
            <a:off x="533400" y="6083300"/>
            <a:ext cx="11176000" cy="431800"/>
          </a:xfrm>
          <a:prstGeom prst="rect">
            <a:avLst/>
          </a:prstGeom>
          <a:noFill/>
          <a:ln w="10160">
            <a:noFill/>
          </a:ln>
        </p:spPr>
        <p:txBody>
          <a:bodyPr wrap="square" lIns="0" tIns="0" rIns="0" bIns="0" anchor="ctr">
            <a:noAutofit/>
          </a:bodyPr>
          <a:lstStyle/>
          <a:p>
            <a:pPr marL="0" marR="0" algn="l">
              <a:lnSpc>
                <a:spcPts val="1530"/>
              </a:lnSpc>
              <a:buNone/>
            </a:pPr>
            <a:r>
              <a:rPr lang="zh-CN" sz="132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研究现状表明：不同工况下图像与点云的退化差异需系统分析，融合需适应输入质量变化；</a:t>
            </a:r>
            <a:endParaRPr lang="zh-CN" sz="1320"/>
          </a:p>
          <a:p>
            <a:pPr marL="0" marR="0" algn="l">
              <a:lnSpc>
                <a:spcPts val="1530"/>
              </a:lnSpc>
              <a:buNone/>
            </a:pPr>
            <a:r>
              <a:rPr lang="zh-CN" sz="132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提升复杂工况检测鲁棒性的同时，还需控制新增计算开销。</a:t>
            </a:r>
            <a:endParaRPr lang="zh-CN" sz="132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01</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研究现状：二维图像目标检测</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05</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81000" y="952500"/>
            <a:ext cx="11430000" cy="276999"/>
          </a:xfrm>
          <a:prstGeom prst="rect">
            <a:avLst/>
          </a:prstGeom>
          <a:noFill/>
        </p:spPr>
        <p:txBody>
          <a:bodyPr vert="horz" wrap="square" lIns="0" tIns="0" rIns="0" bIns="0" rtlCol="0">
            <a:noAutofit/>
          </a:bodyPr>
          <a:lstStyle/>
          <a:p>
            <a:r>
              <a:rPr lang="zh-CN" altLang="en-US" sz="1500">
                <a:solidFill>
                  <a:srgbClr val="586674"/>
                </a:solidFill>
                <a:latin typeface="微软雅黑" panose="020B0503020204020204" pitchFamily="34" charset="-122"/>
                <a:ea typeface="微软雅黑" panose="020B0503020204020204" pitchFamily="34" charset="-122"/>
              </a:rPr>
              <a:t>二维检测以图像语义特征为核心，完成目标类别识别和图像平面定位</a:t>
            </a:r>
            <a:endParaRPr lang="zh-CN" altLang="en-US" sz="1500">
              <a:solidFill>
                <a:srgbClr val="586674"/>
              </a:solidFill>
              <a:latin typeface="微软雅黑" panose="020B0503020204020204" pitchFamily="34" charset="-122"/>
              <a:ea typeface="微软雅黑" panose="020B0503020204020204" pitchFamily="34" charset="-122"/>
            </a:endParaRPr>
          </a:p>
        </p:txBody>
      </p:sp>
      <p:pic>
        <p:nvPicPr>
          <p:cNvPr id="9" name="图片 8"/>
          <p:cNvPicPr/>
          <p:nvPr/>
        </p:nvPicPr>
        <p:blipFill>
          <a:blip r:embed="rId1">
            <a:extLst>
              <a:ext uri="{28A0092B-C50C-407E-A947-70E740481C1C}">
                <a14:useLocalDpi xmlns:a14="http://schemas.microsoft.com/office/drawing/2010/main" val="0"/>
              </a:ext>
            </a:extLst>
          </a:blip>
          <a:stretch>
            <a:fillRect/>
          </a:stretch>
        </p:blipFill>
        <p:spPr>
          <a:xfrm>
            <a:off x="391197" y="1765300"/>
            <a:ext cx="2202106" cy="1574800"/>
          </a:xfrm>
          <a:prstGeom prst="rect">
            <a:avLst/>
          </a:prstGeom>
        </p:spPr>
      </p:pic>
      <p:sp>
        <p:nvSpPr>
          <p:cNvPr id="10" name="文本框 9"/>
          <p:cNvSpPr txBox="1"/>
          <p:nvPr/>
        </p:nvSpPr>
        <p:spPr>
          <a:xfrm>
            <a:off x="381000" y="3479800"/>
            <a:ext cx="2222500" cy="276999"/>
          </a:xfrm>
          <a:prstGeom prst="rect">
            <a:avLst/>
          </a:prstGeom>
          <a:noFill/>
        </p:spPr>
        <p:txBody>
          <a:bodyPr vert="horz" wrap="square" lIns="0" tIns="0" rIns="0" bIns="0" rtlCol="0">
            <a:noAutofit/>
          </a:bodyPr>
          <a:lstStyle/>
          <a:p>
            <a:pPr algn="ctr"/>
            <a:r>
              <a:rPr lang="en-US" altLang="zh-CN" sz="1500" b="1">
                <a:solidFill>
                  <a:srgbClr val="18222D"/>
                </a:solidFill>
                <a:latin typeface="微软雅黑" panose="020B0503020204020204" pitchFamily="34" charset="-122"/>
                <a:ea typeface="微软雅黑" panose="020B0503020204020204" pitchFamily="34" charset="-122"/>
              </a:rPr>
              <a:t>RGB </a:t>
            </a:r>
            <a:r>
              <a:rPr lang="zh-CN" altLang="en-US" sz="1500" b="1">
                <a:solidFill>
                  <a:srgbClr val="18222D"/>
                </a:solidFill>
                <a:latin typeface="微软雅黑" panose="020B0503020204020204" pitchFamily="34" charset="-122"/>
                <a:ea typeface="微软雅黑" panose="020B0503020204020204" pitchFamily="34" charset="-122"/>
              </a:rPr>
              <a:t>图像</a:t>
            </a:r>
            <a:endParaRPr lang="zh-CN" altLang="en-US" sz="1500" b="1">
              <a:solidFill>
                <a:srgbClr val="18222D"/>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2705100" y="2616200"/>
            <a:ext cx="4699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263900" y="1549400"/>
            <a:ext cx="1663700" cy="276999"/>
          </a:xfrm>
          <a:prstGeom prst="rect">
            <a:avLst/>
          </a:prstGeom>
          <a:noFill/>
        </p:spPr>
        <p:txBody>
          <a:bodyPr vert="horz" wrap="square" lIns="0" tIns="0" rIns="0" bIns="0" rtlCol="0">
            <a:noAutofit/>
          </a:bodyPr>
          <a:lstStyle/>
          <a:p>
            <a:pPr algn="ctr"/>
            <a:r>
              <a:rPr lang="zh-CN" altLang="en-US" sz="1400">
                <a:solidFill>
                  <a:srgbClr val="586674"/>
                </a:solidFill>
                <a:latin typeface="微软雅黑" panose="020B0503020204020204" pitchFamily="34" charset="-122"/>
                <a:ea typeface="微软雅黑" panose="020B0503020204020204" pitchFamily="34" charset="-122"/>
              </a:rPr>
              <a:t>边缘 </a:t>
            </a:r>
            <a:r>
              <a:rPr lang="en-US" altLang="zh-CN" sz="1400">
                <a:solidFill>
                  <a:srgbClr val="586674"/>
                </a:solidFill>
                <a:latin typeface="微软雅黑" panose="020B0503020204020204" pitchFamily="34" charset="-122"/>
                <a:ea typeface="微软雅黑" panose="020B0503020204020204" pitchFamily="34" charset="-122"/>
              </a:rPr>
              <a:t>/ </a:t>
            </a:r>
            <a:r>
              <a:rPr lang="zh-CN" altLang="en-US" sz="1400">
                <a:solidFill>
                  <a:srgbClr val="586674"/>
                </a:solidFill>
                <a:latin typeface="微软雅黑" panose="020B0503020204020204" pitchFamily="34" charset="-122"/>
                <a:ea typeface="微软雅黑" panose="020B0503020204020204" pitchFamily="34" charset="-122"/>
              </a:rPr>
              <a:t>纹理 </a:t>
            </a:r>
            <a:r>
              <a:rPr lang="en-US" altLang="zh-CN" sz="1400">
                <a:solidFill>
                  <a:srgbClr val="586674"/>
                </a:solidFill>
                <a:latin typeface="微软雅黑" panose="020B0503020204020204" pitchFamily="34" charset="-122"/>
                <a:ea typeface="微软雅黑" panose="020B0503020204020204" pitchFamily="34" charset="-122"/>
              </a:rPr>
              <a:t>/ </a:t>
            </a:r>
            <a:r>
              <a:rPr lang="zh-CN" altLang="en-US" sz="1400">
                <a:solidFill>
                  <a:srgbClr val="586674"/>
                </a:solidFill>
                <a:latin typeface="微软雅黑" panose="020B0503020204020204" pitchFamily="34" charset="-122"/>
                <a:ea typeface="微软雅黑" panose="020B0503020204020204" pitchFamily="34" charset="-122"/>
              </a:rPr>
              <a:t>语义</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3289300" y="3479800"/>
            <a:ext cx="1651000" cy="276999"/>
          </a:xfrm>
          <a:prstGeom prst="rect">
            <a:avLst/>
          </a:prstGeom>
          <a:noFill/>
        </p:spPr>
        <p:txBody>
          <a:bodyPr vert="horz" wrap="square" lIns="0" tIns="0" rIns="0" bIns="0" rtlCol="0">
            <a:noAutofit/>
          </a:bodyPr>
          <a:lstStyle/>
          <a:p>
            <a:pPr algn="ctr"/>
            <a:r>
              <a:rPr lang="zh-CN" altLang="en-US" sz="1500" b="1">
                <a:solidFill>
                  <a:srgbClr val="18222D"/>
                </a:solidFill>
                <a:latin typeface="微软雅黑" panose="020B0503020204020204" pitchFamily="34" charset="-122"/>
                <a:ea typeface="微软雅黑" panose="020B0503020204020204" pitchFamily="34" charset="-122"/>
              </a:rPr>
              <a:t>图像编码器</a:t>
            </a:r>
            <a:endParaRPr lang="zh-CN" altLang="en-US" sz="1500" b="1">
              <a:solidFill>
                <a:srgbClr val="18222D"/>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4927600" y="2616200"/>
            <a:ext cx="4699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461000" y="3619500"/>
            <a:ext cx="1612900" cy="276999"/>
          </a:xfrm>
          <a:prstGeom prst="rect">
            <a:avLst/>
          </a:prstGeom>
          <a:noFill/>
        </p:spPr>
        <p:txBody>
          <a:bodyPr vert="horz" wrap="square" lIns="0" tIns="0" rIns="0" bIns="0" rtlCol="0">
            <a:noAutofit/>
          </a:bodyPr>
          <a:lstStyle/>
          <a:p>
            <a:pPr algn="ctr"/>
            <a:r>
              <a:rPr lang="zh-CN" altLang="en-US" sz="1500" b="1">
                <a:solidFill>
                  <a:srgbClr val="18222D"/>
                </a:solidFill>
                <a:latin typeface="微软雅黑" panose="020B0503020204020204" pitchFamily="34" charset="-122"/>
                <a:ea typeface="微软雅黑" panose="020B0503020204020204" pitchFamily="34" charset="-122"/>
              </a:rPr>
              <a:t>多尺度特征</a:t>
            </a:r>
            <a:endParaRPr lang="zh-CN" altLang="en-US" sz="1500" b="1">
              <a:solidFill>
                <a:srgbClr val="18222D"/>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7023100" y="2616200"/>
            <a:ext cx="419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4" name="矩形: 圆角 23"/>
          <p:cNvSpPr/>
          <p:nvPr/>
        </p:nvSpPr>
        <p:spPr>
          <a:xfrm>
            <a:off x="7569200" y="2171700"/>
            <a:ext cx="1422400" cy="10287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5" name="文本框 24"/>
          <p:cNvSpPr txBox="1"/>
          <p:nvPr/>
        </p:nvSpPr>
        <p:spPr>
          <a:xfrm>
            <a:off x="7658100" y="2413000"/>
            <a:ext cx="1244600" cy="609600"/>
          </a:xfrm>
          <a:prstGeom prst="rect">
            <a:avLst/>
          </a:prstGeom>
          <a:noFill/>
        </p:spPr>
        <p:txBody>
          <a:bodyPr vert="horz" wrap="square" lIns="0" tIns="0" rIns="0" bIns="0" rtlCol="0" anchor="ctr">
            <a:noAutofit/>
          </a:bodyPr>
          <a:lstStyle/>
          <a:p>
            <a:pPr algn="ctr"/>
            <a:r>
              <a:rPr lang="zh-CN" altLang="en-US" sz="1700" b="1">
                <a:solidFill>
                  <a:srgbClr val="004A9F"/>
                </a:solidFill>
                <a:latin typeface="微软雅黑" panose="020B0503020204020204" pitchFamily="34" charset="-122"/>
                <a:ea typeface="微软雅黑" panose="020B0503020204020204" pitchFamily="34" charset="-122"/>
              </a:rPr>
              <a:t>分类 </a:t>
            </a:r>
            <a:r>
              <a:rPr lang="en-US" altLang="zh-CN" sz="1700" b="1">
                <a:solidFill>
                  <a:srgbClr val="004A9F"/>
                </a:solidFill>
                <a:latin typeface="微软雅黑" panose="020B0503020204020204" pitchFamily="34" charset="-122"/>
                <a:ea typeface="微软雅黑" panose="020B0503020204020204" pitchFamily="34" charset="-122"/>
              </a:rPr>
              <a:t>/ </a:t>
            </a:r>
            <a:r>
              <a:rPr lang="zh-CN" altLang="en-US" sz="1700" b="1">
                <a:solidFill>
                  <a:srgbClr val="004A9F"/>
                </a:solidFill>
                <a:latin typeface="微软雅黑" panose="020B0503020204020204" pitchFamily="34" charset="-122"/>
                <a:ea typeface="微软雅黑" panose="020B0503020204020204" pitchFamily="34" charset="-122"/>
              </a:rPr>
              <a:t>回归
</a:t>
            </a:r>
            <a:r>
              <a:rPr lang="en-US" altLang="zh-CN" sz="1700" b="1">
                <a:solidFill>
                  <a:srgbClr val="004A9F"/>
                </a:solidFill>
                <a:latin typeface="微软雅黑" panose="020B0503020204020204" pitchFamily="34" charset="-122"/>
                <a:ea typeface="微软雅黑" panose="020B0503020204020204" pitchFamily="34" charset="-122"/>
              </a:rPr>
              <a:t>Head</a:t>
            </a:r>
            <a:endParaRPr lang="zh-CN" altLang="en-US" sz="1700" b="1">
              <a:solidFill>
                <a:srgbClr val="004A9F"/>
              </a:solidFill>
              <a:latin typeface="微软雅黑" panose="020B0503020204020204" pitchFamily="34" charset="-122"/>
              <a:ea typeface="微软雅黑" panose="020B0503020204020204" pitchFamily="34" charset="-122"/>
            </a:endParaRPr>
          </a:p>
        </p:txBody>
      </p:sp>
      <p:cxnSp>
        <p:nvCxnSpPr>
          <p:cNvPr id="26" name="直接连接符 25"/>
          <p:cNvCxnSpPr/>
          <p:nvPr/>
        </p:nvCxnSpPr>
        <p:spPr>
          <a:xfrm>
            <a:off x="9093200" y="2616200"/>
            <a:ext cx="3937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pic>
        <p:nvPicPr>
          <p:cNvPr id="28" name="图片 27"/>
          <p:cNvPicPr/>
          <p:nvPr/>
        </p:nvPicPr>
        <p:blipFill>
          <a:blip r:embed="rId1">
            <a:extLst>
              <a:ext uri="{28A0092B-C50C-407E-A947-70E740481C1C}">
                <a14:useLocalDpi xmlns:a14="http://schemas.microsoft.com/office/drawing/2010/main" val="0"/>
              </a:ext>
            </a:extLst>
          </a:blip>
          <a:stretch>
            <a:fillRect/>
          </a:stretch>
        </p:blipFill>
        <p:spPr>
          <a:xfrm>
            <a:off x="9598697" y="1765300"/>
            <a:ext cx="2202106" cy="1574800"/>
          </a:xfrm>
          <a:prstGeom prst="rect">
            <a:avLst/>
          </a:prstGeom>
        </p:spPr>
      </p:pic>
      <p:sp>
        <p:nvSpPr>
          <p:cNvPr id="29" name="文本框 28"/>
          <p:cNvSpPr txBox="1"/>
          <p:nvPr/>
        </p:nvSpPr>
        <p:spPr>
          <a:xfrm>
            <a:off x="9588500" y="3479800"/>
            <a:ext cx="2222500" cy="276999"/>
          </a:xfrm>
          <a:prstGeom prst="rect">
            <a:avLst/>
          </a:prstGeom>
          <a:noFill/>
        </p:spPr>
        <p:txBody>
          <a:bodyPr vert="horz" wrap="square" lIns="0" tIns="0" rIns="0" bIns="0" rtlCol="0">
            <a:noAutofit/>
          </a:bodyPr>
          <a:lstStyle/>
          <a:p>
            <a:pPr algn="ctr"/>
            <a:r>
              <a:rPr lang="en-US" altLang="zh-CN" sz="1500" b="1">
                <a:solidFill>
                  <a:srgbClr val="18222D"/>
                </a:solidFill>
                <a:latin typeface="微软雅黑" panose="020B0503020204020204" pitchFamily="34" charset="-122"/>
                <a:ea typeface="微软雅黑" panose="020B0503020204020204" pitchFamily="34" charset="-122"/>
              </a:rPr>
              <a:t>2D </a:t>
            </a:r>
            <a:r>
              <a:rPr lang="zh-CN" altLang="en-US" sz="1500" b="1">
                <a:solidFill>
                  <a:srgbClr val="18222D"/>
                </a:solidFill>
                <a:latin typeface="微软雅黑" panose="020B0503020204020204" pitchFamily="34" charset="-122"/>
                <a:ea typeface="微软雅黑" panose="020B0503020204020204" pitchFamily="34" charset="-122"/>
              </a:rPr>
              <a:t>检测结果</a:t>
            </a:r>
            <a:endParaRPr lang="zh-CN" altLang="en-US" sz="1500" b="1">
              <a:solidFill>
                <a:srgbClr val="18222D"/>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508000" y="4495800"/>
            <a:ext cx="26416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成熟路线</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508000" y="4914900"/>
            <a:ext cx="2603500" cy="421640"/>
          </a:xfrm>
          <a:prstGeom prst="rect">
            <a:avLst/>
          </a:prstGeom>
          <a:noFill/>
        </p:spPr>
        <p:txBody>
          <a:bodyPr vert="horz" wrap="square" lIns="0" tIns="0" rIns="0" bIns="0" rtlCol="0">
            <a:noAutofit/>
          </a:bodyPr>
          <a:lstStyle/>
          <a:p>
            <a:r>
              <a:rPr lang="en-US" altLang="zh-CN" sz="1300">
                <a:solidFill>
                  <a:srgbClr val="586674"/>
                </a:solidFill>
                <a:latin typeface="微软雅黑" panose="020B0503020204020204" pitchFamily="34" charset="-122"/>
                <a:ea typeface="微软雅黑" panose="020B0503020204020204" pitchFamily="34" charset="-122"/>
              </a:rPr>
              <a:t>YOLO</a:t>
            </a:r>
            <a:r>
              <a:rPr lang="zh-CN" altLang="en-US" sz="1300">
                <a:solidFill>
                  <a:srgbClr val="586674"/>
                </a:solidFill>
                <a:latin typeface="微软雅黑" panose="020B0503020204020204" pitchFamily="34" charset="-122"/>
                <a:ea typeface="微软雅黑" panose="020B0503020204020204" pitchFamily="34" charset="-122"/>
              </a:rPr>
              <a:t>、</a:t>
            </a:r>
            <a:r>
              <a:rPr lang="en-US" altLang="zh-CN" sz="1300">
                <a:solidFill>
                  <a:srgbClr val="586674"/>
                </a:solidFill>
                <a:latin typeface="微软雅黑" panose="020B0503020204020204" pitchFamily="34" charset="-122"/>
                <a:ea typeface="微软雅黑" panose="020B0503020204020204" pitchFamily="34" charset="-122"/>
              </a:rPr>
              <a:t>Faster R-CNN</a:t>
            </a:r>
            <a:r>
              <a:rPr lang="zh-CN" altLang="en-US" sz="1300">
                <a:solidFill>
                  <a:srgbClr val="586674"/>
                </a:solidFill>
                <a:latin typeface="微软雅黑" panose="020B0503020204020204" pitchFamily="34" charset="-122"/>
                <a:ea typeface="微软雅黑" panose="020B0503020204020204" pitchFamily="34" charset="-122"/>
              </a:rPr>
              <a:t>、</a:t>
            </a:r>
            <a:r>
              <a:rPr lang="en-US" altLang="zh-CN" sz="1300">
                <a:solidFill>
                  <a:srgbClr val="586674"/>
                </a:solidFill>
                <a:latin typeface="微软雅黑" panose="020B0503020204020204" pitchFamily="34" charset="-122"/>
                <a:ea typeface="微软雅黑" panose="020B0503020204020204" pitchFamily="34" charset="-122"/>
              </a:rPr>
              <a:t>DETR </a:t>
            </a:r>
            <a:r>
              <a:rPr lang="zh-CN" altLang="en-US" sz="1300">
                <a:solidFill>
                  <a:srgbClr val="586674"/>
                </a:solidFill>
                <a:latin typeface="微软雅黑" panose="020B0503020204020204" pitchFamily="34" charset="-122"/>
                <a:ea typeface="微软雅黑" panose="020B0503020204020204" pitchFamily="34" charset="-122"/>
              </a:rPr>
              <a:t>等方法形成稳定范式</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3238500" y="4495800"/>
            <a:ext cx="0" cy="10541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3390900" y="4495800"/>
            <a:ext cx="2641600" cy="276999"/>
          </a:xfrm>
          <a:prstGeom prst="rect">
            <a:avLst/>
          </a:prstGeom>
          <a:noFill/>
        </p:spPr>
        <p:txBody>
          <a:bodyPr vert="horz" wrap="square" lIns="0" tIns="0" rIns="0" bIns="0" rtlCol="0">
            <a:noAutofit/>
          </a:bodyPr>
          <a:lstStyle/>
          <a:p>
            <a:r>
              <a:rPr lang="zh-CN" altLang="en-US" sz="1600" b="1">
                <a:solidFill>
                  <a:srgbClr val="16857D"/>
                </a:solidFill>
                <a:latin typeface="微软雅黑" panose="020B0503020204020204" pitchFamily="34" charset="-122"/>
                <a:ea typeface="微软雅黑" panose="020B0503020204020204" pitchFamily="34" charset="-122"/>
              </a:rPr>
              <a:t>输出内容</a:t>
            </a:r>
            <a:endParaRPr lang="zh-CN" altLang="en-US" sz="1600" b="1">
              <a:solidFill>
                <a:srgbClr val="16857D"/>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3390900" y="4914900"/>
            <a:ext cx="2603500" cy="276999"/>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类别、置信度和图像平面二维框</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6121400" y="4495800"/>
            <a:ext cx="0" cy="10541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6273800" y="4495800"/>
            <a:ext cx="26416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适用优势</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273800" y="4914900"/>
            <a:ext cx="2603500" cy="42164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图像数据获取方便，语义识别能力强</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9004300" y="4495800"/>
            <a:ext cx="0" cy="10541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9156700" y="4495800"/>
            <a:ext cx="2641600" cy="276999"/>
          </a:xfrm>
          <a:prstGeom prst="rect">
            <a:avLst/>
          </a:prstGeom>
          <a:noFill/>
        </p:spPr>
        <p:txBody>
          <a:bodyPr vert="horz" wrap="square" lIns="0" tIns="0" rIns="0" bIns="0" rtlCol="0">
            <a:noAutofit/>
          </a:bodyPr>
          <a:lstStyle/>
          <a:p>
            <a:r>
              <a:rPr lang="zh-CN" altLang="en-US" sz="1600" b="1">
                <a:solidFill>
                  <a:srgbClr val="B5121B"/>
                </a:solidFill>
                <a:latin typeface="微软雅黑" panose="020B0503020204020204" pitchFamily="34" charset="-122"/>
                <a:ea typeface="微软雅黑" panose="020B0503020204020204" pitchFamily="34" charset="-122"/>
              </a:rPr>
              <a:t>主要不足</a:t>
            </a:r>
            <a:endParaRPr lang="zh-CN" altLang="en-US" sz="1600" b="1">
              <a:solidFill>
                <a:srgbClr val="B5121B"/>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9156700" y="4914900"/>
            <a:ext cx="2603500" cy="42164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难以直接给出距离、三维尺寸和空间朝向</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41" name="矩形 40"/>
          <p:cNvSpPr/>
          <p:nvPr/>
        </p:nvSpPr>
        <p:spPr>
          <a:xfrm>
            <a:off x="355600" y="5829300"/>
            <a:ext cx="11480800" cy="7112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2" name="文本框 41"/>
          <p:cNvSpPr txBox="1"/>
          <p:nvPr/>
        </p:nvSpPr>
        <p:spPr>
          <a:xfrm>
            <a:off x="609600" y="5956300"/>
            <a:ext cx="10972800" cy="276999"/>
          </a:xfrm>
          <a:prstGeom prst="rect">
            <a:avLst/>
          </a:prstGeom>
          <a:noFill/>
        </p:spPr>
        <p:txBody>
          <a:bodyPr vert="horz" wrap="square" lIns="0" tIns="0" rIns="0" bIns="0" rtlCol="0" anchor="ctr">
            <a:noAutofit/>
          </a:bodyPr>
          <a:lstStyle/>
          <a:p>
            <a:pPr algn="ctr"/>
            <a:r>
              <a:rPr lang="zh-CN" altLang="en-US" b="1">
                <a:solidFill>
                  <a:srgbClr val="004A9F"/>
                </a:solidFill>
                <a:latin typeface="微软雅黑" panose="020B0503020204020204" pitchFamily="34" charset="-122"/>
                <a:ea typeface="微软雅黑" panose="020B0503020204020204" pitchFamily="34" charset="-122"/>
              </a:rPr>
              <a:t>二维检测为图像语义理解提供基础，但三维感知仍需要空间几何信息支撑。</a:t>
            </a:r>
            <a:endParaRPr lang="zh-CN" altLang="en-US" b="1">
              <a:solidFill>
                <a:srgbClr val="004A9F"/>
              </a:solidFill>
              <a:latin typeface="微软雅黑" panose="020B0503020204020204" pitchFamily="34" charset="-122"/>
              <a:ea typeface="微软雅黑" panose="020B0503020204020204" pitchFamily="34" charset="-122"/>
            </a:endParaRPr>
          </a:p>
        </p:txBody>
      </p:sp>
      <p:pic>
        <p:nvPicPr>
          <p:cNvPr id="43" name="Image encoder - cropped from image deck" descr="Unmodified local illustration crop from slide 5 of the image-based deck. Surrounding text remains editable."/>
          <p:cNvPicPr>
            <a:picLocks noChangeAspect="1"/>
          </p:cNvPicPr>
          <p:nvPr/>
        </p:nvPicPr>
        <p:blipFill>
          <a:blip r:embed="rId2"/>
          <a:stretch>
            <a:fillRect/>
          </a:stretch>
        </p:blipFill>
        <p:spPr>
          <a:xfrm>
            <a:off x="3511550" y="1841500"/>
            <a:ext cx="1219200" cy="1532912"/>
          </a:xfrm>
          <a:prstGeom prst="rect">
            <a:avLst/>
          </a:prstGeom>
          <a:ln>
            <a:noFill/>
          </a:ln>
        </p:spPr>
      </p:pic>
      <p:pic>
        <p:nvPicPr>
          <p:cNvPr id="44" name="Multiscale features - cropped from image deck" descr="Unmodified local illustration crop from slide 5 of the image-based deck. Surrounding text remains editable."/>
          <p:cNvPicPr>
            <a:picLocks noChangeAspect="1"/>
          </p:cNvPicPr>
          <p:nvPr/>
        </p:nvPicPr>
        <p:blipFill>
          <a:blip r:embed="rId3"/>
          <a:stretch>
            <a:fillRect/>
          </a:stretch>
        </p:blipFill>
        <p:spPr>
          <a:xfrm>
            <a:off x="5556250" y="1733550"/>
            <a:ext cx="1422400" cy="1725653"/>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01</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研究现状：点云单模态三维检测</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06</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81000" y="977900"/>
            <a:ext cx="11430000" cy="276999"/>
          </a:xfrm>
          <a:prstGeom prst="rect">
            <a:avLst/>
          </a:prstGeom>
          <a:noFill/>
        </p:spPr>
        <p:txBody>
          <a:bodyPr vert="horz" wrap="square" lIns="0" tIns="0" rIns="0" bIns="0" rtlCol="0">
            <a:noAutofit/>
          </a:bodyPr>
          <a:lstStyle/>
          <a:p>
            <a:r>
              <a:rPr lang="zh-CN" altLang="en-US" sz="1500">
                <a:solidFill>
                  <a:srgbClr val="586674"/>
                </a:solidFill>
                <a:latin typeface="微软雅黑" panose="020B0503020204020204" pitchFamily="34" charset="-122"/>
                <a:ea typeface="微软雅黑" panose="020B0503020204020204" pitchFamily="34" charset="-122"/>
              </a:rPr>
              <a:t>点云检测利用 </a:t>
            </a:r>
            <a:r>
              <a:rPr lang="en-US" altLang="zh-CN" sz="1500">
                <a:solidFill>
                  <a:srgbClr val="586674"/>
                </a:solidFill>
                <a:latin typeface="微软雅黑" panose="020B0503020204020204" pitchFamily="34" charset="-122"/>
                <a:ea typeface="微软雅黑" panose="020B0503020204020204" pitchFamily="34" charset="-122"/>
              </a:rPr>
              <a:t>LiDAR </a:t>
            </a:r>
            <a:r>
              <a:rPr lang="zh-CN" altLang="en-US" sz="1500">
                <a:solidFill>
                  <a:srgbClr val="586674"/>
                </a:solidFill>
                <a:latin typeface="微软雅黑" panose="020B0503020204020204" pitchFamily="34" charset="-122"/>
                <a:ea typeface="微软雅黑" panose="020B0503020204020204" pitchFamily="34" charset="-122"/>
              </a:rPr>
              <a:t>空间几何，将稀疏点组织成体素、柱体或 </a:t>
            </a:r>
            <a:r>
              <a:rPr lang="en-US" altLang="zh-CN" sz="1500">
                <a:solidFill>
                  <a:srgbClr val="586674"/>
                </a:solidFill>
                <a:latin typeface="微软雅黑" panose="020B0503020204020204" pitchFamily="34" charset="-122"/>
                <a:ea typeface="微软雅黑" panose="020B0503020204020204" pitchFamily="34" charset="-122"/>
              </a:rPr>
              <a:t>BEV </a:t>
            </a:r>
            <a:r>
              <a:rPr lang="zh-CN" altLang="en-US" sz="1500">
                <a:solidFill>
                  <a:srgbClr val="586674"/>
                </a:solidFill>
                <a:latin typeface="微软雅黑" panose="020B0503020204020204" pitchFamily="34" charset="-122"/>
                <a:ea typeface="微软雅黑" panose="020B0503020204020204" pitchFamily="34" charset="-122"/>
              </a:rPr>
              <a:t>特征</a:t>
            </a:r>
            <a:endParaRPr lang="zh-CN" altLang="en-US" sz="1500">
              <a:solidFill>
                <a:srgbClr val="586674"/>
              </a:solidFill>
              <a:latin typeface="微软雅黑" panose="020B0503020204020204" pitchFamily="34" charset="-122"/>
              <a:ea typeface="微软雅黑" panose="020B0503020204020204" pitchFamily="34" charset="-122"/>
            </a:endParaRPr>
          </a:p>
        </p:txBody>
      </p:sp>
      <p:sp>
        <p:nvSpPr>
          <p:cNvPr id="8" name="矩形 7"/>
          <p:cNvSpPr/>
          <p:nvPr/>
        </p:nvSpPr>
        <p:spPr>
          <a:xfrm>
            <a:off x="368300" y="1625600"/>
            <a:ext cx="2133600" cy="508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 name="椭圆 8"/>
          <p:cNvSpPr/>
          <p:nvPr/>
        </p:nvSpPr>
        <p:spPr>
          <a:xfrm>
            <a:off x="368300" y="1625600"/>
            <a:ext cx="368300" cy="368300"/>
          </a:xfrm>
          <a:prstGeom prst="ellipse">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0" name="文本框 9"/>
          <p:cNvSpPr txBox="1"/>
          <p:nvPr/>
        </p:nvSpPr>
        <p:spPr>
          <a:xfrm>
            <a:off x="368300" y="16637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01</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12800" y="1765300"/>
            <a:ext cx="1676400" cy="276999"/>
          </a:xfrm>
          <a:prstGeom prst="rect">
            <a:avLst/>
          </a:prstGeom>
          <a:noFill/>
        </p:spPr>
        <p:txBody>
          <a:bodyPr vert="horz" wrap="square" lIns="0" tIns="0" rIns="0" bIns="0" rtlCol="0">
            <a:noAutofit/>
          </a:bodyPr>
          <a:lstStyle/>
          <a:p>
            <a:pPr algn="ctr"/>
            <a:r>
              <a:rPr lang="en-US" altLang="zh-CN" sz="1350" b="1">
                <a:solidFill>
                  <a:srgbClr val="18222D"/>
                </a:solidFill>
                <a:latin typeface="微软雅黑" panose="020B0503020204020204" pitchFamily="34" charset="-122"/>
                <a:ea typeface="微软雅黑" panose="020B0503020204020204" pitchFamily="34" charset="-122"/>
              </a:rPr>
              <a:t>LiDAR </a:t>
            </a:r>
            <a:r>
              <a:rPr lang="zh-CN" altLang="en-US" sz="1350" b="1">
                <a:solidFill>
                  <a:srgbClr val="18222D"/>
                </a:solidFill>
                <a:latin typeface="微软雅黑" panose="020B0503020204020204" pitchFamily="34" charset="-122"/>
                <a:ea typeface="微软雅黑" panose="020B0503020204020204" pitchFamily="34" charset="-122"/>
              </a:rPr>
              <a:t>点云</a:t>
            </a:r>
            <a:endParaRPr lang="zh-CN" altLang="en-US" sz="1350" b="1">
              <a:solidFill>
                <a:srgbClr val="18222D"/>
              </a:solidFill>
              <a:latin typeface="微软雅黑" panose="020B0503020204020204" pitchFamily="34" charset="-122"/>
              <a:ea typeface="微软雅黑" panose="020B0503020204020204" pitchFamily="34" charset="-122"/>
            </a:endParaRPr>
          </a:p>
        </p:txBody>
      </p:sp>
      <p:pic>
        <p:nvPicPr>
          <p:cNvPr id="13" name="图片 12"/>
          <p:cNvPicPr/>
          <p:nvPr/>
        </p:nvPicPr>
        <p:blipFill>
          <a:blip r:embed="rId1">
            <a:extLst>
              <a:ext uri="{28A0092B-C50C-407E-A947-70E740481C1C}">
                <a14:useLocalDpi xmlns:a14="http://schemas.microsoft.com/office/drawing/2010/main" val="0"/>
              </a:ext>
            </a:extLst>
          </a:blip>
          <a:stretch>
            <a:fillRect/>
          </a:stretch>
        </p:blipFill>
        <p:spPr>
          <a:xfrm>
            <a:off x="368300" y="2386638"/>
            <a:ext cx="2108200" cy="1373524"/>
          </a:xfrm>
          <a:prstGeom prst="rect">
            <a:avLst/>
          </a:prstGeom>
        </p:spPr>
      </p:pic>
      <p:cxnSp>
        <p:nvCxnSpPr>
          <p:cNvPr id="14" name="直接连接符 13"/>
          <p:cNvCxnSpPr/>
          <p:nvPr/>
        </p:nvCxnSpPr>
        <p:spPr>
          <a:xfrm>
            <a:off x="2501900" y="3009900"/>
            <a:ext cx="1905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705100" y="1625600"/>
            <a:ext cx="2133600" cy="508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6" name="椭圆 15"/>
          <p:cNvSpPr/>
          <p:nvPr/>
        </p:nvSpPr>
        <p:spPr>
          <a:xfrm>
            <a:off x="2705100" y="1625600"/>
            <a:ext cx="368300" cy="368300"/>
          </a:xfrm>
          <a:prstGeom prst="ellipse">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p:cNvSpPr txBox="1"/>
          <p:nvPr/>
        </p:nvSpPr>
        <p:spPr>
          <a:xfrm>
            <a:off x="2705100" y="16637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02</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3149600" y="1765300"/>
            <a:ext cx="1676400" cy="276999"/>
          </a:xfrm>
          <a:prstGeom prst="rect">
            <a:avLst/>
          </a:prstGeom>
          <a:noFill/>
        </p:spPr>
        <p:txBody>
          <a:bodyPr vert="horz" wrap="square" lIns="0" tIns="0" rIns="0" bIns="0" rtlCol="0">
            <a:noAutofit/>
          </a:bodyPr>
          <a:lstStyle/>
          <a:p>
            <a:pPr algn="ctr"/>
            <a:r>
              <a:rPr lang="en-US" altLang="zh-CN" sz="1350" b="1">
                <a:solidFill>
                  <a:srgbClr val="18222D"/>
                </a:solidFill>
                <a:latin typeface="微软雅黑" panose="020B0503020204020204" pitchFamily="34" charset="-122"/>
                <a:ea typeface="微软雅黑" panose="020B0503020204020204" pitchFamily="34" charset="-122"/>
              </a:rPr>
              <a:t>Pillar / Voxel </a:t>
            </a:r>
            <a:r>
              <a:rPr lang="zh-CN" altLang="en-US" sz="1350" b="1">
                <a:solidFill>
                  <a:srgbClr val="18222D"/>
                </a:solidFill>
                <a:latin typeface="微软雅黑" panose="020B0503020204020204" pitchFamily="34" charset="-122"/>
                <a:ea typeface="微软雅黑" panose="020B0503020204020204" pitchFamily="34" charset="-122"/>
              </a:rPr>
              <a:t>划分</a:t>
            </a:r>
            <a:endParaRPr lang="zh-CN" altLang="en-US" sz="1350" b="1">
              <a:solidFill>
                <a:srgbClr val="18222D"/>
              </a:solidFill>
              <a:latin typeface="微软雅黑" panose="020B0503020204020204" pitchFamily="34" charset="-122"/>
              <a:ea typeface="微软雅黑" panose="020B0503020204020204" pitchFamily="34" charset="-122"/>
            </a:endParaRPr>
          </a:p>
        </p:txBody>
      </p:sp>
      <p:pic>
        <p:nvPicPr>
          <p:cNvPr id="20" name="图片 19"/>
          <p:cNvPicPr/>
          <p:nvPr/>
        </p:nvPicPr>
        <p:blipFill>
          <a:blip r:embed="rId2">
            <a:extLst>
              <a:ext uri="{28A0092B-C50C-407E-A947-70E740481C1C}">
                <a14:useLocalDpi xmlns:a14="http://schemas.microsoft.com/office/drawing/2010/main" val="0"/>
              </a:ext>
            </a:extLst>
          </a:blip>
          <a:stretch>
            <a:fillRect/>
          </a:stretch>
        </p:blipFill>
        <p:spPr>
          <a:xfrm>
            <a:off x="2705100" y="2362276"/>
            <a:ext cx="2108200" cy="1422248"/>
          </a:xfrm>
          <a:prstGeom prst="rect">
            <a:avLst/>
          </a:prstGeom>
        </p:spPr>
      </p:pic>
      <p:cxnSp>
        <p:nvCxnSpPr>
          <p:cNvPr id="21" name="直接连接符 20"/>
          <p:cNvCxnSpPr/>
          <p:nvPr/>
        </p:nvCxnSpPr>
        <p:spPr>
          <a:xfrm>
            <a:off x="4838700" y="3009900"/>
            <a:ext cx="1905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5041900" y="1625600"/>
            <a:ext cx="2133600" cy="508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椭圆 22"/>
          <p:cNvSpPr/>
          <p:nvPr/>
        </p:nvSpPr>
        <p:spPr>
          <a:xfrm>
            <a:off x="5041900" y="1625600"/>
            <a:ext cx="368300" cy="368300"/>
          </a:xfrm>
          <a:prstGeom prst="ellipse">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文本框 23"/>
          <p:cNvSpPr txBox="1"/>
          <p:nvPr/>
        </p:nvSpPr>
        <p:spPr>
          <a:xfrm>
            <a:off x="5041900" y="16637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03</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5486400" y="1765300"/>
            <a:ext cx="1676400" cy="276999"/>
          </a:xfrm>
          <a:prstGeom prst="rect">
            <a:avLst/>
          </a:prstGeom>
          <a:noFill/>
        </p:spPr>
        <p:txBody>
          <a:bodyPr vert="horz" wrap="square" lIns="0" tIns="0" rIns="0" bIns="0" rtlCol="0">
            <a:noAutofit/>
          </a:bodyPr>
          <a:lstStyle/>
          <a:p>
            <a:pPr algn="ctr"/>
            <a:r>
              <a:rPr lang="en-US" altLang="zh-CN" sz="1350" b="1">
                <a:solidFill>
                  <a:srgbClr val="18222D"/>
                </a:solidFill>
                <a:latin typeface="微软雅黑" panose="020B0503020204020204" pitchFamily="34" charset="-122"/>
                <a:ea typeface="微软雅黑" panose="020B0503020204020204" pitchFamily="34" charset="-122"/>
              </a:rPr>
              <a:t>BEV </a:t>
            </a:r>
            <a:r>
              <a:rPr lang="zh-CN" altLang="en-US" sz="1350" b="1">
                <a:solidFill>
                  <a:srgbClr val="18222D"/>
                </a:solidFill>
                <a:latin typeface="微软雅黑" panose="020B0503020204020204" pitchFamily="34" charset="-122"/>
                <a:ea typeface="微软雅黑" panose="020B0503020204020204" pitchFamily="34" charset="-122"/>
              </a:rPr>
              <a:t>特征表示</a:t>
            </a:r>
            <a:endParaRPr lang="zh-CN" altLang="en-US" sz="1350" b="1">
              <a:solidFill>
                <a:srgbClr val="18222D"/>
              </a:solidFill>
              <a:latin typeface="微软雅黑" panose="020B0503020204020204" pitchFamily="34" charset="-122"/>
              <a:ea typeface="微软雅黑" panose="020B0503020204020204" pitchFamily="34" charset="-122"/>
            </a:endParaRPr>
          </a:p>
        </p:txBody>
      </p:sp>
      <p:pic>
        <p:nvPicPr>
          <p:cNvPr id="27" name="图片 26"/>
          <p:cNvPicPr/>
          <p:nvPr/>
        </p:nvPicPr>
        <p:blipFill>
          <a:blip r:embed="rId3">
            <a:extLst>
              <a:ext uri="{28A0092B-C50C-407E-A947-70E740481C1C}">
                <a14:useLocalDpi xmlns:a14="http://schemas.microsoft.com/office/drawing/2010/main" val="0"/>
              </a:ext>
            </a:extLst>
          </a:blip>
          <a:stretch>
            <a:fillRect/>
          </a:stretch>
        </p:blipFill>
        <p:spPr>
          <a:xfrm>
            <a:off x="5041900" y="2372956"/>
            <a:ext cx="2108200" cy="1400889"/>
          </a:xfrm>
          <a:prstGeom prst="rect">
            <a:avLst/>
          </a:prstGeom>
        </p:spPr>
      </p:pic>
      <p:cxnSp>
        <p:nvCxnSpPr>
          <p:cNvPr id="28" name="直接连接符 27"/>
          <p:cNvCxnSpPr/>
          <p:nvPr/>
        </p:nvCxnSpPr>
        <p:spPr>
          <a:xfrm>
            <a:off x="7175500" y="3009900"/>
            <a:ext cx="1905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7378700" y="1625600"/>
            <a:ext cx="2133600" cy="508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0" name="椭圆 29"/>
          <p:cNvSpPr/>
          <p:nvPr/>
        </p:nvSpPr>
        <p:spPr>
          <a:xfrm>
            <a:off x="7378700" y="1625600"/>
            <a:ext cx="368300" cy="368300"/>
          </a:xfrm>
          <a:prstGeom prst="ellipse">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1" name="文本框 30"/>
          <p:cNvSpPr txBox="1"/>
          <p:nvPr/>
        </p:nvSpPr>
        <p:spPr>
          <a:xfrm>
            <a:off x="7378700" y="16637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04</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7823200" y="1765300"/>
            <a:ext cx="1676400" cy="276999"/>
          </a:xfrm>
          <a:prstGeom prst="rect">
            <a:avLst/>
          </a:prstGeom>
          <a:noFill/>
        </p:spPr>
        <p:txBody>
          <a:bodyPr vert="horz" wrap="square" lIns="0" tIns="0" rIns="0" bIns="0" rtlCol="0">
            <a:noAutofit/>
          </a:bodyPr>
          <a:lstStyle/>
          <a:p>
            <a:pPr algn="ctr"/>
            <a:r>
              <a:rPr lang="en-US" altLang="zh-CN" sz="1350" b="1">
                <a:solidFill>
                  <a:srgbClr val="18222D"/>
                </a:solidFill>
                <a:latin typeface="微软雅黑" panose="020B0503020204020204" pitchFamily="34" charset="-122"/>
                <a:ea typeface="微软雅黑" panose="020B0503020204020204" pitchFamily="34" charset="-122"/>
              </a:rPr>
              <a:t>BEV Backbone</a:t>
            </a:r>
            <a:endParaRPr lang="zh-CN" altLang="en-US" sz="1350" b="1">
              <a:solidFill>
                <a:srgbClr val="18222D"/>
              </a:solidFill>
              <a:latin typeface="微软雅黑" panose="020B0503020204020204" pitchFamily="34" charset="-122"/>
              <a:ea typeface="微软雅黑" panose="020B0503020204020204" pitchFamily="34" charset="-122"/>
            </a:endParaRPr>
          </a:p>
        </p:txBody>
      </p:sp>
      <p:pic>
        <p:nvPicPr>
          <p:cNvPr id="34" name="图片 33"/>
          <p:cNvPicPr/>
          <p:nvPr/>
        </p:nvPicPr>
        <p:blipFill>
          <a:blip r:embed="rId4">
            <a:extLst>
              <a:ext uri="{28A0092B-C50C-407E-A947-70E740481C1C}">
                <a14:useLocalDpi xmlns:a14="http://schemas.microsoft.com/office/drawing/2010/main" val="0"/>
              </a:ext>
            </a:extLst>
          </a:blip>
          <a:stretch>
            <a:fillRect/>
          </a:stretch>
        </p:blipFill>
        <p:spPr>
          <a:xfrm>
            <a:off x="7707020" y="2324100"/>
            <a:ext cx="1451559" cy="1498600"/>
          </a:xfrm>
          <a:prstGeom prst="rect">
            <a:avLst/>
          </a:prstGeom>
        </p:spPr>
      </p:pic>
      <p:cxnSp>
        <p:nvCxnSpPr>
          <p:cNvPr id="35" name="直接连接符 34"/>
          <p:cNvCxnSpPr/>
          <p:nvPr/>
        </p:nvCxnSpPr>
        <p:spPr>
          <a:xfrm>
            <a:off x="9512300" y="3009900"/>
            <a:ext cx="1905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9715500" y="1625600"/>
            <a:ext cx="2133600" cy="5080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7" name="椭圆 36"/>
          <p:cNvSpPr/>
          <p:nvPr/>
        </p:nvSpPr>
        <p:spPr>
          <a:xfrm>
            <a:off x="9715500" y="1625600"/>
            <a:ext cx="368300" cy="368300"/>
          </a:xfrm>
          <a:prstGeom prst="ellipse">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8" name="文本框 37"/>
          <p:cNvSpPr txBox="1"/>
          <p:nvPr/>
        </p:nvSpPr>
        <p:spPr>
          <a:xfrm>
            <a:off x="9715500" y="1663700"/>
            <a:ext cx="368300" cy="276999"/>
          </a:xfrm>
          <a:prstGeom prst="rect">
            <a:avLst/>
          </a:prstGeom>
          <a:noFill/>
        </p:spPr>
        <p:txBody>
          <a:bodyPr vert="horz" wrap="square" lIns="0" tIns="0" rIns="0" bIns="0" rtlCol="0" anchor="ctr">
            <a:noAutofit/>
          </a:bodyPr>
          <a:lstStyle/>
          <a:p>
            <a:pPr algn="ctr"/>
            <a:r>
              <a:rPr lang="en-US" altLang="zh-CN" sz="1420" b="1">
                <a:solidFill>
                  <a:srgbClr val="FFFFFF"/>
                </a:solidFill>
                <a:latin typeface="微软雅黑" panose="020B0503020204020204" pitchFamily="34" charset="-122"/>
                <a:ea typeface="微软雅黑" panose="020B0503020204020204" pitchFamily="34" charset="-122"/>
              </a:rPr>
              <a:t>05</a:t>
            </a:r>
            <a:endParaRPr lang="zh-CN" altLang="en-US" sz="1420" b="1">
              <a:solidFill>
                <a:srgbClr val="FFFFFF"/>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10160000" y="1765300"/>
            <a:ext cx="1676400" cy="436880"/>
          </a:xfrm>
          <a:prstGeom prst="rect">
            <a:avLst/>
          </a:prstGeom>
          <a:noFill/>
        </p:spPr>
        <p:txBody>
          <a:bodyPr vert="horz" wrap="square" lIns="0" tIns="0" rIns="0" bIns="0" rtlCol="0">
            <a:noAutofit/>
          </a:bodyPr>
          <a:lstStyle/>
          <a:p>
            <a:pPr algn="ctr"/>
            <a:r>
              <a:rPr lang="zh-CN" altLang="en-US" sz="1350" b="1">
                <a:solidFill>
                  <a:srgbClr val="18222D"/>
                </a:solidFill>
                <a:latin typeface="微软雅黑" panose="020B0503020204020204" pitchFamily="34" charset="-122"/>
                <a:ea typeface="微软雅黑" panose="020B0503020204020204" pitchFamily="34" charset="-122"/>
              </a:rPr>
              <a:t>检测头
三维框</a:t>
            </a:r>
            <a:endParaRPr lang="zh-CN" altLang="en-US" sz="1350" b="1">
              <a:solidFill>
                <a:srgbClr val="18222D"/>
              </a:solidFill>
              <a:latin typeface="微软雅黑" panose="020B0503020204020204" pitchFamily="34" charset="-122"/>
              <a:ea typeface="微软雅黑" panose="020B0503020204020204" pitchFamily="34" charset="-122"/>
            </a:endParaRPr>
          </a:p>
        </p:txBody>
      </p:sp>
      <p:pic>
        <p:nvPicPr>
          <p:cNvPr id="41" name="图片 40"/>
          <p:cNvPicPr/>
          <p:nvPr/>
        </p:nvPicPr>
        <p:blipFill>
          <a:blip r:embed="rId5">
            <a:extLst>
              <a:ext uri="{28A0092B-C50C-407E-A947-70E740481C1C}">
                <a14:useLocalDpi xmlns:a14="http://schemas.microsoft.com/office/drawing/2010/main" val="0"/>
              </a:ext>
            </a:extLst>
          </a:blip>
          <a:stretch>
            <a:fillRect/>
          </a:stretch>
        </p:blipFill>
        <p:spPr>
          <a:xfrm>
            <a:off x="9906000" y="2324100"/>
            <a:ext cx="1727200" cy="1498600"/>
          </a:xfrm>
          <a:prstGeom prst="rect">
            <a:avLst/>
          </a:prstGeom>
        </p:spPr>
      </p:pic>
      <p:sp>
        <p:nvSpPr>
          <p:cNvPr id="42" name="文本框 41"/>
          <p:cNvSpPr txBox="1"/>
          <p:nvPr/>
        </p:nvSpPr>
        <p:spPr>
          <a:xfrm>
            <a:off x="9829800" y="3860800"/>
            <a:ext cx="1993900" cy="276999"/>
          </a:xfrm>
          <a:prstGeom prst="rect">
            <a:avLst/>
          </a:prstGeom>
          <a:noFill/>
        </p:spPr>
        <p:txBody>
          <a:bodyPr vert="horz" wrap="square" lIns="0" tIns="0" rIns="0" bIns="0" rtlCol="0">
            <a:noAutofit/>
          </a:bodyPr>
          <a:lstStyle/>
          <a:p>
            <a:pPr algn="ctr"/>
            <a:r>
              <a:rPr lang="en-US" altLang="zh-CN" sz="1300" b="1">
                <a:solidFill>
                  <a:srgbClr val="18222D"/>
                </a:solidFill>
                <a:latin typeface="微软雅黑" panose="020B0503020204020204" pitchFamily="34" charset="-122"/>
                <a:ea typeface="微软雅黑" panose="020B0503020204020204" pitchFamily="34" charset="-122"/>
              </a:rPr>
              <a:t>3D </a:t>
            </a:r>
            <a:r>
              <a:rPr lang="zh-CN" altLang="en-US" sz="1300" b="1">
                <a:solidFill>
                  <a:srgbClr val="18222D"/>
                </a:solidFill>
                <a:latin typeface="微软雅黑" panose="020B0503020204020204" pitchFamily="34" charset="-122"/>
                <a:ea typeface="微软雅黑" panose="020B0503020204020204" pitchFamily="34" charset="-122"/>
              </a:rPr>
              <a:t>检测结果</a:t>
            </a:r>
            <a:endParaRPr lang="zh-CN" altLang="en-US" sz="1300" b="1">
              <a:solidFill>
                <a:srgbClr val="18222D"/>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368300" y="4229100"/>
            <a:ext cx="11468100" cy="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08000" y="4483100"/>
            <a:ext cx="26416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核心思路</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508000" y="4902200"/>
            <a:ext cx="2603500" cy="42164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把无序稀疏点云转化为规则空间特征，便于卷积网络处理</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46" name="直接连接符 45"/>
          <p:cNvCxnSpPr/>
          <p:nvPr/>
        </p:nvCxnSpPr>
        <p:spPr>
          <a:xfrm>
            <a:off x="3238500" y="4483100"/>
            <a:ext cx="0" cy="10922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390900" y="4483100"/>
            <a:ext cx="2641600" cy="276999"/>
          </a:xfrm>
          <a:prstGeom prst="rect">
            <a:avLst/>
          </a:prstGeom>
          <a:noFill/>
        </p:spPr>
        <p:txBody>
          <a:bodyPr vert="horz" wrap="square" lIns="0" tIns="0" rIns="0" bIns="0" rtlCol="0">
            <a:noAutofit/>
          </a:bodyPr>
          <a:lstStyle/>
          <a:p>
            <a:r>
              <a:rPr lang="zh-CN" altLang="en-US" sz="1600" b="1">
                <a:solidFill>
                  <a:srgbClr val="16857D"/>
                </a:solidFill>
                <a:latin typeface="微软雅黑" panose="020B0503020204020204" pitchFamily="34" charset="-122"/>
                <a:ea typeface="微软雅黑" panose="020B0503020204020204" pitchFamily="34" charset="-122"/>
              </a:rPr>
              <a:t>代表方法</a:t>
            </a:r>
            <a:endParaRPr lang="zh-CN" altLang="en-US" sz="1600" b="1">
              <a:solidFill>
                <a:srgbClr val="16857D"/>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3390900" y="4902200"/>
            <a:ext cx="2603500" cy="619760"/>
          </a:xfrm>
          <a:prstGeom prst="rect">
            <a:avLst/>
          </a:prstGeom>
          <a:noFill/>
        </p:spPr>
        <p:txBody>
          <a:bodyPr vert="horz" wrap="square" lIns="0" tIns="0" rIns="0" bIns="0" rtlCol="0">
            <a:noAutofit/>
          </a:bodyPr>
          <a:lstStyle/>
          <a:p>
            <a:r>
              <a:rPr lang="en-US" altLang="zh-CN" sz="1300">
                <a:solidFill>
                  <a:srgbClr val="586674"/>
                </a:solidFill>
                <a:latin typeface="微软雅黑" panose="020B0503020204020204" pitchFamily="34" charset="-122"/>
                <a:ea typeface="微软雅黑" panose="020B0503020204020204" pitchFamily="34" charset="-122"/>
              </a:rPr>
              <a:t>PointPillars</a:t>
            </a:r>
            <a:r>
              <a:rPr lang="zh-CN" altLang="en-US" sz="1300">
                <a:solidFill>
                  <a:srgbClr val="586674"/>
                </a:solidFill>
                <a:latin typeface="微软雅黑" panose="020B0503020204020204" pitchFamily="34" charset="-122"/>
                <a:ea typeface="微软雅黑" panose="020B0503020204020204" pitchFamily="34" charset="-122"/>
              </a:rPr>
              <a:t>、</a:t>
            </a:r>
            <a:r>
              <a:rPr lang="en-US" altLang="zh-CN" sz="1300">
                <a:solidFill>
                  <a:srgbClr val="586674"/>
                </a:solidFill>
                <a:latin typeface="微软雅黑" panose="020B0503020204020204" pitchFamily="34" charset="-122"/>
                <a:ea typeface="微软雅黑" panose="020B0503020204020204" pitchFamily="34" charset="-122"/>
              </a:rPr>
              <a:t>VoxelNet</a:t>
            </a:r>
            <a:r>
              <a:rPr lang="zh-CN" altLang="en-US" sz="1300">
                <a:solidFill>
                  <a:srgbClr val="586674"/>
                </a:solidFill>
                <a:latin typeface="微软雅黑" panose="020B0503020204020204" pitchFamily="34" charset="-122"/>
                <a:ea typeface="微软雅黑" panose="020B0503020204020204" pitchFamily="34" charset="-122"/>
              </a:rPr>
              <a:t>、</a:t>
            </a:r>
            <a:r>
              <a:rPr lang="en-US" altLang="zh-CN" sz="1300">
                <a:solidFill>
                  <a:srgbClr val="586674"/>
                </a:solidFill>
                <a:latin typeface="微软雅黑" panose="020B0503020204020204" pitchFamily="34" charset="-122"/>
                <a:ea typeface="微软雅黑" panose="020B0503020204020204" pitchFamily="34" charset="-122"/>
              </a:rPr>
              <a:t>SECOND </a:t>
            </a:r>
            <a:r>
              <a:rPr lang="zh-CN" altLang="en-US" sz="1300">
                <a:solidFill>
                  <a:srgbClr val="586674"/>
                </a:solidFill>
                <a:latin typeface="微软雅黑" panose="020B0503020204020204" pitchFamily="34" charset="-122"/>
                <a:ea typeface="微软雅黑" panose="020B0503020204020204" pitchFamily="34" charset="-122"/>
              </a:rPr>
              <a:t>等方法围绕体素或 </a:t>
            </a:r>
            <a:r>
              <a:rPr lang="en-US" altLang="zh-CN" sz="1300">
                <a:solidFill>
                  <a:srgbClr val="586674"/>
                </a:solidFill>
                <a:latin typeface="微软雅黑" panose="020B0503020204020204" pitchFamily="34" charset="-122"/>
                <a:ea typeface="微软雅黑" panose="020B0503020204020204" pitchFamily="34" charset="-122"/>
              </a:rPr>
              <a:t>BEV </a:t>
            </a:r>
            <a:r>
              <a:rPr lang="zh-CN" altLang="en-US" sz="1300">
                <a:solidFill>
                  <a:srgbClr val="586674"/>
                </a:solidFill>
                <a:latin typeface="微软雅黑" panose="020B0503020204020204" pitchFamily="34" charset="-122"/>
                <a:ea typeface="微软雅黑" panose="020B0503020204020204" pitchFamily="34" charset="-122"/>
              </a:rPr>
              <a:t>表达展开</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49" name="直接连接符 48"/>
          <p:cNvCxnSpPr/>
          <p:nvPr/>
        </p:nvCxnSpPr>
        <p:spPr>
          <a:xfrm>
            <a:off x="6121400" y="4483100"/>
            <a:ext cx="0" cy="10922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6273800" y="4483100"/>
            <a:ext cx="26416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检测输出</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6273800" y="4902200"/>
            <a:ext cx="2603500" cy="42164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预测三维位置、长宽高、朝向、类别和置信度</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52" name="直接连接符 51"/>
          <p:cNvCxnSpPr/>
          <p:nvPr/>
        </p:nvCxnSpPr>
        <p:spPr>
          <a:xfrm>
            <a:off x="9004300" y="4483100"/>
            <a:ext cx="0" cy="10922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9156700" y="4483100"/>
            <a:ext cx="2641600" cy="276999"/>
          </a:xfrm>
          <a:prstGeom prst="rect">
            <a:avLst/>
          </a:prstGeom>
          <a:noFill/>
        </p:spPr>
        <p:txBody>
          <a:bodyPr vert="horz" wrap="square" lIns="0" tIns="0" rIns="0" bIns="0" rtlCol="0">
            <a:noAutofit/>
          </a:bodyPr>
          <a:lstStyle/>
          <a:p>
            <a:r>
              <a:rPr lang="zh-CN" altLang="en-US" sz="1600" b="1">
                <a:solidFill>
                  <a:srgbClr val="B5121B"/>
                </a:solidFill>
                <a:latin typeface="微软雅黑" panose="020B0503020204020204" pitchFamily="34" charset="-122"/>
                <a:ea typeface="微软雅黑" panose="020B0503020204020204" pitchFamily="34" charset="-122"/>
              </a:rPr>
              <a:t>薄弱环节</a:t>
            </a:r>
            <a:endParaRPr lang="zh-CN" altLang="en-US" sz="1600" b="1">
              <a:solidFill>
                <a:srgbClr val="B5121B"/>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156700" y="4902200"/>
            <a:ext cx="2603500" cy="42164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远距离点稀疏、遮挡和坐标扰动会影响三维框稳定性</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55" name="矩形 54"/>
          <p:cNvSpPr/>
          <p:nvPr/>
        </p:nvSpPr>
        <p:spPr>
          <a:xfrm>
            <a:off x="355600" y="5829300"/>
            <a:ext cx="11480800" cy="7112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6" name="文本框 55"/>
          <p:cNvSpPr txBox="1"/>
          <p:nvPr/>
        </p:nvSpPr>
        <p:spPr>
          <a:xfrm>
            <a:off x="609600" y="5956300"/>
            <a:ext cx="10972800" cy="276999"/>
          </a:xfrm>
          <a:prstGeom prst="rect">
            <a:avLst/>
          </a:prstGeom>
          <a:noFill/>
        </p:spPr>
        <p:txBody>
          <a:bodyPr vert="horz" wrap="square" lIns="0" tIns="0" rIns="0" bIns="0" rtlCol="0" anchor="ctr">
            <a:noAutofit/>
          </a:bodyPr>
          <a:lstStyle/>
          <a:p>
            <a:pPr algn="ctr"/>
            <a:r>
              <a:rPr lang="zh-CN" altLang="en-US" sz="1750" b="1">
                <a:solidFill>
                  <a:srgbClr val="004A9F"/>
                </a:solidFill>
                <a:latin typeface="微软雅黑" panose="020B0503020204020204" pitchFamily="34" charset="-122"/>
                <a:ea typeface="微软雅黑" panose="020B0503020204020204" pitchFamily="34" charset="-122"/>
              </a:rPr>
              <a:t>点云三维检测强化了空间定位能力，但复杂工况下的几何完整性仍然影响检测稳定性。</a:t>
            </a:r>
            <a:endParaRPr lang="zh-CN" altLang="en-US" sz="1750" b="1">
              <a:solidFill>
                <a:srgbClr val="004A9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01</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研究现状：图像</a:t>
            </a:r>
            <a:r>
              <a:rPr lang="en-US" altLang="zh-CN" sz="2400" b="1">
                <a:solidFill>
                  <a:srgbClr val="18222D"/>
                </a:solidFill>
                <a:latin typeface="微软雅黑" panose="020B0503020204020204" pitchFamily="34" charset="-122"/>
                <a:ea typeface="微软雅黑" panose="020B0503020204020204" pitchFamily="34" charset="-122"/>
              </a:rPr>
              <a:t>-</a:t>
            </a:r>
            <a:r>
              <a:rPr lang="zh-CN" altLang="en-US" sz="2400" b="1">
                <a:solidFill>
                  <a:srgbClr val="18222D"/>
                </a:solidFill>
                <a:latin typeface="微软雅黑" panose="020B0503020204020204" pitchFamily="34" charset="-122"/>
                <a:ea typeface="微软雅黑" panose="020B0503020204020204" pitchFamily="34" charset="-122"/>
              </a:rPr>
              <a:t>激光雷达多模态三维检测</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07</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81000" y="939800"/>
            <a:ext cx="11430000" cy="276999"/>
          </a:xfrm>
          <a:prstGeom prst="rect">
            <a:avLst/>
          </a:prstGeom>
          <a:noFill/>
        </p:spPr>
        <p:txBody>
          <a:bodyPr vert="horz" wrap="square" lIns="0" tIns="0" rIns="0" bIns="0" rtlCol="0">
            <a:noAutofit/>
          </a:bodyPr>
          <a:lstStyle/>
          <a:p>
            <a:r>
              <a:rPr lang="zh-CN" altLang="en-US" sz="1500">
                <a:solidFill>
                  <a:srgbClr val="586674"/>
                </a:solidFill>
                <a:latin typeface="微软雅黑" panose="020B0503020204020204" pitchFamily="34" charset="-122"/>
                <a:ea typeface="微软雅黑" panose="020B0503020204020204" pitchFamily="34" charset="-122"/>
              </a:rPr>
              <a:t>多模态方法通过标定关系融合图像语义和点云几何，是三维感知的重要方向</a:t>
            </a:r>
            <a:endParaRPr lang="zh-CN" altLang="en-US" sz="1500">
              <a:solidFill>
                <a:srgbClr val="586674"/>
              </a:solidFill>
              <a:latin typeface="微软雅黑" panose="020B0503020204020204" pitchFamily="34" charset="-122"/>
              <a:ea typeface="微软雅黑" panose="020B0503020204020204" pitchFamily="34" charset="-122"/>
            </a:endParaRPr>
          </a:p>
        </p:txBody>
      </p:sp>
      <p:sp>
        <p:nvSpPr>
          <p:cNvPr id="8" name="矩形: 圆角 7"/>
          <p:cNvSpPr/>
          <p:nvPr/>
        </p:nvSpPr>
        <p:spPr>
          <a:xfrm>
            <a:off x="381000" y="1409700"/>
            <a:ext cx="2336800" cy="12954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 name="文本框 8"/>
          <p:cNvSpPr txBox="1"/>
          <p:nvPr/>
        </p:nvSpPr>
        <p:spPr>
          <a:xfrm>
            <a:off x="469900" y="1473200"/>
            <a:ext cx="2159000" cy="276999"/>
          </a:xfrm>
          <a:prstGeom prst="rect">
            <a:avLst/>
          </a:prstGeom>
          <a:noFill/>
        </p:spPr>
        <p:txBody>
          <a:bodyPr vert="horz" wrap="square" lIns="0" tIns="0" rIns="0" bIns="0" rtlCol="0" anchor="ctr">
            <a:noAutofit/>
          </a:bodyPr>
          <a:lstStyle/>
          <a:p>
            <a:pPr algn="ctr"/>
            <a:r>
              <a:rPr lang="en-US" altLang="zh-CN" sz="1700" b="1">
                <a:solidFill>
                  <a:srgbClr val="004A9F"/>
                </a:solidFill>
                <a:latin typeface="微软雅黑" panose="020B0503020204020204" pitchFamily="34" charset="-122"/>
                <a:ea typeface="微软雅黑" panose="020B0503020204020204" pitchFamily="34" charset="-122"/>
              </a:rPr>
              <a:t>Camera </a:t>
            </a:r>
            <a:r>
              <a:rPr lang="zh-CN" altLang="en-US" sz="1700" b="1">
                <a:solidFill>
                  <a:srgbClr val="004A9F"/>
                </a:solidFill>
                <a:latin typeface="微软雅黑" panose="020B0503020204020204" pitchFamily="34" charset="-122"/>
                <a:ea typeface="微软雅黑" panose="020B0503020204020204" pitchFamily="34" charset="-122"/>
              </a:rPr>
              <a:t>编码器</a:t>
            </a:r>
            <a:endParaRPr lang="zh-CN" altLang="en-US" sz="1700" b="1">
              <a:solidFill>
                <a:srgbClr val="004A9F"/>
              </a:solidFill>
              <a:latin typeface="微软雅黑" panose="020B0503020204020204" pitchFamily="34" charset="-122"/>
              <a:ea typeface="微软雅黑" panose="020B0503020204020204" pitchFamily="34" charset="-122"/>
            </a:endParaRPr>
          </a:p>
        </p:txBody>
      </p:sp>
      <p:pic>
        <p:nvPicPr>
          <p:cNvPr id="11" name="图片 10"/>
          <p:cNvPicPr/>
          <p:nvPr/>
        </p:nvPicPr>
        <p:blipFill>
          <a:blip r:embed="rId1" cstate="print">
            <a:extLst>
              <a:ext uri="{28A0092B-C50C-407E-A947-70E740481C1C}">
                <a14:useLocalDpi xmlns:a14="http://schemas.microsoft.com/office/drawing/2010/main" val="0"/>
              </a:ext>
            </a:extLst>
          </a:blip>
          <a:stretch>
            <a:fillRect/>
          </a:stretch>
        </p:blipFill>
        <p:spPr>
          <a:xfrm>
            <a:off x="1024221" y="1866900"/>
            <a:ext cx="1012258" cy="723900"/>
          </a:xfrm>
          <a:prstGeom prst="rect">
            <a:avLst/>
          </a:prstGeom>
        </p:spPr>
      </p:pic>
      <p:sp>
        <p:nvSpPr>
          <p:cNvPr id="12" name="矩形: 圆角 11"/>
          <p:cNvSpPr/>
          <p:nvPr/>
        </p:nvSpPr>
        <p:spPr>
          <a:xfrm>
            <a:off x="381000" y="2933700"/>
            <a:ext cx="2336800" cy="1282700"/>
          </a:xfrm>
          <a:prstGeom prst="roundRect">
            <a:avLst>
              <a:gd name="adj" fmla="val 2000"/>
            </a:avLst>
          </a:prstGeom>
          <a:solidFill>
            <a:srgbClr val="F3F8FD"/>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文本框 12"/>
          <p:cNvSpPr txBox="1"/>
          <p:nvPr/>
        </p:nvSpPr>
        <p:spPr>
          <a:xfrm>
            <a:off x="469900" y="2997200"/>
            <a:ext cx="2159000" cy="276999"/>
          </a:xfrm>
          <a:prstGeom prst="rect">
            <a:avLst/>
          </a:prstGeom>
          <a:noFill/>
        </p:spPr>
        <p:txBody>
          <a:bodyPr vert="horz" wrap="square" lIns="0" tIns="0" rIns="0" bIns="0" rtlCol="0" anchor="ctr">
            <a:noAutofit/>
          </a:bodyPr>
          <a:lstStyle/>
          <a:p>
            <a:pPr algn="ctr"/>
            <a:r>
              <a:rPr lang="en-US" altLang="zh-CN" sz="1600" b="1">
                <a:solidFill>
                  <a:srgbClr val="16857D"/>
                </a:solidFill>
                <a:latin typeface="微软雅黑" panose="020B0503020204020204" pitchFamily="34" charset="-122"/>
                <a:ea typeface="微软雅黑" panose="020B0503020204020204" pitchFamily="34" charset="-122"/>
              </a:rPr>
              <a:t>LiDAR </a:t>
            </a:r>
            <a:r>
              <a:rPr lang="zh-CN" altLang="en-US" sz="1600" b="1">
                <a:solidFill>
                  <a:srgbClr val="16857D"/>
                </a:solidFill>
                <a:latin typeface="微软雅黑" panose="020B0503020204020204" pitchFamily="34" charset="-122"/>
                <a:ea typeface="微软雅黑" panose="020B0503020204020204" pitchFamily="34" charset="-122"/>
              </a:rPr>
              <a:t>编码器（轻量）</a:t>
            </a:r>
            <a:endParaRPr lang="zh-CN" altLang="en-US" sz="1600" b="1">
              <a:solidFill>
                <a:srgbClr val="16857D"/>
              </a:solidFill>
              <a:latin typeface="微软雅黑" panose="020B0503020204020204" pitchFamily="34" charset="-122"/>
              <a:ea typeface="微软雅黑" panose="020B0503020204020204" pitchFamily="34" charset="-122"/>
            </a:endParaRPr>
          </a:p>
        </p:txBody>
      </p:sp>
      <p:pic>
        <p:nvPicPr>
          <p:cNvPr id="15" name="图片 14"/>
          <p:cNvPicPr/>
          <p:nvPr/>
        </p:nvPicPr>
        <p:blipFill>
          <a:blip r:embed="rId2" cstate="print">
            <a:extLst>
              <a:ext uri="{28A0092B-C50C-407E-A947-70E740481C1C}">
                <a14:useLocalDpi xmlns:a14="http://schemas.microsoft.com/office/drawing/2010/main" val="0"/>
              </a:ext>
            </a:extLst>
          </a:blip>
          <a:stretch>
            <a:fillRect/>
          </a:stretch>
        </p:blipFill>
        <p:spPr>
          <a:xfrm>
            <a:off x="958259" y="3352800"/>
            <a:ext cx="1169581" cy="762000"/>
          </a:xfrm>
          <a:prstGeom prst="rect">
            <a:avLst/>
          </a:prstGeom>
        </p:spPr>
      </p:pic>
      <p:cxnSp>
        <p:nvCxnSpPr>
          <p:cNvPr id="16" name="直接连接符 15"/>
          <p:cNvCxnSpPr/>
          <p:nvPr/>
        </p:nvCxnSpPr>
        <p:spPr>
          <a:xfrm>
            <a:off x="2730500" y="2070100"/>
            <a:ext cx="11430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794000" y="1752600"/>
            <a:ext cx="1257300" cy="276999"/>
          </a:xfrm>
          <a:prstGeom prst="rect">
            <a:avLst/>
          </a:prstGeom>
          <a:noFill/>
        </p:spPr>
        <p:txBody>
          <a:bodyPr vert="horz" wrap="square" lIns="0" tIns="0" rIns="0" bIns="0" rtlCol="0">
            <a:noAutofit/>
          </a:bodyPr>
          <a:lstStyle/>
          <a:p>
            <a:r>
              <a:rPr lang="zh-CN" altLang="en-US" sz="1200" b="1">
                <a:solidFill>
                  <a:srgbClr val="004A9F"/>
                </a:solidFill>
                <a:latin typeface="微软雅黑" panose="020B0503020204020204" pitchFamily="34" charset="-122"/>
                <a:ea typeface="微软雅黑" panose="020B0503020204020204" pitchFamily="34" charset="-122"/>
              </a:rPr>
              <a:t>图像特征 </a:t>
            </a:r>
            <a:r>
              <a:rPr lang="en-US" altLang="zh-CN" sz="1200" b="1">
                <a:solidFill>
                  <a:srgbClr val="004A9F"/>
                </a:solidFill>
                <a:latin typeface="微软雅黑" panose="020B0503020204020204" pitchFamily="34" charset="-122"/>
                <a:ea typeface="微软雅黑" panose="020B0503020204020204" pitchFamily="34" charset="-122"/>
              </a:rPr>
              <a:t>F_C</a:t>
            </a:r>
            <a:endParaRPr lang="zh-CN" altLang="en-US" sz="1200" b="1">
              <a:solidFill>
                <a:srgbClr val="004A9F"/>
              </a:solidFill>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2730500" y="3568700"/>
            <a:ext cx="1143000" cy="0"/>
          </a:xfrm>
          <a:prstGeom prst="line">
            <a:avLst/>
          </a:prstGeom>
          <a:ln w="19050">
            <a:solidFill>
              <a:srgbClr val="16857D"/>
            </a:solidFill>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794000" y="3251200"/>
            <a:ext cx="1257300" cy="276999"/>
          </a:xfrm>
          <a:prstGeom prst="rect">
            <a:avLst/>
          </a:prstGeom>
          <a:noFill/>
        </p:spPr>
        <p:txBody>
          <a:bodyPr vert="horz" wrap="square" lIns="0" tIns="0" rIns="0" bIns="0" rtlCol="0">
            <a:noAutofit/>
          </a:bodyPr>
          <a:lstStyle/>
          <a:p>
            <a:r>
              <a:rPr lang="zh-CN" altLang="en-US" sz="1200" b="1">
                <a:solidFill>
                  <a:srgbClr val="16857D"/>
                </a:solidFill>
                <a:latin typeface="微软雅黑" panose="020B0503020204020204" pitchFamily="34" charset="-122"/>
                <a:ea typeface="微软雅黑" panose="020B0503020204020204" pitchFamily="34" charset="-122"/>
              </a:rPr>
              <a:t>点云特征 </a:t>
            </a:r>
            <a:r>
              <a:rPr lang="en-US" altLang="zh-CN" sz="1200" b="1">
                <a:solidFill>
                  <a:srgbClr val="16857D"/>
                </a:solidFill>
                <a:latin typeface="微软雅黑" panose="020B0503020204020204" pitchFamily="34" charset="-122"/>
                <a:ea typeface="微软雅黑" panose="020B0503020204020204" pitchFamily="34" charset="-122"/>
              </a:rPr>
              <a:t>F_L</a:t>
            </a:r>
            <a:endParaRPr lang="zh-CN" altLang="en-US" sz="1200" b="1">
              <a:solidFill>
                <a:srgbClr val="16857D"/>
              </a:solidFill>
              <a:latin typeface="微软雅黑" panose="020B0503020204020204" pitchFamily="34" charset="-122"/>
              <a:ea typeface="微软雅黑" panose="020B0503020204020204" pitchFamily="34" charset="-122"/>
            </a:endParaRPr>
          </a:p>
        </p:txBody>
      </p:sp>
      <p:sp>
        <p:nvSpPr>
          <p:cNvPr id="20" name="矩形 19"/>
          <p:cNvSpPr/>
          <p:nvPr/>
        </p:nvSpPr>
        <p:spPr>
          <a:xfrm>
            <a:off x="4343400" y="1511300"/>
            <a:ext cx="431800" cy="7366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1" name="矩形 20"/>
          <p:cNvSpPr/>
          <p:nvPr/>
        </p:nvSpPr>
        <p:spPr>
          <a:xfrm>
            <a:off x="4254500" y="1574800"/>
            <a:ext cx="431800" cy="7366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2" name="矩形 21"/>
          <p:cNvSpPr/>
          <p:nvPr/>
        </p:nvSpPr>
        <p:spPr>
          <a:xfrm>
            <a:off x="4165600" y="1638300"/>
            <a:ext cx="431800" cy="7366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矩形 22"/>
          <p:cNvSpPr/>
          <p:nvPr/>
        </p:nvSpPr>
        <p:spPr>
          <a:xfrm>
            <a:off x="4076700" y="1701800"/>
            <a:ext cx="431800" cy="7366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矩形 23"/>
          <p:cNvSpPr/>
          <p:nvPr/>
        </p:nvSpPr>
        <p:spPr>
          <a:xfrm>
            <a:off x="4343400" y="3022600"/>
            <a:ext cx="431800" cy="736600"/>
          </a:xfrm>
          <a:prstGeom prst="rect">
            <a:avLst/>
          </a:prstGeom>
          <a:solidFill>
            <a:srgbClr val="DAEBFC">
              <a:alpha val="85000"/>
            </a:srgbClr>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5" name="矩形 24"/>
          <p:cNvSpPr/>
          <p:nvPr/>
        </p:nvSpPr>
        <p:spPr>
          <a:xfrm>
            <a:off x="4254500" y="3086100"/>
            <a:ext cx="431800" cy="736600"/>
          </a:xfrm>
          <a:prstGeom prst="rect">
            <a:avLst/>
          </a:prstGeom>
          <a:solidFill>
            <a:srgbClr val="DAEBFC">
              <a:alpha val="85000"/>
            </a:srgbClr>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6" name="矩形 25"/>
          <p:cNvSpPr/>
          <p:nvPr/>
        </p:nvSpPr>
        <p:spPr>
          <a:xfrm>
            <a:off x="4165600" y="3149600"/>
            <a:ext cx="431800" cy="736600"/>
          </a:xfrm>
          <a:prstGeom prst="rect">
            <a:avLst/>
          </a:prstGeom>
          <a:solidFill>
            <a:srgbClr val="DAEBFC">
              <a:alpha val="85000"/>
            </a:srgbClr>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7" name="矩形 26"/>
          <p:cNvSpPr/>
          <p:nvPr/>
        </p:nvSpPr>
        <p:spPr>
          <a:xfrm>
            <a:off x="4076700" y="3213100"/>
            <a:ext cx="431800" cy="736600"/>
          </a:xfrm>
          <a:prstGeom prst="rect">
            <a:avLst/>
          </a:prstGeom>
          <a:solidFill>
            <a:srgbClr val="DAEBFC">
              <a:alpha val="85000"/>
            </a:srgbClr>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cxnSp>
        <p:nvCxnSpPr>
          <p:cNvPr id="28" name="直接连接符 27"/>
          <p:cNvCxnSpPr/>
          <p:nvPr/>
        </p:nvCxnSpPr>
        <p:spPr>
          <a:xfrm>
            <a:off x="4826000" y="2070100"/>
            <a:ext cx="152400" cy="0"/>
          </a:xfrm>
          <a:prstGeom prst="line">
            <a:avLst/>
          </a:prstGeom>
          <a:ln w="17780">
            <a:solidFill>
              <a:srgbClr val="004A9F"/>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978400" y="2070100"/>
            <a:ext cx="0" cy="723900"/>
          </a:xfrm>
          <a:prstGeom prst="line">
            <a:avLst/>
          </a:prstGeom>
          <a:ln w="17780">
            <a:solidFill>
              <a:srgbClr val="004A9F"/>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978400" y="2794000"/>
            <a:ext cx="2032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826000" y="3568700"/>
            <a:ext cx="152400" cy="0"/>
          </a:xfrm>
          <a:prstGeom prst="line">
            <a:avLst/>
          </a:prstGeom>
          <a:ln w="17780">
            <a:solidFill>
              <a:srgbClr val="16857D"/>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4978400" y="2794000"/>
            <a:ext cx="0" cy="774700"/>
          </a:xfrm>
          <a:prstGeom prst="line">
            <a:avLst/>
          </a:prstGeom>
          <a:ln w="17780">
            <a:solidFill>
              <a:srgbClr val="16857D"/>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978400" y="2794000"/>
            <a:ext cx="203200" cy="0"/>
          </a:xfrm>
          <a:prstGeom prst="line">
            <a:avLst/>
          </a:prstGeom>
          <a:ln w="19050">
            <a:solidFill>
              <a:srgbClr val="16857D"/>
            </a:solidFill>
            <a:tailEnd type="arrow"/>
          </a:ln>
        </p:spPr>
        <p:style>
          <a:lnRef idx="1">
            <a:schemeClr val="accent1"/>
          </a:lnRef>
          <a:fillRef idx="0">
            <a:schemeClr val="accent1"/>
          </a:fillRef>
          <a:effectRef idx="0">
            <a:schemeClr val="accent1"/>
          </a:effectRef>
          <a:fontRef idx="minor">
            <a:schemeClr val="tx1"/>
          </a:fontRef>
        </p:style>
      </p:cxnSp>
      <p:sp>
        <p:nvSpPr>
          <p:cNvPr id="34" name="矩形: 圆角 33"/>
          <p:cNvSpPr/>
          <p:nvPr/>
        </p:nvSpPr>
        <p:spPr>
          <a:xfrm>
            <a:off x="5194300" y="1905000"/>
            <a:ext cx="927100" cy="18161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5" name="文本框 34"/>
          <p:cNvSpPr txBox="1"/>
          <p:nvPr/>
        </p:nvSpPr>
        <p:spPr>
          <a:xfrm>
            <a:off x="5283200" y="2552700"/>
            <a:ext cx="749300" cy="622300"/>
          </a:xfrm>
          <a:prstGeom prst="rect">
            <a:avLst/>
          </a:prstGeom>
          <a:noFill/>
        </p:spPr>
        <p:txBody>
          <a:bodyPr vert="horz" wrap="square" lIns="0" tIns="0" rIns="0" bIns="0" rtlCol="0" anchor="ctr">
            <a:noAutofit/>
          </a:bodyPr>
          <a:lstStyle/>
          <a:p>
            <a:pPr algn="ctr"/>
            <a:r>
              <a:rPr lang="zh-CN" altLang="en-US" sz="1700" b="1">
                <a:solidFill>
                  <a:srgbClr val="004A9F"/>
                </a:solidFill>
                <a:latin typeface="微软雅黑" panose="020B0503020204020204" pitchFamily="34" charset="-122"/>
                <a:ea typeface="微软雅黑" panose="020B0503020204020204" pitchFamily="34" charset="-122"/>
              </a:rPr>
              <a:t>对齐
</a:t>
            </a:r>
            <a:r>
              <a:rPr lang="en-US" altLang="zh-CN" sz="1700" b="1">
                <a:solidFill>
                  <a:srgbClr val="004A9F"/>
                </a:solidFill>
                <a:latin typeface="微软雅黑" panose="020B0503020204020204" pitchFamily="34" charset="-122"/>
                <a:ea typeface="微软雅黑" panose="020B0503020204020204" pitchFamily="34" charset="-122"/>
              </a:rPr>
              <a:t>concat</a:t>
            </a:r>
            <a:endParaRPr lang="zh-CN" altLang="en-US" sz="1700" b="1">
              <a:solidFill>
                <a:srgbClr val="004A9F"/>
              </a:solidFill>
              <a:latin typeface="微软雅黑" panose="020B0503020204020204" pitchFamily="34" charset="-122"/>
              <a:ea typeface="微软雅黑" panose="020B0503020204020204" pitchFamily="34" charset="-122"/>
            </a:endParaRPr>
          </a:p>
        </p:txBody>
      </p:sp>
      <p:cxnSp>
        <p:nvCxnSpPr>
          <p:cNvPr id="36" name="直接连接符 35"/>
          <p:cNvCxnSpPr/>
          <p:nvPr/>
        </p:nvCxnSpPr>
        <p:spPr>
          <a:xfrm>
            <a:off x="6146800" y="2819400"/>
            <a:ext cx="3937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6959600" y="2222500"/>
            <a:ext cx="762000" cy="9271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8" name="矩形 37"/>
          <p:cNvSpPr/>
          <p:nvPr/>
        </p:nvSpPr>
        <p:spPr>
          <a:xfrm>
            <a:off x="6870700" y="2286000"/>
            <a:ext cx="762000" cy="9271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9" name="矩形 38"/>
          <p:cNvSpPr/>
          <p:nvPr/>
        </p:nvSpPr>
        <p:spPr>
          <a:xfrm>
            <a:off x="6781800" y="2349500"/>
            <a:ext cx="762000" cy="9271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0" name="矩形 39"/>
          <p:cNvSpPr/>
          <p:nvPr/>
        </p:nvSpPr>
        <p:spPr>
          <a:xfrm>
            <a:off x="6692900" y="2413000"/>
            <a:ext cx="762000" cy="9271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1" name="文本框 40"/>
          <p:cNvSpPr txBox="1"/>
          <p:nvPr/>
        </p:nvSpPr>
        <p:spPr>
          <a:xfrm>
            <a:off x="6502400" y="3517900"/>
            <a:ext cx="1447800" cy="276999"/>
          </a:xfrm>
          <a:prstGeom prst="rect">
            <a:avLst/>
          </a:prstGeom>
          <a:noFill/>
        </p:spPr>
        <p:txBody>
          <a:bodyPr vert="horz" wrap="square" lIns="0" tIns="0" rIns="0" bIns="0" rtlCol="0">
            <a:noAutofit/>
          </a:bodyPr>
          <a:lstStyle/>
          <a:p>
            <a:pPr algn="ctr"/>
            <a:r>
              <a:rPr lang="zh-CN" altLang="en-US" sz="1400" b="1">
                <a:solidFill>
                  <a:srgbClr val="18222D"/>
                </a:solidFill>
                <a:latin typeface="微软雅黑" panose="020B0503020204020204" pitchFamily="34" charset="-122"/>
                <a:ea typeface="微软雅黑" panose="020B0503020204020204" pitchFamily="34" charset="-122"/>
              </a:rPr>
              <a:t>融合特征 </a:t>
            </a:r>
            <a:r>
              <a:rPr lang="en-US" altLang="zh-CN" sz="1400" b="1">
                <a:solidFill>
                  <a:srgbClr val="18222D"/>
                </a:solidFill>
                <a:latin typeface="微软雅黑" panose="020B0503020204020204" pitchFamily="34" charset="-122"/>
                <a:ea typeface="微软雅黑" panose="020B0503020204020204" pitchFamily="34" charset="-122"/>
              </a:rPr>
              <a:t>F</a:t>
            </a:r>
            <a:endParaRPr lang="zh-CN" altLang="en-US" sz="1400" b="1">
              <a:solidFill>
                <a:srgbClr val="18222D"/>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7861300" y="2819400"/>
            <a:ext cx="3810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sp>
        <p:nvSpPr>
          <p:cNvPr id="43" name="矩形: 圆角 42"/>
          <p:cNvSpPr/>
          <p:nvPr/>
        </p:nvSpPr>
        <p:spPr>
          <a:xfrm>
            <a:off x="8267700" y="2374900"/>
            <a:ext cx="1587500" cy="9779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4" name="文本框 43"/>
          <p:cNvSpPr txBox="1"/>
          <p:nvPr/>
        </p:nvSpPr>
        <p:spPr>
          <a:xfrm>
            <a:off x="8356600" y="2514600"/>
            <a:ext cx="1409700" cy="609600"/>
          </a:xfrm>
          <a:prstGeom prst="rect">
            <a:avLst/>
          </a:prstGeom>
          <a:noFill/>
        </p:spPr>
        <p:txBody>
          <a:bodyPr vert="horz" wrap="square" lIns="0" tIns="0" rIns="0" bIns="0" rtlCol="0" anchor="ctr">
            <a:noAutofit/>
          </a:bodyPr>
          <a:lstStyle/>
          <a:p>
            <a:pPr algn="ctr"/>
            <a:r>
              <a:rPr lang="zh-CN" altLang="en-US" sz="1700" b="1">
                <a:solidFill>
                  <a:srgbClr val="004A9F"/>
                </a:solidFill>
                <a:latin typeface="微软雅黑" panose="020B0503020204020204" pitchFamily="34" charset="-122"/>
                <a:ea typeface="微软雅黑" panose="020B0503020204020204" pitchFamily="34" charset="-122"/>
              </a:rPr>
              <a:t>融合 </a:t>
            </a:r>
            <a:r>
              <a:rPr lang="en-US" altLang="zh-CN" sz="1700" b="1">
                <a:solidFill>
                  <a:srgbClr val="004A9F"/>
                </a:solidFill>
                <a:latin typeface="微软雅黑" panose="020B0503020204020204" pitchFamily="34" charset="-122"/>
                <a:ea typeface="微软雅黑" panose="020B0503020204020204" pitchFamily="34" charset="-122"/>
              </a:rPr>
              <a:t>/ </a:t>
            </a:r>
            <a:r>
              <a:rPr lang="zh-CN" altLang="en-US" sz="1700" b="1">
                <a:solidFill>
                  <a:srgbClr val="004A9F"/>
                </a:solidFill>
                <a:latin typeface="微软雅黑" panose="020B0503020204020204" pitchFamily="34" charset="-122"/>
                <a:ea typeface="微软雅黑" panose="020B0503020204020204" pitchFamily="34" charset="-122"/>
              </a:rPr>
              <a:t>感知
</a:t>
            </a:r>
            <a:r>
              <a:rPr lang="en-US" altLang="zh-CN" sz="1700" b="1">
                <a:solidFill>
                  <a:srgbClr val="004A9F"/>
                </a:solidFill>
                <a:latin typeface="微软雅黑" panose="020B0503020204020204" pitchFamily="34" charset="-122"/>
                <a:ea typeface="微软雅黑" panose="020B0503020204020204" pitchFamily="34" charset="-122"/>
              </a:rPr>
              <a:t>Head</a:t>
            </a:r>
            <a:endParaRPr lang="zh-CN" altLang="en-US" sz="1700" b="1">
              <a:solidFill>
                <a:srgbClr val="004A9F"/>
              </a:solidFill>
              <a:latin typeface="微软雅黑" panose="020B0503020204020204" pitchFamily="34" charset="-122"/>
              <a:ea typeface="微软雅黑" panose="020B0503020204020204" pitchFamily="34" charset="-122"/>
            </a:endParaRPr>
          </a:p>
        </p:txBody>
      </p:sp>
      <p:cxnSp>
        <p:nvCxnSpPr>
          <p:cNvPr id="45" name="直接连接符 44"/>
          <p:cNvCxnSpPr/>
          <p:nvPr/>
        </p:nvCxnSpPr>
        <p:spPr>
          <a:xfrm>
            <a:off x="9893300" y="2819400"/>
            <a:ext cx="3175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pic>
        <p:nvPicPr>
          <p:cNvPr id="47" name="图片 46"/>
          <p:cNvPicPr/>
          <p:nvPr/>
        </p:nvPicPr>
        <p:blipFill>
          <a:blip r:embed="rId3">
            <a:extLst>
              <a:ext uri="{28A0092B-C50C-407E-A947-70E740481C1C}">
                <a14:useLocalDpi xmlns:a14="http://schemas.microsoft.com/office/drawing/2010/main" val="0"/>
              </a:ext>
            </a:extLst>
          </a:blip>
          <a:stretch>
            <a:fillRect/>
          </a:stretch>
        </p:blipFill>
        <p:spPr>
          <a:xfrm>
            <a:off x="10337800" y="2132946"/>
            <a:ext cx="1333500" cy="1157007"/>
          </a:xfrm>
          <a:prstGeom prst="rect">
            <a:avLst/>
          </a:prstGeom>
        </p:spPr>
      </p:pic>
      <p:sp>
        <p:nvSpPr>
          <p:cNvPr id="48" name="文本框 47"/>
          <p:cNvSpPr txBox="1"/>
          <p:nvPr/>
        </p:nvSpPr>
        <p:spPr>
          <a:xfrm>
            <a:off x="10160000" y="3492500"/>
            <a:ext cx="1689100" cy="276999"/>
          </a:xfrm>
          <a:prstGeom prst="rect">
            <a:avLst/>
          </a:prstGeom>
          <a:noFill/>
        </p:spPr>
        <p:txBody>
          <a:bodyPr vert="horz" wrap="square" lIns="0" tIns="0" rIns="0" bIns="0" rtlCol="0">
            <a:noAutofit/>
          </a:bodyPr>
          <a:lstStyle/>
          <a:p>
            <a:pPr algn="ctr"/>
            <a:r>
              <a:rPr lang="en-US" altLang="zh-CN" sz="1400" b="1">
                <a:solidFill>
                  <a:srgbClr val="18222D"/>
                </a:solidFill>
                <a:latin typeface="微软雅黑" panose="020B0503020204020204" pitchFamily="34" charset="-122"/>
                <a:ea typeface="微软雅黑" panose="020B0503020204020204" pitchFamily="34" charset="-122"/>
              </a:rPr>
              <a:t>3D </a:t>
            </a:r>
            <a:r>
              <a:rPr lang="zh-CN" altLang="en-US" sz="1400" b="1">
                <a:solidFill>
                  <a:srgbClr val="18222D"/>
                </a:solidFill>
                <a:latin typeface="微软雅黑" panose="020B0503020204020204" pitchFamily="34" charset="-122"/>
                <a:ea typeface="微软雅黑" panose="020B0503020204020204" pitchFamily="34" charset="-122"/>
              </a:rPr>
              <a:t>检测结果</a:t>
            </a:r>
            <a:endParaRPr lang="zh-CN" altLang="en-US" sz="1400" b="1">
              <a:solidFill>
                <a:srgbClr val="18222D"/>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5511800" y="4127500"/>
            <a:ext cx="3810000" cy="276999"/>
          </a:xfrm>
          <a:prstGeom prst="rect">
            <a:avLst/>
          </a:prstGeom>
          <a:noFill/>
        </p:spPr>
        <p:txBody>
          <a:bodyPr vert="horz" wrap="square" lIns="0" tIns="0" rIns="0" bIns="0" rtlCol="0">
            <a:noAutofit/>
          </a:bodyPr>
          <a:lstStyle/>
          <a:p>
            <a:pPr algn="ctr"/>
            <a:r>
              <a:rPr lang="zh-CN" altLang="en-US" sz="1300" b="1">
                <a:solidFill>
                  <a:srgbClr val="F28E2B"/>
                </a:solidFill>
                <a:latin typeface="微软雅黑" panose="020B0503020204020204" pitchFamily="34" charset="-122"/>
                <a:ea typeface="微软雅黑" panose="020B0503020204020204" pitchFamily="34" charset="-122"/>
              </a:rPr>
              <a:t>标定投影与空间对应</a:t>
            </a:r>
            <a:endParaRPr lang="zh-CN" altLang="en-US" sz="1300" b="1">
              <a:solidFill>
                <a:srgbClr val="F28E2B"/>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508000" y="4660900"/>
            <a:ext cx="2641600" cy="304800"/>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互补信息</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508000" y="5080000"/>
            <a:ext cx="2603500" cy="57150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图像提供语义，点云提供距离和形状</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52" name="直接连接符 51"/>
          <p:cNvCxnSpPr/>
          <p:nvPr/>
        </p:nvCxnSpPr>
        <p:spPr>
          <a:xfrm>
            <a:off x="3238500" y="4660900"/>
            <a:ext cx="0" cy="9525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3390900" y="4660900"/>
            <a:ext cx="2641600" cy="304800"/>
          </a:xfrm>
          <a:prstGeom prst="rect">
            <a:avLst/>
          </a:prstGeom>
          <a:noFill/>
        </p:spPr>
        <p:txBody>
          <a:bodyPr vert="horz" wrap="square" lIns="0" tIns="0" rIns="0" bIns="0" rtlCol="0">
            <a:noAutofit/>
          </a:bodyPr>
          <a:lstStyle/>
          <a:p>
            <a:r>
              <a:rPr lang="zh-CN" altLang="en-US" sz="1600" b="1">
                <a:solidFill>
                  <a:srgbClr val="16857D"/>
                </a:solidFill>
                <a:latin typeface="微软雅黑" panose="020B0503020204020204" pitchFamily="34" charset="-122"/>
                <a:ea typeface="微软雅黑" panose="020B0503020204020204" pitchFamily="34" charset="-122"/>
              </a:rPr>
              <a:t>关键条件</a:t>
            </a:r>
            <a:endParaRPr lang="zh-CN" altLang="en-US" sz="1600" b="1">
              <a:solidFill>
                <a:srgbClr val="16857D"/>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3390900" y="5080000"/>
            <a:ext cx="2603500" cy="57150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标定关系决定跨模态特征对应</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55" name="直接连接符 54"/>
          <p:cNvCxnSpPr/>
          <p:nvPr/>
        </p:nvCxnSpPr>
        <p:spPr>
          <a:xfrm>
            <a:off x="6121400" y="4660900"/>
            <a:ext cx="0" cy="9525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6273800" y="4660900"/>
            <a:ext cx="2641600" cy="304800"/>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主流方向</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6273800" y="5080000"/>
            <a:ext cx="2603500" cy="57150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特征级融合和 BEV 融合持续发展</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58" name="直接连接符 57"/>
          <p:cNvCxnSpPr/>
          <p:nvPr/>
        </p:nvCxnSpPr>
        <p:spPr>
          <a:xfrm>
            <a:off x="9004300" y="4660900"/>
            <a:ext cx="0" cy="9525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9156700" y="4660900"/>
            <a:ext cx="2641600" cy="304800"/>
          </a:xfrm>
          <a:prstGeom prst="rect">
            <a:avLst/>
          </a:prstGeom>
          <a:noFill/>
        </p:spPr>
        <p:txBody>
          <a:bodyPr vert="horz" wrap="square" lIns="0" tIns="0" rIns="0" bIns="0" rtlCol="0">
            <a:noAutofit/>
          </a:bodyPr>
          <a:lstStyle/>
          <a:p>
            <a:r>
              <a:rPr lang="zh-CN" altLang="en-US" sz="1600" b="1">
                <a:solidFill>
                  <a:srgbClr val="B5121B"/>
                </a:solidFill>
                <a:latin typeface="微软雅黑" panose="020B0503020204020204" pitchFamily="34" charset="-122"/>
                <a:ea typeface="微软雅黑" panose="020B0503020204020204" pitchFamily="34" charset="-122"/>
              </a:rPr>
              <a:t>研究空缺</a:t>
            </a:r>
            <a:endParaRPr lang="zh-CN" altLang="en-US" sz="1600" b="1">
              <a:solidFill>
                <a:srgbClr val="B5121B"/>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9156700" y="5080000"/>
            <a:ext cx="2603500" cy="571500"/>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复杂工况下模态质量下降会削弱融合可靠性</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61" name="矩形 60"/>
          <p:cNvSpPr/>
          <p:nvPr/>
        </p:nvSpPr>
        <p:spPr>
          <a:xfrm>
            <a:off x="355600" y="6096000"/>
            <a:ext cx="11480800" cy="4445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62" name="文本框 61"/>
          <p:cNvSpPr txBox="1"/>
          <p:nvPr/>
        </p:nvSpPr>
        <p:spPr>
          <a:xfrm>
            <a:off x="609600" y="6223000"/>
            <a:ext cx="10972800" cy="330200"/>
          </a:xfrm>
          <a:prstGeom prst="rect">
            <a:avLst/>
          </a:prstGeom>
          <a:noFill/>
        </p:spPr>
        <p:txBody>
          <a:bodyPr vert="horz" wrap="square" lIns="0" tIns="0" rIns="0" bIns="0" rtlCol="0" anchor="ctr">
            <a:noAutofit/>
          </a:bodyPr>
          <a:lstStyle/>
          <a:p>
            <a:pPr algn="ctr"/>
            <a:r>
              <a:rPr lang="en-US" altLang="zh-CN" sz="1600" b="1">
                <a:solidFill>
                  <a:srgbClr val="004A9F"/>
                </a:solidFill>
                <a:latin typeface="微软雅黑" panose="020B0503020204020204" pitchFamily="34" charset="-122"/>
                <a:ea typeface="微软雅黑" panose="020B0503020204020204" pitchFamily="34" charset="-122"/>
              </a:rPr>
              <a:t>研究现状表明，后续工作需要关注输入退化对多模态融合过程的影响。</a:t>
            </a:r>
            <a:endParaRPr lang="en-US" altLang="zh-CN" sz="1600" b="1">
              <a:solidFill>
                <a:srgbClr val="004A9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前期已完成工作：流程搭建与复杂工况构造</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08</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矩形 6"/>
          <p:cNvSpPr/>
          <p:nvPr/>
        </p:nvSpPr>
        <p:spPr>
          <a:xfrm>
            <a:off x="508000" y="1308100"/>
            <a:ext cx="63500" cy="6985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8" name="文本框 7"/>
          <p:cNvSpPr txBox="1"/>
          <p:nvPr/>
        </p:nvSpPr>
        <p:spPr>
          <a:xfrm>
            <a:off x="774700" y="1511300"/>
            <a:ext cx="4826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检测方法理解与流程搭建</a:t>
            </a:r>
            <a:endParaRPr lang="zh-CN" altLang="en-US" sz="2200" b="1">
              <a:solidFill>
                <a:srgbClr val="18222D"/>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74700" y="2133600"/>
            <a:ext cx="4597400" cy="802640"/>
          </a:xfrm>
          <a:prstGeom prst="rect">
            <a:avLst/>
          </a:prstGeom>
          <a:noFill/>
        </p:spPr>
        <p:txBody>
          <a:bodyPr vert="horz" wrap="square" lIns="0" tIns="0" rIns="0" bIns="0" rtlCol="0">
            <a:noAutofit/>
          </a:bodyPr>
          <a:lstStyle/>
          <a:p>
            <a:r>
              <a:rPr lang="zh-CN" altLang="en-US" sz="1700">
                <a:solidFill>
                  <a:srgbClr val="586674"/>
                </a:solidFill>
                <a:latin typeface="微软雅黑" panose="020B0503020204020204" pitchFamily="34" charset="-122"/>
                <a:ea typeface="微软雅黑" panose="020B0503020204020204" pitchFamily="34" charset="-122"/>
              </a:rPr>
              <a:t>完成二维目标检测、点云单模态三维检测和图像</a:t>
            </a:r>
            <a:r>
              <a:rPr lang="en-US" altLang="zh-CN" sz="1700">
                <a:solidFill>
                  <a:srgbClr val="586674"/>
                </a:solidFill>
                <a:latin typeface="微软雅黑" panose="020B0503020204020204" pitchFamily="34" charset="-122"/>
                <a:ea typeface="微软雅黑" panose="020B0503020204020204" pitchFamily="34" charset="-122"/>
              </a:rPr>
              <a:t>-</a:t>
            </a:r>
            <a:r>
              <a:rPr lang="zh-CN" altLang="en-US" sz="1700">
                <a:solidFill>
                  <a:srgbClr val="586674"/>
                </a:solidFill>
                <a:latin typeface="微软雅黑" panose="020B0503020204020204" pitchFamily="34" charset="-122"/>
                <a:ea typeface="微软雅黑" panose="020B0503020204020204" pitchFamily="34" charset="-122"/>
              </a:rPr>
              <a:t>点云多模态三维检测流程搭建，并分析不同方法的输入、输出和局限。</a:t>
            </a:r>
            <a:endParaRPr lang="zh-CN" altLang="en-US" sz="1700">
              <a:solidFill>
                <a:srgbClr val="586674"/>
              </a:solidFill>
              <a:latin typeface="微软雅黑" panose="020B0503020204020204" pitchFamily="34" charset="-122"/>
              <a:ea typeface="微软雅黑" panose="020B0503020204020204" pitchFamily="34" charset="-122"/>
            </a:endParaRPr>
          </a:p>
        </p:txBody>
      </p:sp>
      <p:sp>
        <p:nvSpPr>
          <p:cNvPr id="10" name="矩形 9"/>
          <p:cNvSpPr/>
          <p:nvPr/>
        </p:nvSpPr>
        <p:spPr>
          <a:xfrm>
            <a:off x="508000" y="3822700"/>
            <a:ext cx="63500" cy="698500"/>
          </a:xfrm>
          <a:prstGeom prst="rect">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1" name="文本框 10"/>
          <p:cNvSpPr txBox="1"/>
          <p:nvPr/>
        </p:nvSpPr>
        <p:spPr>
          <a:xfrm>
            <a:off x="774700" y="4051300"/>
            <a:ext cx="4826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复杂工况样本构造</a:t>
            </a:r>
            <a:endParaRPr lang="zh-CN" altLang="en-US" sz="2200" b="1">
              <a:solidFill>
                <a:srgbClr val="18222D"/>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774700" y="4686300"/>
            <a:ext cx="4610100" cy="802640"/>
          </a:xfrm>
          <a:prstGeom prst="rect">
            <a:avLst/>
          </a:prstGeom>
          <a:noFill/>
        </p:spPr>
        <p:txBody>
          <a:bodyPr vert="horz" wrap="square" lIns="0" tIns="0" rIns="0" bIns="0" rtlCol="0">
            <a:noAutofit/>
          </a:bodyPr>
          <a:lstStyle/>
          <a:p>
            <a:r>
              <a:rPr lang="zh-CN" altLang="en-US" sz="1700">
                <a:solidFill>
                  <a:srgbClr val="586674"/>
                </a:solidFill>
                <a:latin typeface="微软雅黑" panose="020B0503020204020204" pitchFamily="34" charset="-122"/>
                <a:ea typeface="微软雅黑" panose="020B0503020204020204" pitchFamily="34" charset="-122"/>
              </a:rPr>
              <a:t>围绕实际道路感知中常见的数据退化情况，构建 </a:t>
            </a:r>
            <a:r>
              <a:rPr lang="en-US" altLang="zh-CN" sz="1700">
                <a:solidFill>
                  <a:srgbClr val="586674"/>
                </a:solidFill>
                <a:latin typeface="微软雅黑" panose="020B0503020204020204" pitchFamily="34" charset="-122"/>
                <a:ea typeface="微软雅黑" panose="020B0503020204020204" pitchFamily="34" charset="-122"/>
              </a:rPr>
              <a:t>clean / complex </a:t>
            </a:r>
            <a:r>
              <a:rPr lang="zh-CN" altLang="en-US" sz="1700">
                <a:solidFill>
                  <a:srgbClr val="586674"/>
                </a:solidFill>
                <a:latin typeface="微软雅黑" panose="020B0503020204020204" pitchFamily="34" charset="-122"/>
                <a:ea typeface="微软雅黑" panose="020B0503020204020204" pitchFamily="34" charset="-122"/>
              </a:rPr>
              <a:t>对比样本，为后续鲁棒性分析提供实验基础。</a:t>
            </a:r>
            <a:endParaRPr lang="zh-CN" altLang="en-US" sz="1700">
              <a:solidFill>
                <a:srgbClr val="586674"/>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6096000" y="1282700"/>
            <a:ext cx="0" cy="48641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6413500" y="1308100"/>
            <a:ext cx="63500" cy="698500"/>
          </a:xfrm>
          <a:prstGeom prst="rect">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5" name="文本框 14"/>
          <p:cNvSpPr txBox="1"/>
          <p:nvPr/>
        </p:nvSpPr>
        <p:spPr>
          <a:xfrm>
            <a:off x="6731000" y="1511300"/>
            <a:ext cx="4826000" cy="360680"/>
          </a:xfrm>
          <a:prstGeom prst="rect">
            <a:avLst/>
          </a:prstGeom>
          <a:noFill/>
        </p:spPr>
        <p:txBody>
          <a:bodyPr vert="horz" wrap="square" lIns="0" tIns="0" rIns="0" bIns="0" rtlCol="0">
            <a:noAutofit/>
          </a:bodyPr>
          <a:lstStyle/>
          <a:p>
            <a:r>
              <a:rPr lang="zh-CN" altLang="en-US" sz="2200" b="1">
                <a:solidFill>
                  <a:srgbClr val="18222D"/>
                </a:solidFill>
                <a:latin typeface="微软雅黑" panose="020B0503020204020204" pitchFamily="34" charset="-122"/>
                <a:ea typeface="微软雅黑" panose="020B0503020204020204" pitchFamily="34" charset="-122"/>
              </a:rPr>
              <a:t>六类复杂工况</a:t>
            </a:r>
            <a:endParaRPr lang="zh-CN" altLang="en-US" sz="2200" b="1">
              <a:solidFill>
                <a:srgbClr val="18222D"/>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464300" y="25400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弱光</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6464300" y="2997200"/>
            <a:ext cx="1600200" cy="0"/>
          </a:xfrm>
          <a:prstGeom prst="line">
            <a:avLst/>
          </a:prstGeom>
          <a:ln w="12700">
            <a:solidFill>
              <a:srgbClr val="004A9F"/>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394700" y="25400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雾天</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8394700" y="2997200"/>
            <a:ext cx="1600200" cy="0"/>
          </a:xfrm>
          <a:prstGeom prst="line">
            <a:avLst/>
          </a:prstGeom>
          <a:ln w="12700">
            <a:solidFill>
              <a:srgbClr val="16857D"/>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325100" y="25400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运动模糊</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21" name="直接连接符 20"/>
          <p:cNvCxnSpPr/>
          <p:nvPr/>
        </p:nvCxnSpPr>
        <p:spPr>
          <a:xfrm>
            <a:off x="10325100" y="2997200"/>
            <a:ext cx="1600200" cy="0"/>
          </a:xfrm>
          <a:prstGeom prst="line">
            <a:avLst/>
          </a:prstGeom>
          <a:ln w="12700">
            <a:solidFill>
              <a:srgbClr val="F28E2B"/>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464300" y="37846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图像噪声</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6464300" y="4241800"/>
            <a:ext cx="1600200" cy="0"/>
          </a:xfrm>
          <a:prstGeom prst="line">
            <a:avLst/>
          </a:prstGeom>
          <a:ln w="12700">
            <a:solidFill>
              <a:srgbClr val="004A9F"/>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394700" y="37846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点云稀疏</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8394700" y="4241800"/>
            <a:ext cx="1600200" cy="0"/>
          </a:xfrm>
          <a:prstGeom prst="line">
            <a:avLst/>
          </a:prstGeom>
          <a:ln w="12700">
            <a:solidFill>
              <a:srgbClr val="16857D"/>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0325100" y="3784600"/>
            <a:ext cx="1612900" cy="276999"/>
          </a:xfrm>
          <a:prstGeom prst="rect">
            <a:avLst/>
          </a:prstGeom>
          <a:noFill/>
        </p:spPr>
        <p:txBody>
          <a:bodyPr vert="horz" wrap="square" lIns="0" tIns="0" rIns="0" bIns="0" rtlCol="0">
            <a:noAutofit/>
          </a:bodyPr>
          <a:lstStyle/>
          <a:p>
            <a:pPr algn="ctr"/>
            <a:r>
              <a:rPr lang="zh-CN" altLang="en-US" sz="2000" b="1">
                <a:solidFill>
                  <a:srgbClr val="18222D"/>
                </a:solidFill>
                <a:latin typeface="微软雅黑" panose="020B0503020204020204" pitchFamily="34" charset="-122"/>
                <a:ea typeface="微软雅黑" panose="020B0503020204020204" pitchFamily="34" charset="-122"/>
              </a:rPr>
              <a:t>点云扰动</a:t>
            </a:r>
            <a:endParaRPr lang="zh-CN" altLang="en-US" sz="2000" b="1">
              <a:solidFill>
                <a:srgbClr val="18222D"/>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10325100" y="4241800"/>
            <a:ext cx="1600200" cy="0"/>
          </a:xfrm>
          <a:prstGeom prst="line">
            <a:avLst/>
          </a:prstGeom>
          <a:ln w="12700">
            <a:solidFill>
              <a:srgbClr val="F28E2B"/>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400800" y="5118100"/>
            <a:ext cx="5422900" cy="8382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9" name="文本框 28"/>
          <p:cNvSpPr txBox="1"/>
          <p:nvPr/>
        </p:nvSpPr>
        <p:spPr>
          <a:xfrm>
            <a:off x="6565900" y="5422900"/>
            <a:ext cx="50800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重点观察检测数量、置信度、漏检与可视化检测框变化。</a:t>
            </a:r>
            <a:endParaRPr lang="zh-CN" altLang="en-US" sz="1600" b="1">
              <a:solidFill>
                <a:srgbClr val="004A9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二维目标检测</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09</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矩形: 圆角 6"/>
          <p:cNvSpPr/>
          <p:nvPr/>
        </p:nvSpPr>
        <p:spPr>
          <a:xfrm>
            <a:off x="317500" y="1054100"/>
            <a:ext cx="3225800" cy="4445000"/>
          </a:xfrm>
          <a:prstGeom prst="roundRect">
            <a:avLst>
              <a:gd name="adj" fmla="val 2000"/>
            </a:avLst>
          </a:prstGeom>
          <a:solidFill>
            <a:srgbClr val="FFFFFF"/>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8" name="矩形 7"/>
          <p:cNvSpPr/>
          <p:nvPr/>
        </p:nvSpPr>
        <p:spPr>
          <a:xfrm>
            <a:off x="317500" y="1054100"/>
            <a:ext cx="3225800" cy="3429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 name="文本框 8"/>
          <p:cNvSpPr txBox="1"/>
          <p:nvPr/>
        </p:nvSpPr>
        <p:spPr>
          <a:xfrm>
            <a:off x="469900" y="1092200"/>
            <a:ext cx="29718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原始数据：</a:t>
            </a:r>
            <a:r>
              <a:rPr lang="en-US" altLang="zh-CN" sz="1400" b="1">
                <a:solidFill>
                  <a:srgbClr val="FFFFFF"/>
                </a:solidFill>
                <a:latin typeface="微软雅黑" panose="020B0503020204020204" pitchFamily="34" charset="-122"/>
                <a:ea typeface="微软雅黑" panose="020B0503020204020204" pitchFamily="34" charset="-122"/>
              </a:rPr>
              <a:t>RGB </a:t>
            </a:r>
            <a:r>
              <a:rPr lang="zh-CN" altLang="en-US" sz="1400" b="1">
                <a:solidFill>
                  <a:srgbClr val="FFFFFF"/>
                </a:solidFill>
                <a:latin typeface="微软雅黑" panose="020B0503020204020204" pitchFamily="34" charset="-122"/>
                <a:ea typeface="微软雅黑" panose="020B0503020204020204" pitchFamily="34" charset="-122"/>
              </a:rPr>
              <a:t>图像</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11" name="图片 10"/>
          <p:cNvPicPr/>
          <p:nvPr/>
        </p:nvPicPr>
        <p:blipFill>
          <a:blip r:embed="rId1" cstate="print">
            <a:extLst>
              <a:ext uri="{28A0092B-C50C-407E-A947-70E740481C1C}">
                <a14:useLocalDpi xmlns:a14="http://schemas.microsoft.com/office/drawing/2010/main" val="0"/>
              </a:ext>
            </a:extLst>
          </a:blip>
          <a:stretch>
            <a:fillRect/>
          </a:stretch>
        </p:blipFill>
        <p:spPr>
          <a:xfrm>
            <a:off x="461963" y="1511300"/>
            <a:ext cx="2924175" cy="3898900"/>
          </a:xfrm>
          <a:prstGeom prst="rect">
            <a:avLst/>
          </a:prstGeom>
        </p:spPr>
      </p:pic>
      <p:sp>
        <p:nvSpPr>
          <p:cNvPr id="12" name="矩形: 圆角 11"/>
          <p:cNvSpPr/>
          <p:nvPr/>
        </p:nvSpPr>
        <p:spPr>
          <a:xfrm>
            <a:off x="8750300" y="1054100"/>
            <a:ext cx="3136900" cy="4445000"/>
          </a:xfrm>
          <a:prstGeom prst="roundRect">
            <a:avLst>
              <a:gd name="adj" fmla="val 2000"/>
            </a:avLst>
          </a:prstGeom>
          <a:solidFill>
            <a:srgbClr val="FFFFFF"/>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矩形 12"/>
          <p:cNvSpPr/>
          <p:nvPr/>
        </p:nvSpPr>
        <p:spPr>
          <a:xfrm>
            <a:off x="8750300" y="1054100"/>
            <a:ext cx="3136900" cy="342900"/>
          </a:xfrm>
          <a:prstGeom prst="rect">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4" name="文本框 13"/>
          <p:cNvSpPr txBox="1"/>
          <p:nvPr/>
        </p:nvSpPr>
        <p:spPr>
          <a:xfrm>
            <a:off x="8902700" y="1092200"/>
            <a:ext cx="28829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实验结果：</a:t>
            </a:r>
            <a:r>
              <a:rPr lang="en-US" altLang="zh-CN" sz="1400" b="1">
                <a:solidFill>
                  <a:srgbClr val="FFFFFF"/>
                </a:solidFill>
                <a:latin typeface="微软雅黑" panose="020B0503020204020204" pitchFamily="34" charset="-122"/>
                <a:ea typeface="微软雅黑" panose="020B0503020204020204" pitchFamily="34" charset="-122"/>
              </a:rPr>
              <a:t>YOLOv8 </a:t>
            </a:r>
            <a:r>
              <a:rPr lang="zh-CN" altLang="en-US" sz="1400" b="1">
                <a:solidFill>
                  <a:srgbClr val="FFFFFF"/>
                </a:solidFill>
                <a:latin typeface="微软雅黑" panose="020B0503020204020204" pitchFamily="34" charset="-122"/>
                <a:ea typeface="微软雅黑" panose="020B0503020204020204" pitchFamily="34" charset="-122"/>
              </a:rPr>
              <a:t>检测</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16" name="图片 15"/>
          <p:cNvPicPr/>
          <p:nvPr/>
        </p:nvPicPr>
        <p:blipFill>
          <a:blip r:embed="rId2" cstate="print">
            <a:extLst>
              <a:ext uri="{28A0092B-C50C-407E-A947-70E740481C1C}">
                <a14:useLocalDpi xmlns:a14="http://schemas.microsoft.com/office/drawing/2010/main" val="0"/>
              </a:ext>
            </a:extLst>
          </a:blip>
          <a:stretch>
            <a:fillRect/>
          </a:stretch>
        </p:blipFill>
        <p:spPr>
          <a:xfrm>
            <a:off x="8851900" y="1513417"/>
            <a:ext cx="2921000" cy="3894667"/>
          </a:xfrm>
          <a:prstGeom prst="rect">
            <a:avLst/>
          </a:prstGeom>
        </p:spPr>
      </p:pic>
      <p:sp>
        <p:nvSpPr>
          <p:cNvPr id="17" name="矩形: 圆角 16"/>
          <p:cNvSpPr/>
          <p:nvPr/>
        </p:nvSpPr>
        <p:spPr>
          <a:xfrm>
            <a:off x="3670300" y="1219200"/>
            <a:ext cx="2349500" cy="23368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8" name="文本框 17"/>
          <p:cNvSpPr txBox="1"/>
          <p:nvPr/>
        </p:nvSpPr>
        <p:spPr>
          <a:xfrm>
            <a:off x="3784600" y="1295400"/>
            <a:ext cx="2120900" cy="276999"/>
          </a:xfrm>
          <a:prstGeom prst="rect">
            <a:avLst/>
          </a:prstGeom>
          <a:noFill/>
        </p:spPr>
        <p:txBody>
          <a:bodyPr vert="horz" wrap="square" lIns="0" tIns="0" rIns="0" bIns="0" rtlCol="0">
            <a:noAutofit/>
          </a:bodyPr>
          <a:lstStyle/>
          <a:p>
            <a:r>
              <a:rPr lang="en-US" altLang="zh-CN" sz="1600" b="1">
                <a:solidFill>
                  <a:srgbClr val="004A9F"/>
                </a:solidFill>
                <a:latin typeface="微软雅黑" panose="020B0503020204020204" pitchFamily="34" charset="-122"/>
                <a:ea typeface="微软雅黑" panose="020B0503020204020204" pitchFamily="34" charset="-122"/>
              </a:rPr>
              <a:t>1  </a:t>
            </a:r>
            <a:r>
              <a:rPr lang="zh-CN" altLang="en-US" sz="1600" b="1">
                <a:solidFill>
                  <a:srgbClr val="004A9F"/>
                </a:solidFill>
                <a:latin typeface="微软雅黑" panose="020B0503020204020204" pitchFamily="34" charset="-122"/>
                <a:ea typeface="微软雅黑" panose="020B0503020204020204" pitchFamily="34" charset="-122"/>
              </a:rPr>
              <a:t>特征提取</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3784600" y="1765300"/>
            <a:ext cx="2120900" cy="452120"/>
          </a:xfrm>
          <a:prstGeom prst="rect">
            <a:avLst/>
          </a:prstGeom>
          <a:noFill/>
        </p:spPr>
        <p:txBody>
          <a:bodyPr vert="horz" wrap="square" lIns="0" tIns="0" rIns="0" bIns="0" rtlCol="0">
            <a:noAutofit/>
          </a:bodyPr>
          <a:lstStyle/>
          <a:p>
            <a:r>
              <a:rPr lang="en-US" altLang="zh-CN" sz="1400">
                <a:solidFill>
                  <a:srgbClr val="586674"/>
                </a:solidFill>
                <a:latin typeface="微软雅黑" panose="020B0503020204020204" pitchFamily="34" charset="-122"/>
                <a:ea typeface="微软雅黑" panose="020B0503020204020204" pitchFamily="34" charset="-122"/>
              </a:rPr>
              <a:t>Backbone/FPN </a:t>
            </a:r>
            <a:r>
              <a:rPr lang="zh-CN" altLang="en-US" sz="1400">
                <a:solidFill>
                  <a:srgbClr val="586674"/>
                </a:solidFill>
                <a:latin typeface="微软雅黑" panose="020B0503020204020204" pitchFamily="34" charset="-122"/>
                <a:ea typeface="微软雅黑" panose="020B0503020204020204" pitchFamily="34" charset="-122"/>
              </a:rPr>
              <a:t>提取边缘、纹理、语义特征</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20" name="矩形: 圆角 19"/>
          <p:cNvSpPr/>
          <p:nvPr/>
        </p:nvSpPr>
        <p:spPr>
          <a:xfrm>
            <a:off x="6210300" y="1219200"/>
            <a:ext cx="2349500" cy="2336800"/>
          </a:xfrm>
          <a:prstGeom prst="roundRect">
            <a:avLst>
              <a:gd name="adj" fmla="val 2000"/>
            </a:avLst>
          </a:prstGeom>
          <a:solidFill>
            <a:srgbClr val="F3F8FD"/>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1" name="文本框 20"/>
          <p:cNvSpPr txBox="1"/>
          <p:nvPr/>
        </p:nvSpPr>
        <p:spPr>
          <a:xfrm>
            <a:off x="6324600" y="1295400"/>
            <a:ext cx="2120900" cy="276999"/>
          </a:xfrm>
          <a:prstGeom prst="rect">
            <a:avLst/>
          </a:prstGeom>
          <a:noFill/>
        </p:spPr>
        <p:txBody>
          <a:bodyPr vert="horz" wrap="square" lIns="0" tIns="0" rIns="0" bIns="0" rtlCol="0">
            <a:noAutofit/>
          </a:bodyPr>
          <a:lstStyle/>
          <a:p>
            <a:r>
              <a:rPr lang="en-US" altLang="zh-CN" sz="1600" b="1">
                <a:solidFill>
                  <a:srgbClr val="16857D"/>
                </a:solidFill>
                <a:latin typeface="微软雅黑" panose="020B0503020204020204" pitchFamily="34" charset="-122"/>
                <a:ea typeface="微软雅黑" panose="020B0503020204020204" pitchFamily="34" charset="-122"/>
              </a:rPr>
              <a:t>2  </a:t>
            </a:r>
            <a:r>
              <a:rPr lang="zh-CN" altLang="en-US" sz="1600" b="1">
                <a:solidFill>
                  <a:srgbClr val="16857D"/>
                </a:solidFill>
                <a:latin typeface="微软雅黑" panose="020B0503020204020204" pitchFamily="34" charset="-122"/>
                <a:ea typeface="微软雅黑" panose="020B0503020204020204" pitchFamily="34" charset="-122"/>
              </a:rPr>
              <a:t>检测预测</a:t>
            </a:r>
            <a:endParaRPr lang="zh-CN" altLang="en-US" sz="1600" b="1">
              <a:solidFill>
                <a:srgbClr val="16857D"/>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324600" y="1765300"/>
            <a:ext cx="2120900" cy="452120"/>
          </a:xfrm>
          <a:prstGeom prst="rect">
            <a:avLst/>
          </a:prstGeom>
          <a:noFill/>
        </p:spPr>
        <p:txBody>
          <a:bodyPr vert="horz" wrap="square" lIns="0" tIns="0" rIns="0" bIns="0" rtlCol="0">
            <a:noAutofit/>
          </a:bodyPr>
          <a:lstStyle/>
          <a:p>
            <a:r>
              <a:rPr lang="zh-CN" altLang="en-US" sz="1400">
                <a:solidFill>
                  <a:srgbClr val="586674"/>
                </a:solidFill>
                <a:latin typeface="微软雅黑" panose="020B0503020204020204" pitchFamily="34" charset="-122"/>
                <a:ea typeface="微软雅黑" panose="020B0503020204020204" pitchFamily="34" charset="-122"/>
              </a:rPr>
              <a:t>预测类别概率、置信度和 </a:t>
            </a:r>
            <a:r>
              <a:rPr lang="en-US" altLang="zh-CN" sz="1400">
                <a:solidFill>
                  <a:srgbClr val="586674"/>
                </a:solidFill>
                <a:latin typeface="微软雅黑" panose="020B0503020204020204" pitchFamily="34" charset="-122"/>
                <a:ea typeface="微软雅黑" panose="020B0503020204020204" pitchFamily="34" charset="-122"/>
              </a:rPr>
              <a:t>2D </a:t>
            </a:r>
            <a:r>
              <a:rPr lang="zh-CN" altLang="en-US" sz="1400">
                <a:solidFill>
                  <a:srgbClr val="586674"/>
                </a:solidFill>
                <a:latin typeface="微软雅黑" panose="020B0503020204020204" pitchFamily="34" charset="-122"/>
                <a:ea typeface="微软雅黑" panose="020B0503020204020204" pitchFamily="34" charset="-122"/>
              </a:rPr>
              <a:t>框坐标</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23" name="矩形: 圆角 22"/>
          <p:cNvSpPr/>
          <p:nvPr/>
        </p:nvSpPr>
        <p:spPr>
          <a:xfrm>
            <a:off x="6210300" y="3771900"/>
            <a:ext cx="2349500" cy="1727200"/>
          </a:xfrm>
          <a:prstGeom prst="roundRect">
            <a:avLst>
              <a:gd name="adj" fmla="val 2000"/>
            </a:avLst>
          </a:prstGeom>
          <a:solidFill>
            <a:srgbClr val="F3F8FD"/>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文本框 23"/>
          <p:cNvSpPr txBox="1"/>
          <p:nvPr/>
        </p:nvSpPr>
        <p:spPr>
          <a:xfrm>
            <a:off x="6324600" y="3848100"/>
            <a:ext cx="2120900" cy="276999"/>
          </a:xfrm>
          <a:prstGeom prst="rect">
            <a:avLst/>
          </a:prstGeom>
          <a:noFill/>
        </p:spPr>
        <p:txBody>
          <a:bodyPr vert="horz" wrap="square" lIns="0" tIns="0" rIns="0" bIns="0" rtlCol="0">
            <a:noAutofit/>
          </a:bodyPr>
          <a:lstStyle/>
          <a:p>
            <a:r>
              <a:rPr lang="en-US" altLang="zh-CN" sz="1600" b="1">
                <a:solidFill>
                  <a:srgbClr val="B5121B"/>
                </a:solidFill>
                <a:latin typeface="微软雅黑" panose="020B0503020204020204" pitchFamily="34" charset="-122"/>
                <a:ea typeface="微软雅黑" panose="020B0503020204020204" pitchFamily="34" charset="-122"/>
              </a:rPr>
              <a:t>3  </a:t>
            </a:r>
            <a:r>
              <a:rPr lang="zh-CN" altLang="en-US" sz="1600" b="1">
                <a:solidFill>
                  <a:srgbClr val="B5121B"/>
                </a:solidFill>
                <a:latin typeface="微软雅黑" panose="020B0503020204020204" pitchFamily="34" charset="-122"/>
                <a:ea typeface="微软雅黑" panose="020B0503020204020204" pitchFamily="34" charset="-122"/>
              </a:rPr>
              <a:t>后处理</a:t>
            </a:r>
            <a:endParaRPr lang="zh-CN" altLang="en-US" sz="1600" b="1">
              <a:solidFill>
                <a:srgbClr val="B5121B"/>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6324600" y="4318000"/>
            <a:ext cx="2120900" cy="452120"/>
          </a:xfrm>
          <a:prstGeom prst="rect">
            <a:avLst/>
          </a:prstGeom>
          <a:noFill/>
        </p:spPr>
        <p:txBody>
          <a:bodyPr vert="horz" wrap="square" lIns="0" tIns="0" rIns="0" bIns="0" rtlCol="0">
            <a:noAutofit/>
          </a:bodyPr>
          <a:lstStyle/>
          <a:p>
            <a:r>
              <a:rPr lang="zh-CN" altLang="en-US" sz="1400">
                <a:solidFill>
                  <a:srgbClr val="586674"/>
                </a:solidFill>
                <a:latin typeface="微软雅黑" panose="020B0503020204020204" pitchFamily="34" charset="-122"/>
                <a:ea typeface="微软雅黑" panose="020B0503020204020204" pitchFamily="34" charset="-122"/>
              </a:rPr>
              <a:t>置信度阈值和 </a:t>
            </a:r>
            <a:r>
              <a:rPr lang="en-US" altLang="zh-CN" sz="1400">
                <a:solidFill>
                  <a:srgbClr val="586674"/>
                </a:solidFill>
                <a:latin typeface="微软雅黑" panose="020B0503020204020204" pitchFamily="34" charset="-122"/>
                <a:ea typeface="微软雅黑" panose="020B0503020204020204" pitchFamily="34" charset="-122"/>
              </a:rPr>
              <a:t>NMS </a:t>
            </a:r>
            <a:r>
              <a:rPr lang="zh-CN" altLang="en-US" sz="1400">
                <a:solidFill>
                  <a:srgbClr val="586674"/>
                </a:solidFill>
                <a:latin typeface="微软雅黑" panose="020B0503020204020204" pitchFamily="34" charset="-122"/>
                <a:ea typeface="微软雅黑" panose="020B0503020204020204" pitchFamily="34" charset="-122"/>
              </a:rPr>
              <a:t>去除重复框</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26" name="矩形: 圆角 25"/>
          <p:cNvSpPr/>
          <p:nvPr/>
        </p:nvSpPr>
        <p:spPr>
          <a:xfrm>
            <a:off x="3670300" y="3771900"/>
            <a:ext cx="2349500" cy="1727200"/>
          </a:xfrm>
          <a:prstGeom prst="roundRect">
            <a:avLst>
              <a:gd name="adj" fmla="val 2000"/>
            </a:avLst>
          </a:prstGeom>
          <a:solidFill>
            <a:srgbClr val="F3F8FD"/>
          </a:solidFill>
          <a:ln w="889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7" name="文本框 26"/>
          <p:cNvSpPr txBox="1"/>
          <p:nvPr/>
        </p:nvSpPr>
        <p:spPr>
          <a:xfrm>
            <a:off x="3784600" y="3848100"/>
            <a:ext cx="2120900" cy="276999"/>
          </a:xfrm>
          <a:prstGeom prst="rect">
            <a:avLst/>
          </a:prstGeom>
          <a:noFill/>
        </p:spPr>
        <p:txBody>
          <a:bodyPr vert="horz" wrap="square" lIns="0" tIns="0" rIns="0" bIns="0" rtlCol="0">
            <a:noAutofit/>
          </a:bodyPr>
          <a:lstStyle/>
          <a:p>
            <a:r>
              <a:rPr lang="en-US" altLang="zh-CN" sz="1600" b="1">
                <a:solidFill>
                  <a:srgbClr val="F28E2B"/>
                </a:solidFill>
                <a:latin typeface="微软雅黑" panose="020B0503020204020204" pitchFamily="34" charset="-122"/>
                <a:ea typeface="微软雅黑" panose="020B0503020204020204" pitchFamily="34" charset="-122"/>
              </a:rPr>
              <a:t>4  </a:t>
            </a:r>
            <a:r>
              <a:rPr lang="zh-CN" altLang="en-US" sz="1600" b="1">
                <a:solidFill>
                  <a:srgbClr val="F28E2B"/>
                </a:solidFill>
                <a:latin typeface="微软雅黑" panose="020B0503020204020204" pitchFamily="34" charset="-122"/>
                <a:ea typeface="微软雅黑" panose="020B0503020204020204" pitchFamily="34" charset="-122"/>
              </a:rPr>
              <a:t>输出含义</a:t>
            </a:r>
            <a:endParaRPr lang="zh-CN" altLang="en-US" sz="1600" b="1">
              <a:solidFill>
                <a:srgbClr val="F28E2B"/>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3784600" y="4318000"/>
            <a:ext cx="2120900" cy="452120"/>
          </a:xfrm>
          <a:prstGeom prst="rect">
            <a:avLst/>
          </a:prstGeom>
          <a:noFill/>
        </p:spPr>
        <p:txBody>
          <a:bodyPr vert="horz" wrap="square" lIns="0" tIns="0" rIns="0" bIns="0" rtlCol="0">
            <a:noAutofit/>
          </a:bodyPr>
          <a:lstStyle/>
          <a:p>
            <a:r>
              <a:rPr lang="zh-CN" altLang="en-US" sz="1400">
                <a:solidFill>
                  <a:srgbClr val="586674"/>
                </a:solidFill>
                <a:latin typeface="微软雅黑" panose="020B0503020204020204" pitchFamily="34" charset="-122"/>
                <a:ea typeface="微软雅黑" panose="020B0503020204020204" pitchFamily="34" charset="-122"/>
              </a:rPr>
              <a:t>说明目标类别和图像平面位置</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29" name="矩形 28"/>
          <p:cNvSpPr/>
          <p:nvPr/>
        </p:nvSpPr>
        <p:spPr>
          <a:xfrm>
            <a:off x="4216400" y="2298700"/>
            <a:ext cx="393700" cy="6223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0" name="矩形 29"/>
          <p:cNvSpPr/>
          <p:nvPr/>
        </p:nvSpPr>
        <p:spPr>
          <a:xfrm>
            <a:off x="4127500" y="2362200"/>
            <a:ext cx="393700" cy="6223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1" name="矩形 30"/>
          <p:cNvSpPr/>
          <p:nvPr/>
        </p:nvSpPr>
        <p:spPr>
          <a:xfrm>
            <a:off x="4038600" y="2425700"/>
            <a:ext cx="393700" cy="6223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2" name="矩形 31"/>
          <p:cNvSpPr/>
          <p:nvPr/>
        </p:nvSpPr>
        <p:spPr>
          <a:xfrm>
            <a:off x="3949700" y="2489200"/>
            <a:ext cx="393700" cy="6223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3" name="矩形 32"/>
          <p:cNvSpPr/>
          <p:nvPr/>
        </p:nvSpPr>
        <p:spPr>
          <a:xfrm>
            <a:off x="5232400" y="2540000"/>
            <a:ext cx="292100" cy="3937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4" name="矩形 33"/>
          <p:cNvSpPr/>
          <p:nvPr/>
        </p:nvSpPr>
        <p:spPr>
          <a:xfrm>
            <a:off x="5143500" y="2603500"/>
            <a:ext cx="292100" cy="3937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5" name="矩形 34"/>
          <p:cNvSpPr/>
          <p:nvPr/>
        </p:nvSpPr>
        <p:spPr>
          <a:xfrm>
            <a:off x="5054600" y="2667000"/>
            <a:ext cx="292100" cy="3937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6" name="矩形 35"/>
          <p:cNvSpPr/>
          <p:nvPr/>
        </p:nvSpPr>
        <p:spPr>
          <a:xfrm>
            <a:off x="4965700" y="2730500"/>
            <a:ext cx="292100" cy="3937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cxnSp>
        <p:nvCxnSpPr>
          <p:cNvPr id="37" name="直接连接符 36"/>
          <p:cNvCxnSpPr/>
          <p:nvPr/>
        </p:nvCxnSpPr>
        <p:spPr>
          <a:xfrm>
            <a:off x="6032500" y="2387600"/>
            <a:ext cx="1651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7378700" y="3568700"/>
            <a:ext cx="0" cy="190500"/>
          </a:xfrm>
          <a:prstGeom prst="line">
            <a:avLst/>
          </a:prstGeom>
          <a:ln w="19050">
            <a:solidFill>
              <a:srgbClr val="16857D"/>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6032500" y="4622800"/>
            <a:ext cx="165100" cy="0"/>
          </a:xfrm>
          <a:prstGeom prst="line">
            <a:avLst/>
          </a:prstGeom>
          <a:ln w="19050">
            <a:solidFill>
              <a:srgbClr val="B5121B"/>
            </a:solidFill>
            <a:tailEnd type="arrow"/>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6527800" y="2438400"/>
            <a:ext cx="1765300" cy="756920"/>
          </a:xfrm>
          <a:prstGeom prst="rect">
            <a:avLst/>
          </a:prstGeom>
          <a:noFill/>
        </p:spPr>
        <p:txBody>
          <a:bodyPr vert="horz" wrap="square" lIns="0" tIns="0" rIns="0" bIns="0" rtlCol="0">
            <a:noAutofit/>
          </a:bodyPr>
          <a:lstStyle/>
          <a:p>
            <a:pPr algn="ctr"/>
            <a:r>
              <a:rPr lang="zh-CN" altLang="en-US" sz="1600" b="1">
                <a:solidFill>
                  <a:srgbClr val="16857D"/>
                </a:solidFill>
                <a:latin typeface="微软雅黑" panose="020B0503020204020204" pitchFamily="34" charset="-122"/>
                <a:ea typeface="微软雅黑" panose="020B0503020204020204" pitchFamily="34" charset="-122"/>
              </a:rPr>
              <a:t>类别概率
置信度
</a:t>
            </a:r>
            <a:r>
              <a:rPr lang="en-US" altLang="zh-CN" sz="1600" b="1">
                <a:solidFill>
                  <a:srgbClr val="16857D"/>
                </a:solidFill>
                <a:latin typeface="微软雅黑" panose="020B0503020204020204" pitchFamily="34" charset="-122"/>
                <a:ea typeface="微软雅黑" panose="020B0503020204020204" pitchFamily="34" charset="-122"/>
              </a:rPr>
              <a:t>2D </a:t>
            </a:r>
            <a:r>
              <a:rPr lang="zh-CN" altLang="en-US" sz="1600" b="1">
                <a:solidFill>
                  <a:srgbClr val="16857D"/>
                </a:solidFill>
                <a:latin typeface="微软雅黑" panose="020B0503020204020204" pitchFamily="34" charset="-122"/>
                <a:ea typeface="微软雅黑" panose="020B0503020204020204" pitchFamily="34" charset="-122"/>
              </a:rPr>
              <a:t>框坐标</a:t>
            </a:r>
            <a:endParaRPr lang="zh-CN" altLang="en-US" sz="1600" b="1">
              <a:solidFill>
                <a:srgbClr val="16857D"/>
              </a:solidFill>
              <a:latin typeface="微软雅黑" panose="020B0503020204020204" pitchFamily="34" charset="-122"/>
              <a:ea typeface="微软雅黑" panose="020B0503020204020204" pitchFamily="34" charset="-122"/>
            </a:endParaRPr>
          </a:p>
        </p:txBody>
      </p:sp>
      <p:sp>
        <p:nvSpPr>
          <p:cNvPr id="41" name="矩形 40"/>
          <p:cNvSpPr/>
          <p:nvPr/>
        </p:nvSpPr>
        <p:spPr>
          <a:xfrm>
            <a:off x="355600" y="5829300"/>
            <a:ext cx="11480800" cy="7112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2" name="文本框 41"/>
          <p:cNvSpPr txBox="1"/>
          <p:nvPr/>
        </p:nvSpPr>
        <p:spPr>
          <a:xfrm>
            <a:off x="609600" y="5956300"/>
            <a:ext cx="10972800" cy="276999"/>
          </a:xfrm>
          <a:prstGeom prst="rect">
            <a:avLst/>
          </a:prstGeom>
          <a:noFill/>
        </p:spPr>
        <p:txBody>
          <a:bodyPr vert="horz" wrap="square" lIns="0" tIns="0" rIns="0" bIns="0" rtlCol="0" anchor="ctr">
            <a:noAutofit/>
          </a:bodyPr>
          <a:lstStyle/>
          <a:p>
            <a:pPr algn="ctr"/>
            <a:r>
              <a:rPr lang="zh-CN" altLang="en-US" sz="1600" b="1">
                <a:solidFill>
                  <a:srgbClr val="004A9F"/>
                </a:solidFill>
                <a:latin typeface="微软雅黑" panose="020B0503020204020204" pitchFamily="34" charset="-122"/>
                <a:ea typeface="微软雅黑" panose="020B0503020204020204" pitchFamily="34" charset="-122"/>
              </a:rPr>
              <a:t>二维检测能识别“是什么、在图像哪里”，但不能直接给出真实距离、三维尺寸和空间朝向。</a:t>
            </a:r>
            <a:endParaRPr lang="zh-CN" altLang="en-US" sz="1600" b="1">
              <a:solidFill>
                <a:srgbClr val="004A9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单模态三维目标检测（</a:t>
            </a:r>
            <a:r>
              <a:rPr lang="en-US" altLang="zh-CN" sz="2400" b="1">
                <a:solidFill>
                  <a:srgbClr val="18222D"/>
                </a:solidFill>
                <a:latin typeface="微软雅黑" panose="020B0503020204020204" pitchFamily="34" charset="-122"/>
                <a:ea typeface="微软雅黑" panose="020B0503020204020204" pitchFamily="34" charset="-122"/>
              </a:rPr>
              <a:t>PointPillars</a:t>
            </a:r>
            <a:r>
              <a:rPr lang="zh-CN" altLang="en-US" sz="2400" b="1">
                <a:solidFill>
                  <a:srgbClr val="18222D"/>
                </a:solidFill>
                <a:latin typeface="微软雅黑" panose="020B0503020204020204" pitchFamily="34" charset="-122"/>
                <a:ea typeface="微软雅黑" panose="020B0503020204020204" pitchFamily="34" charset="-122"/>
              </a:rPr>
              <a:t>）</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10</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68300" y="901700"/>
            <a:ext cx="11430000" cy="276999"/>
          </a:xfrm>
          <a:prstGeom prst="rect">
            <a:avLst/>
          </a:prstGeom>
          <a:noFill/>
        </p:spPr>
        <p:txBody>
          <a:bodyPr vert="horz" wrap="square" lIns="0" tIns="0" rIns="0" bIns="0" rtlCol="0">
            <a:noAutofit/>
          </a:bodyPr>
          <a:lstStyle/>
          <a:p>
            <a:r>
              <a:rPr lang="zh-CN" altLang="en-US" sz="1250">
                <a:solidFill>
                  <a:srgbClr val="586674"/>
                </a:solidFill>
                <a:latin typeface="微软雅黑" panose="020B0503020204020204" pitchFamily="34" charset="-122"/>
                <a:ea typeface="微软雅黑" panose="020B0503020204020204" pitchFamily="34" charset="-122"/>
              </a:rPr>
              <a:t>方法流程：原始 </a:t>
            </a:r>
            <a:r>
              <a:rPr lang="en-US" altLang="zh-CN" sz="1250">
                <a:solidFill>
                  <a:srgbClr val="586674"/>
                </a:solidFill>
                <a:latin typeface="微软雅黑" panose="020B0503020204020204" pitchFamily="34" charset="-122"/>
                <a:ea typeface="微软雅黑" panose="020B0503020204020204" pitchFamily="34" charset="-122"/>
              </a:rPr>
              <a:t>LiDAR </a:t>
            </a:r>
            <a:r>
              <a:rPr lang="zh-CN" altLang="en-US" sz="1250">
                <a:solidFill>
                  <a:srgbClr val="586674"/>
                </a:solidFill>
                <a:latin typeface="微软雅黑" panose="020B0503020204020204" pitchFamily="34" charset="-122"/>
                <a:ea typeface="微软雅黑" panose="020B0503020204020204" pitchFamily="34" charset="-122"/>
              </a:rPr>
              <a:t>点云 → </a:t>
            </a:r>
            <a:r>
              <a:rPr lang="en-US" altLang="zh-CN" sz="1250">
                <a:solidFill>
                  <a:srgbClr val="586674"/>
                </a:solidFill>
                <a:latin typeface="微软雅黑" panose="020B0503020204020204" pitchFamily="34" charset="-122"/>
                <a:ea typeface="微软雅黑" panose="020B0503020204020204" pitchFamily="34" charset="-122"/>
              </a:rPr>
              <a:t>Pillar </a:t>
            </a:r>
            <a:r>
              <a:rPr lang="zh-CN" altLang="en-US" sz="1250">
                <a:solidFill>
                  <a:srgbClr val="586674"/>
                </a:solidFill>
                <a:latin typeface="微软雅黑" panose="020B0503020204020204" pitchFamily="34" charset="-122"/>
                <a:ea typeface="微软雅黑" panose="020B0503020204020204" pitchFamily="34" charset="-122"/>
              </a:rPr>
              <a:t>划分 → </a:t>
            </a:r>
            <a:r>
              <a:rPr lang="en-US" altLang="zh-CN" sz="1250">
                <a:solidFill>
                  <a:srgbClr val="586674"/>
                </a:solidFill>
                <a:latin typeface="微软雅黑" panose="020B0503020204020204" pitchFamily="34" charset="-122"/>
                <a:ea typeface="微软雅黑" panose="020B0503020204020204" pitchFamily="34" charset="-122"/>
              </a:rPr>
              <a:t>Pillar </a:t>
            </a:r>
            <a:r>
              <a:rPr lang="zh-CN" altLang="en-US" sz="1250">
                <a:solidFill>
                  <a:srgbClr val="586674"/>
                </a:solidFill>
                <a:latin typeface="微软雅黑" panose="020B0503020204020204" pitchFamily="34" charset="-122"/>
                <a:ea typeface="微软雅黑" panose="020B0503020204020204" pitchFamily="34" charset="-122"/>
              </a:rPr>
              <a:t>特征编码 → </a:t>
            </a:r>
            <a:r>
              <a:rPr lang="en-US" altLang="zh-CN" sz="1250">
                <a:solidFill>
                  <a:srgbClr val="586674"/>
                </a:solidFill>
                <a:latin typeface="微软雅黑" panose="020B0503020204020204" pitchFamily="34" charset="-122"/>
                <a:ea typeface="微软雅黑" panose="020B0503020204020204" pitchFamily="34" charset="-122"/>
              </a:rPr>
              <a:t>BEV </a:t>
            </a:r>
            <a:r>
              <a:rPr lang="zh-CN" altLang="en-US" sz="1250">
                <a:solidFill>
                  <a:srgbClr val="586674"/>
                </a:solidFill>
                <a:latin typeface="微软雅黑" panose="020B0503020204020204" pitchFamily="34" charset="-122"/>
                <a:ea typeface="微软雅黑" panose="020B0503020204020204" pitchFamily="34" charset="-122"/>
              </a:rPr>
              <a:t>伪图像 </a:t>
            </a:r>
            <a:r>
              <a:rPr lang="en-US" altLang="zh-CN" sz="1250">
                <a:solidFill>
                  <a:srgbClr val="586674"/>
                </a:solidFill>
                <a:latin typeface="微软雅黑" panose="020B0503020204020204" pitchFamily="34" charset="-122"/>
                <a:ea typeface="微软雅黑" panose="020B0503020204020204" pitchFamily="34" charset="-122"/>
              </a:rPr>
              <a:t>/ BEV </a:t>
            </a:r>
            <a:r>
              <a:rPr lang="zh-CN" altLang="en-US" sz="1250">
                <a:solidFill>
                  <a:srgbClr val="586674"/>
                </a:solidFill>
                <a:latin typeface="微软雅黑" panose="020B0503020204020204" pitchFamily="34" charset="-122"/>
                <a:ea typeface="微软雅黑" panose="020B0503020204020204" pitchFamily="34" charset="-122"/>
              </a:rPr>
              <a:t>特征 → </a:t>
            </a:r>
            <a:r>
              <a:rPr lang="en-US" altLang="zh-CN" sz="1250">
                <a:solidFill>
                  <a:srgbClr val="586674"/>
                </a:solidFill>
                <a:latin typeface="微软雅黑" panose="020B0503020204020204" pitchFamily="34" charset="-122"/>
                <a:ea typeface="微软雅黑" panose="020B0503020204020204" pitchFamily="34" charset="-122"/>
              </a:rPr>
              <a:t>2D CNN Backbone → </a:t>
            </a:r>
            <a:r>
              <a:rPr lang="zh-CN" altLang="en-US" sz="1250">
                <a:solidFill>
                  <a:srgbClr val="586674"/>
                </a:solidFill>
                <a:latin typeface="微软雅黑" panose="020B0503020204020204" pitchFamily="34" charset="-122"/>
                <a:ea typeface="微软雅黑" panose="020B0503020204020204" pitchFamily="34" charset="-122"/>
              </a:rPr>
              <a:t>检测头 → 三维框</a:t>
            </a:r>
            <a:endParaRPr lang="zh-CN" altLang="en-US" sz="1250">
              <a:solidFill>
                <a:srgbClr val="586674"/>
              </a:solidFill>
              <a:latin typeface="微软雅黑" panose="020B0503020204020204" pitchFamily="34" charset="-122"/>
              <a:ea typeface="微软雅黑" panose="020B0503020204020204" pitchFamily="34" charset="-122"/>
            </a:endParaRPr>
          </a:p>
        </p:txBody>
      </p:sp>
      <p:sp>
        <p:nvSpPr>
          <p:cNvPr id="8" name="矩形 7"/>
          <p:cNvSpPr/>
          <p:nvPr/>
        </p:nvSpPr>
        <p:spPr>
          <a:xfrm>
            <a:off x="228600" y="1282700"/>
            <a:ext cx="1778000" cy="850900"/>
          </a:xfrm>
          <a:prstGeom prst="rect">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 name="文本框 8"/>
          <p:cNvSpPr txBox="1"/>
          <p:nvPr/>
        </p:nvSpPr>
        <p:spPr>
          <a:xfrm>
            <a:off x="342900" y="1371600"/>
            <a:ext cx="1600200" cy="276999"/>
          </a:xfrm>
          <a:prstGeom prst="rect">
            <a:avLst/>
          </a:prstGeom>
          <a:noFill/>
        </p:spPr>
        <p:txBody>
          <a:bodyPr vert="horz" wrap="square" lIns="0" tIns="0" rIns="0" bIns="0" rtlCol="0">
            <a:noAutofit/>
          </a:bodyPr>
          <a:lstStyle/>
          <a:p>
            <a:r>
              <a:rPr lang="en-US" altLang="zh-CN" sz="1300" b="1">
                <a:solidFill>
                  <a:srgbClr val="004A9F"/>
                </a:solidFill>
                <a:latin typeface="微软雅黑" panose="020B0503020204020204" pitchFamily="34" charset="-122"/>
                <a:ea typeface="微软雅黑" panose="020B0503020204020204" pitchFamily="34" charset="-122"/>
              </a:rPr>
              <a:t>1  </a:t>
            </a:r>
            <a:r>
              <a:rPr lang="zh-CN" altLang="en-US" sz="1300" b="1">
                <a:solidFill>
                  <a:srgbClr val="004A9F"/>
                </a:solidFill>
                <a:latin typeface="微软雅黑" panose="020B0503020204020204" pitchFamily="34" charset="-122"/>
                <a:ea typeface="微软雅黑" panose="020B0503020204020204" pitchFamily="34" charset="-122"/>
              </a:rPr>
              <a:t>范围过滤</a:t>
            </a:r>
            <a:endParaRPr lang="zh-CN" altLang="en-US" sz="1300" b="1">
              <a:solidFill>
                <a:srgbClr val="004A9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42900" y="1689100"/>
            <a:ext cx="1562100" cy="360680"/>
          </a:xfrm>
          <a:prstGeom prst="rect">
            <a:avLst/>
          </a:prstGeom>
          <a:noFill/>
        </p:spPr>
        <p:txBody>
          <a:bodyPr vert="horz" wrap="square" lIns="0" tIns="0" rIns="0" bIns="0" rtlCol="0">
            <a:noAutofit/>
          </a:bodyPr>
          <a:lstStyle/>
          <a:p>
            <a:r>
              <a:rPr lang="zh-CN" altLang="en-US" sz="1100">
                <a:solidFill>
                  <a:srgbClr val="586674"/>
                </a:solidFill>
                <a:latin typeface="微软雅黑" panose="020B0503020204020204" pitchFamily="34" charset="-122"/>
                <a:ea typeface="微软雅黑" panose="020B0503020204020204" pitchFamily="34" charset="-122"/>
              </a:rPr>
              <a:t>保留车辆前方有效点云，去除无关区域</a:t>
            </a:r>
            <a:endParaRPr lang="zh-CN" altLang="en-US" sz="1100">
              <a:solidFill>
                <a:srgbClr val="586674"/>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2032000" y="1701800"/>
            <a:ext cx="165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35200" y="1282700"/>
            <a:ext cx="1778000" cy="850900"/>
          </a:xfrm>
          <a:prstGeom prst="rect">
            <a:avLst/>
          </a:prstGeom>
          <a:solidFill>
            <a:srgbClr val="F3F8FD"/>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3" name="文本框 12"/>
          <p:cNvSpPr txBox="1"/>
          <p:nvPr/>
        </p:nvSpPr>
        <p:spPr>
          <a:xfrm>
            <a:off x="2349500" y="1371600"/>
            <a:ext cx="1600200" cy="276999"/>
          </a:xfrm>
          <a:prstGeom prst="rect">
            <a:avLst/>
          </a:prstGeom>
          <a:noFill/>
        </p:spPr>
        <p:txBody>
          <a:bodyPr vert="horz" wrap="square" lIns="0" tIns="0" rIns="0" bIns="0" rtlCol="0">
            <a:noAutofit/>
          </a:bodyPr>
          <a:lstStyle/>
          <a:p>
            <a:r>
              <a:rPr lang="en-US" altLang="zh-CN" sz="1300" b="1">
                <a:solidFill>
                  <a:srgbClr val="16857D"/>
                </a:solidFill>
                <a:latin typeface="微软雅黑" panose="020B0503020204020204" pitchFamily="34" charset="-122"/>
                <a:ea typeface="微软雅黑" panose="020B0503020204020204" pitchFamily="34" charset="-122"/>
              </a:rPr>
              <a:t>2  Pillar </a:t>
            </a:r>
            <a:r>
              <a:rPr lang="zh-CN" altLang="en-US" sz="1300" b="1">
                <a:solidFill>
                  <a:srgbClr val="16857D"/>
                </a:solidFill>
                <a:latin typeface="微软雅黑" panose="020B0503020204020204" pitchFamily="34" charset="-122"/>
                <a:ea typeface="微软雅黑" panose="020B0503020204020204" pitchFamily="34" charset="-122"/>
              </a:rPr>
              <a:t>划分</a:t>
            </a:r>
            <a:endParaRPr lang="zh-CN" altLang="en-US" sz="1300" b="1">
              <a:solidFill>
                <a:srgbClr val="16857D"/>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349500" y="1689100"/>
            <a:ext cx="1562100" cy="360680"/>
          </a:xfrm>
          <a:prstGeom prst="rect">
            <a:avLst/>
          </a:prstGeom>
          <a:noFill/>
        </p:spPr>
        <p:txBody>
          <a:bodyPr vert="horz" wrap="square" lIns="0" tIns="0" rIns="0" bIns="0" rtlCol="0">
            <a:noAutofit/>
          </a:bodyPr>
          <a:lstStyle/>
          <a:p>
            <a:r>
              <a:rPr lang="en-US" altLang="zh-CN" sz="1100">
                <a:solidFill>
                  <a:srgbClr val="586674"/>
                </a:solidFill>
                <a:latin typeface="微软雅黑" panose="020B0503020204020204" pitchFamily="34" charset="-122"/>
                <a:ea typeface="微软雅黑" panose="020B0503020204020204" pitchFamily="34" charset="-122"/>
              </a:rPr>
              <a:t>x-y </a:t>
            </a:r>
            <a:r>
              <a:rPr lang="zh-CN" altLang="en-US" sz="1100">
                <a:solidFill>
                  <a:srgbClr val="586674"/>
                </a:solidFill>
                <a:latin typeface="微软雅黑" panose="020B0503020204020204" pitchFamily="34" charset="-122"/>
                <a:ea typeface="微软雅黑" panose="020B0503020204020204" pitchFamily="34" charset="-122"/>
              </a:rPr>
              <a:t>平面网格化，形成垂直柱体单元</a:t>
            </a:r>
            <a:endParaRPr lang="zh-CN" altLang="en-US" sz="1100">
              <a:solidFill>
                <a:srgbClr val="586674"/>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4038600" y="1701800"/>
            <a:ext cx="165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241800" y="1282700"/>
            <a:ext cx="1778000" cy="850900"/>
          </a:xfrm>
          <a:prstGeom prst="rect">
            <a:avLst/>
          </a:prstGeom>
          <a:solidFill>
            <a:srgbClr val="F3F8FD"/>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7" name="文本框 16"/>
          <p:cNvSpPr txBox="1"/>
          <p:nvPr/>
        </p:nvSpPr>
        <p:spPr>
          <a:xfrm>
            <a:off x="4356100" y="1371600"/>
            <a:ext cx="1600200" cy="276999"/>
          </a:xfrm>
          <a:prstGeom prst="rect">
            <a:avLst/>
          </a:prstGeom>
          <a:noFill/>
        </p:spPr>
        <p:txBody>
          <a:bodyPr vert="horz" wrap="square" lIns="0" tIns="0" rIns="0" bIns="0" rtlCol="0">
            <a:noAutofit/>
          </a:bodyPr>
          <a:lstStyle/>
          <a:p>
            <a:r>
              <a:rPr lang="en-US" altLang="zh-CN" sz="1300" b="1">
                <a:solidFill>
                  <a:srgbClr val="16857D"/>
                </a:solidFill>
                <a:latin typeface="微软雅黑" panose="020B0503020204020204" pitchFamily="34" charset="-122"/>
                <a:ea typeface="微软雅黑" panose="020B0503020204020204" pitchFamily="34" charset="-122"/>
              </a:rPr>
              <a:t>3  Pillar </a:t>
            </a:r>
            <a:r>
              <a:rPr lang="zh-CN" altLang="en-US" sz="1300" b="1">
                <a:solidFill>
                  <a:srgbClr val="16857D"/>
                </a:solidFill>
                <a:latin typeface="微软雅黑" panose="020B0503020204020204" pitchFamily="34" charset="-122"/>
                <a:ea typeface="微软雅黑" panose="020B0503020204020204" pitchFamily="34" charset="-122"/>
              </a:rPr>
              <a:t>编码</a:t>
            </a:r>
            <a:endParaRPr lang="zh-CN" altLang="en-US" sz="1300" b="1">
              <a:solidFill>
                <a:srgbClr val="16857D"/>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4356100" y="1689100"/>
            <a:ext cx="1562100" cy="360680"/>
          </a:xfrm>
          <a:prstGeom prst="rect">
            <a:avLst/>
          </a:prstGeom>
          <a:noFill/>
        </p:spPr>
        <p:txBody>
          <a:bodyPr vert="horz" wrap="square" lIns="0" tIns="0" rIns="0" bIns="0" rtlCol="0">
            <a:noAutofit/>
          </a:bodyPr>
          <a:lstStyle/>
          <a:p>
            <a:r>
              <a:rPr lang="zh-CN" altLang="en-US" sz="1100">
                <a:solidFill>
                  <a:srgbClr val="586674"/>
                </a:solidFill>
                <a:latin typeface="微软雅黑" panose="020B0503020204020204" pitchFamily="34" charset="-122"/>
                <a:ea typeface="微软雅黑" panose="020B0503020204020204" pitchFamily="34" charset="-122"/>
              </a:rPr>
              <a:t>编码柱体内点的局部几何特征</a:t>
            </a:r>
            <a:endParaRPr lang="zh-CN" altLang="en-US" sz="1100">
              <a:solidFill>
                <a:srgbClr val="586674"/>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6045200" y="1701800"/>
            <a:ext cx="165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6248400" y="1282700"/>
            <a:ext cx="1778000" cy="850900"/>
          </a:xfrm>
          <a:prstGeom prst="rect">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1" name="文本框 20"/>
          <p:cNvSpPr txBox="1"/>
          <p:nvPr/>
        </p:nvSpPr>
        <p:spPr>
          <a:xfrm>
            <a:off x="6362700" y="1371600"/>
            <a:ext cx="1600200" cy="276999"/>
          </a:xfrm>
          <a:prstGeom prst="rect">
            <a:avLst/>
          </a:prstGeom>
          <a:noFill/>
        </p:spPr>
        <p:txBody>
          <a:bodyPr vert="horz" wrap="square" lIns="0" tIns="0" rIns="0" bIns="0" rtlCol="0">
            <a:noAutofit/>
          </a:bodyPr>
          <a:lstStyle/>
          <a:p>
            <a:r>
              <a:rPr lang="en-US" altLang="zh-CN" sz="1300" b="1">
                <a:solidFill>
                  <a:srgbClr val="004A9F"/>
                </a:solidFill>
                <a:latin typeface="微软雅黑" panose="020B0503020204020204" pitchFamily="34" charset="-122"/>
                <a:ea typeface="微软雅黑" panose="020B0503020204020204" pitchFamily="34" charset="-122"/>
              </a:rPr>
              <a:t>4  </a:t>
            </a:r>
            <a:r>
              <a:rPr lang="zh-CN" altLang="en-US" sz="1300" b="1">
                <a:solidFill>
                  <a:srgbClr val="004A9F"/>
                </a:solidFill>
                <a:latin typeface="微软雅黑" panose="020B0503020204020204" pitchFamily="34" charset="-122"/>
                <a:ea typeface="微软雅黑" panose="020B0503020204020204" pitchFamily="34" charset="-122"/>
              </a:rPr>
              <a:t>生成 </a:t>
            </a:r>
            <a:r>
              <a:rPr lang="en-US" altLang="zh-CN" sz="1300" b="1">
                <a:solidFill>
                  <a:srgbClr val="004A9F"/>
                </a:solidFill>
                <a:latin typeface="微软雅黑" panose="020B0503020204020204" pitchFamily="34" charset="-122"/>
                <a:ea typeface="微软雅黑" panose="020B0503020204020204" pitchFamily="34" charset="-122"/>
              </a:rPr>
              <a:t>BEV </a:t>
            </a:r>
            <a:r>
              <a:rPr lang="zh-CN" altLang="en-US" sz="1300" b="1">
                <a:solidFill>
                  <a:srgbClr val="004A9F"/>
                </a:solidFill>
                <a:latin typeface="微软雅黑" panose="020B0503020204020204" pitchFamily="34" charset="-122"/>
                <a:ea typeface="微软雅黑" panose="020B0503020204020204" pitchFamily="34" charset="-122"/>
              </a:rPr>
              <a:t>表示</a:t>
            </a:r>
            <a:endParaRPr lang="zh-CN" altLang="en-US" sz="1300" b="1">
              <a:solidFill>
                <a:srgbClr val="004A9F"/>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362700" y="1689100"/>
            <a:ext cx="1562100" cy="482600"/>
          </a:xfrm>
          <a:prstGeom prst="rect">
            <a:avLst/>
          </a:prstGeom>
          <a:noFill/>
        </p:spPr>
        <p:txBody>
          <a:bodyPr vert="horz" wrap="square" lIns="0" tIns="0" rIns="0" bIns="0" rtlCol="0">
            <a:noAutofit/>
          </a:bodyPr>
          <a:lstStyle/>
          <a:p>
            <a:r>
              <a:rPr lang="zh-CN" altLang="en-US" sz="1000">
                <a:solidFill>
                  <a:srgbClr val="586674"/>
                </a:solidFill>
                <a:latin typeface="微软雅黑" panose="020B0503020204020204" pitchFamily="34" charset="-122"/>
                <a:ea typeface="微软雅黑" panose="020B0503020204020204" pitchFamily="34" charset="-122"/>
              </a:rPr>
              <a:t>将 </a:t>
            </a:r>
            <a:r>
              <a:rPr lang="en-US" altLang="zh-CN" sz="1000">
                <a:solidFill>
                  <a:srgbClr val="586674"/>
                </a:solidFill>
                <a:latin typeface="微软雅黑" panose="020B0503020204020204" pitchFamily="34" charset="-122"/>
                <a:ea typeface="微软雅黑" panose="020B0503020204020204" pitchFamily="34" charset="-122"/>
              </a:rPr>
              <a:t>Pillar </a:t>
            </a:r>
            <a:r>
              <a:rPr lang="zh-CN" altLang="en-US" sz="1000">
                <a:solidFill>
                  <a:srgbClr val="586674"/>
                </a:solidFill>
                <a:latin typeface="微软雅黑" panose="020B0503020204020204" pitchFamily="34" charset="-122"/>
                <a:ea typeface="微软雅黑" panose="020B0503020204020204" pitchFamily="34" charset="-122"/>
              </a:rPr>
              <a:t>特征按网格位置散射成 </a:t>
            </a:r>
            <a:r>
              <a:rPr lang="en-US" altLang="zh-CN" sz="1000">
                <a:solidFill>
                  <a:srgbClr val="586674"/>
                </a:solidFill>
                <a:latin typeface="微软雅黑" panose="020B0503020204020204" pitchFamily="34" charset="-122"/>
                <a:ea typeface="微软雅黑" panose="020B0503020204020204" pitchFamily="34" charset="-122"/>
              </a:rPr>
              <a:t>BEV </a:t>
            </a:r>
            <a:r>
              <a:rPr lang="zh-CN" altLang="en-US" sz="1000">
                <a:solidFill>
                  <a:srgbClr val="586674"/>
                </a:solidFill>
                <a:latin typeface="微软雅黑" panose="020B0503020204020204" pitchFamily="34" charset="-122"/>
                <a:ea typeface="微软雅黑" panose="020B0503020204020204" pitchFamily="34" charset="-122"/>
              </a:rPr>
              <a:t>伪图像</a:t>
            </a:r>
            <a:r>
              <a:rPr lang="en-US" altLang="zh-CN" sz="1000">
                <a:solidFill>
                  <a:srgbClr val="586674"/>
                </a:solidFill>
                <a:latin typeface="微软雅黑" panose="020B0503020204020204" pitchFamily="34" charset="-122"/>
                <a:ea typeface="微软雅黑" panose="020B0503020204020204" pitchFamily="34" charset="-122"/>
              </a:rPr>
              <a:t>/</a:t>
            </a:r>
            <a:r>
              <a:rPr lang="zh-CN" altLang="en-US" sz="1000">
                <a:solidFill>
                  <a:srgbClr val="586674"/>
                </a:solidFill>
                <a:latin typeface="微软雅黑" panose="020B0503020204020204" pitchFamily="34" charset="-122"/>
                <a:ea typeface="微软雅黑" panose="020B0503020204020204" pitchFamily="34" charset="-122"/>
              </a:rPr>
              <a:t>特征图</a:t>
            </a:r>
            <a:endParaRPr lang="zh-CN" altLang="en-US" sz="1000">
              <a:solidFill>
                <a:srgbClr val="586674"/>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051800" y="1701800"/>
            <a:ext cx="165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255000" y="1282700"/>
            <a:ext cx="1778000" cy="850900"/>
          </a:xfrm>
          <a:prstGeom prst="rect">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5" name="文本框 24"/>
          <p:cNvSpPr txBox="1"/>
          <p:nvPr/>
        </p:nvSpPr>
        <p:spPr>
          <a:xfrm>
            <a:off x="8369300" y="1371600"/>
            <a:ext cx="1600200" cy="276999"/>
          </a:xfrm>
          <a:prstGeom prst="rect">
            <a:avLst/>
          </a:prstGeom>
          <a:noFill/>
        </p:spPr>
        <p:txBody>
          <a:bodyPr vert="horz" wrap="square" lIns="0" tIns="0" rIns="0" bIns="0" rtlCol="0">
            <a:noAutofit/>
          </a:bodyPr>
          <a:lstStyle/>
          <a:p>
            <a:r>
              <a:rPr lang="en-US" altLang="zh-CN" sz="1300" b="1">
                <a:solidFill>
                  <a:srgbClr val="004A9F"/>
                </a:solidFill>
                <a:latin typeface="微软雅黑" panose="020B0503020204020204" pitchFamily="34" charset="-122"/>
                <a:ea typeface="微软雅黑" panose="020B0503020204020204" pitchFamily="34" charset="-122"/>
              </a:rPr>
              <a:t>5  BEV Backbone</a:t>
            </a:r>
            <a:endParaRPr lang="zh-CN" altLang="en-US" sz="1300" b="1">
              <a:solidFill>
                <a:srgbClr val="004A9F"/>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8369300" y="1689100"/>
            <a:ext cx="1562100" cy="360680"/>
          </a:xfrm>
          <a:prstGeom prst="rect">
            <a:avLst/>
          </a:prstGeom>
          <a:noFill/>
        </p:spPr>
        <p:txBody>
          <a:bodyPr vert="horz" wrap="square" lIns="0" tIns="0" rIns="0" bIns="0" rtlCol="0">
            <a:noAutofit/>
          </a:bodyPr>
          <a:lstStyle/>
          <a:p>
            <a:r>
              <a:rPr lang="en-US" altLang="zh-CN" sz="1100">
                <a:solidFill>
                  <a:srgbClr val="586674"/>
                </a:solidFill>
                <a:latin typeface="微软雅黑" panose="020B0503020204020204" pitchFamily="34" charset="-122"/>
                <a:ea typeface="微软雅黑" panose="020B0503020204020204" pitchFamily="34" charset="-122"/>
              </a:rPr>
              <a:t>2D CNN </a:t>
            </a:r>
            <a:r>
              <a:rPr lang="zh-CN" altLang="en-US" sz="1100">
                <a:solidFill>
                  <a:srgbClr val="586674"/>
                </a:solidFill>
                <a:latin typeface="微软雅黑" panose="020B0503020204020204" pitchFamily="34" charset="-122"/>
                <a:ea typeface="微软雅黑" panose="020B0503020204020204" pitchFamily="34" charset="-122"/>
              </a:rPr>
              <a:t>在鸟瞰图特征上聚合上下文</a:t>
            </a:r>
            <a:endParaRPr lang="zh-CN" altLang="en-US" sz="1100">
              <a:solidFill>
                <a:srgbClr val="586674"/>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10058400" y="1701800"/>
            <a:ext cx="165100" cy="0"/>
          </a:xfrm>
          <a:prstGeom prst="line">
            <a:avLst/>
          </a:prstGeom>
          <a:ln w="19050">
            <a:solidFill>
              <a:srgbClr val="586674"/>
            </a:solidFill>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0261600" y="1282700"/>
            <a:ext cx="1778000" cy="850900"/>
          </a:xfrm>
          <a:prstGeom prst="rect">
            <a:avLst/>
          </a:prstGeom>
          <a:solidFill>
            <a:srgbClr val="F3F8FD"/>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9" name="文本框 28"/>
          <p:cNvSpPr txBox="1"/>
          <p:nvPr/>
        </p:nvSpPr>
        <p:spPr>
          <a:xfrm>
            <a:off x="10375900" y="1371600"/>
            <a:ext cx="1600200" cy="276999"/>
          </a:xfrm>
          <a:prstGeom prst="rect">
            <a:avLst/>
          </a:prstGeom>
          <a:noFill/>
        </p:spPr>
        <p:txBody>
          <a:bodyPr vert="horz" wrap="square" lIns="0" tIns="0" rIns="0" bIns="0" rtlCol="0">
            <a:noAutofit/>
          </a:bodyPr>
          <a:lstStyle/>
          <a:p>
            <a:r>
              <a:rPr lang="en-US" altLang="zh-CN" sz="1300" b="1">
                <a:solidFill>
                  <a:srgbClr val="B5121B"/>
                </a:solidFill>
                <a:latin typeface="微软雅黑" panose="020B0503020204020204" pitchFamily="34" charset="-122"/>
                <a:ea typeface="微软雅黑" panose="020B0503020204020204" pitchFamily="34" charset="-122"/>
              </a:rPr>
              <a:t>6  </a:t>
            </a:r>
            <a:r>
              <a:rPr lang="zh-CN" altLang="en-US" sz="1300" b="1">
                <a:solidFill>
                  <a:srgbClr val="B5121B"/>
                </a:solidFill>
                <a:latin typeface="微软雅黑" panose="020B0503020204020204" pitchFamily="34" charset="-122"/>
                <a:ea typeface="微软雅黑" panose="020B0503020204020204" pitchFamily="34" charset="-122"/>
              </a:rPr>
              <a:t>检测头</a:t>
            </a:r>
            <a:endParaRPr lang="zh-CN" altLang="en-US" sz="1300" b="1">
              <a:solidFill>
                <a:srgbClr val="B5121B"/>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10375900" y="1689100"/>
            <a:ext cx="1562100" cy="360680"/>
          </a:xfrm>
          <a:prstGeom prst="rect">
            <a:avLst/>
          </a:prstGeom>
          <a:noFill/>
        </p:spPr>
        <p:txBody>
          <a:bodyPr vert="horz" wrap="square" lIns="0" tIns="0" rIns="0" bIns="0" rtlCol="0">
            <a:noAutofit/>
          </a:bodyPr>
          <a:lstStyle/>
          <a:p>
            <a:r>
              <a:rPr lang="zh-CN" altLang="en-US" sz="1100">
                <a:solidFill>
                  <a:srgbClr val="586674"/>
                </a:solidFill>
                <a:latin typeface="微软雅黑" panose="020B0503020204020204" pitchFamily="34" charset="-122"/>
                <a:ea typeface="微软雅黑" panose="020B0503020204020204" pitchFamily="34" charset="-122"/>
              </a:rPr>
              <a:t>预测类别、置信度、三维位置、尺寸和朝向</a:t>
            </a:r>
            <a:endParaRPr lang="zh-CN" altLang="en-US" sz="1100">
              <a:solidFill>
                <a:srgbClr val="586674"/>
              </a:solidFill>
              <a:latin typeface="微软雅黑" panose="020B0503020204020204" pitchFamily="34" charset="-122"/>
              <a:ea typeface="微软雅黑" panose="020B0503020204020204" pitchFamily="34" charset="-122"/>
            </a:endParaRPr>
          </a:p>
        </p:txBody>
      </p:sp>
      <p:sp>
        <p:nvSpPr>
          <p:cNvPr id="31" name="矩形: 圆角 30"/>
          <p:cNvSpPr/>
          <p:nvPr/>
        </p:nvSpPr>
        <p:spPr>
          <a:xfrm>
            <a:off x="228600" y="2298700"/>
            <a:ext cx="3708400" cy="3467100"/>
          </a:xfrm>
          <a:prstGeom prst="roundRect">
            <a:avLst>
              <a:gd name="adj" fmla="val 2000"/>
            </a:avLst>
          </a:prstGeom>
          <a:solidFill>
            <a:srgbClr val="FFFFFF"/>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2" name="矩形 31"/>
          <p:cNvSpPr/>
          <p:nvPr/>
        </p:nvSpPr>
        <p:spPr>
          <a:xfrm>
            <a:off x="228600" y="2298700"/>
            <a:ext cx="3708400" cy="3429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3" name="文本框 32"/>
          <p:cNvSpPr txBox="1"/>
          <p:nvPr/>
        </p:nvSpPr>
        <p:spPr>
          <a:xfrm>
            <a:off x="381000" y="2336800"/>
            <a:ext cx="34544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原始输入：</a:t>
            </a:r>
            <a:r>
              <a:rPr lang="en-US" altLang="zh-CN" sz="1400" b="1">
                <a:solidFill>
                  <a:srgbClr val="FFFFFF"/>
                </a:solidFill>
                <a:latin typeface="微软雅黑" panose="020B0503020204020204" pitchFamily="34" charset="-122"/>
                <a:ea typeface="微软雅黑" panose="020B0503020204020204" pitchFamily="34" charset="-122"/>
              </a:rPr>
              <a:t>LiDAR </a:t>
            </a:r>
            <a:r>
              <a:rPr lang="zh-CN" altLang="en-US" sz="1400" b="1">
                <a:solidFill>
                  <a:srgbClr val="FFFFFF"/>
                </a:solidFill>
                <a:latin typeface="微软雅黑" panose="020B0503020204020204" pitchFamily="34" charset="-122"/>
                <a:ea typeface="微软雅黑" panose="020B0503020204020204" pitchFamily="34" charset="-122"/>
              </a:rPr>
              <a:t>点云 </a:t>
            </a:r>
            <a:r>
              <a:rPr lang="en-US" altLang="zh-CN" sz="1400" b="1">
                <a:solidFill>
                  <a:srgbClr val="FFFFFF"/>
                </a:solidFill>
                <a:latin typeface="微软雅黑" panose="020B0503020204020204" pitchFamily="34" charset="-122"/>
                <a:ea typeface="微软雅黑" panose="020B0503020204020204" pitchFamily="34" charset="-122"/>
              </a:rPr>
              <a:t>.bin</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35" name="图片 34"/>
          <p:cNvPicPr/>
          <p:nvPr/>
        </p:nvPicPr>
        <p:blipFill>
          <a:blip r:embed="rId1" cstate="print">
            <a:extLst>
              <a:ext uri="{28A0092B-C50C-407E-A947-70E740481C1C}">
                <a14:useLocalDpi xmlns:a14="http://schemas.microsoft.com/office/drawing/2010/main" val="0"/>
              </a:ext>
            </a:extLst>
          </a:blip>
          <a:stretch>
            <a:fillRect/>
          </a:stretch>
        </p:blipFill>
        <p:spPr>
          <a:xfrm>
            <a:off x="317500" y="2995083"/>
            <a:ext cx="3530600" cy="2353733"/>
          </a:xfrm>
          <a:prstGeom prst="rect">
            <a:avLst/>
          </a:prstGeom>
        </p:spPr>
      </p:pic>
      <p:sp>
        <p:nvSpPr>
          <p:cNvPr id="36" name="矩形: 圆角 35"/>
          <p:cNvSpPr/>
          <p:nvPr/>
        </p:nvSpPr>
        <p:spPr>
          <a:xfrm>
            <a:off x="4241800" y="2298700"/>
            <a:ext cx="3708400" cy="3467100"/>
          </a:xfrm>
          <a:prstGeom prst="roundRect">
            <a:avLst>
              <a:gd name="adj" fmla="val 2000"/>
            </a:avLst>
          </a:prstGeom>
          <a:solidFill>
            <a:srgbClr val="FFFFFF"/>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7" name="矩形 36"/>
          <p:cNvSpPr/>
          <p:nvPr/>
        </p:nvSpPr>
        <p:spPr>
          <a:xfrm>
            <a:off x="4241800" y="2298700"/>
            <a:ext cx="3708400" cy="342900"/>
          </a:xfrm>
          <a:prstGeom prst="rect">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8" name="文本框 37"/>
          <p:cNvSpPr txBox="1"/>
          <p:nvPr/>
        </p:nvSpPr>
        <p:spPr>
          <a:xfrm>
            <a:off x="4394200" y="2336800"/>
            <a:ext cx="3454400" cy="276999"/>
          </a:xfrm>
          <a:prstGeom prst="rect">
            <a:avLst/>
          </a:prstGeom>
          <a:noFill/>
        </p:spPr>
        <p:txBody>
          <a:bodyPr vert="horz" wrap="square" lIns="0" tIns="0" rIns="0" bIns="0" rtlCol="0">
            <a:noAutofit/>
          </a:bodyPr>
          <a:lstStyle/>
          <a:p>
            <a:r>
              <a:rPr lang="en-US" altLang="zh-CN" sz="1400" b="1">
                <a:solidFill>
                  <a:srgbClr val="FFFFFF"/>
                </a:solidFill>
                <a:latin typeface="微软雅黑" panose="020B0503020204020204" pitchFamily="34" charset="-122"/>
                <a:ea typeface="微软雅黑" panose="020B0503020204020204" pitchFamily="34" charset="-122"/>
              </a:rPr>
              <a:t>BEV </a:t>
            </a:r>
            <a:r>
              <a:rPr lang="zh-CN" altLang="en-US" sz="1400" b="1">
                <a:solidFill>
                  <a:srgbClr val="FFFFFF"/>
                </a:solidFill>
                <a:latin typeface="微软雅黑" panose="020B0503020204020204" pitchFamily="34" charset="-122"/>
                <a:ea typeface="微软雅黑" panose="020B0503020204020204" pitchFamily="34" charset="-122"/>
              </a:rPr>
              <a:t>伪图像 </a:t>
            </a:r>
            <a:r>
              <a:rPr lang="en-US" altLang="zh-CN" sz="1400" b="1">
                <a:solidFill>
                  <a:srgbClr val="FFFFFF"/>
                </a:solidFill>
                <a:latin typeface="微软雅黑" panose="020B0503020204020204" pitchFamily="34" charset="-122"/>
                <a:ea typeface="微软雅黑" panose="020B0503020204020204" pitchFamily="34" charset="-122"/>
              </a:rPr>
              <a:t>/ </a:t>
            </a:r>
            <a:r>
              <a:rPr lang="zh-CN" altLang="en-US" sz="1400" b="1">
                <a:solidFill>
                  <a:srgbClr val="FFFFFF"/>
                </a:solidFill>
                <a:latin typeface="微软雅黑" panose="020B0503020204020204" pitchFamily="34" charset="-122"/>
                <a:ea typeface="微软雅黑" panose="020B0503020204020204" pitchFamily="34" charset="-122"/>
              </a:rPr>
              <a:t>点云 </a:t>
            </a:r>
            <a:r>
              <a:rPr lang="en-US" altLang="zh-CN" sz="1400" b="1">
                <a:solidFill>
                  <a:srgbClr val="FFFFFF"/>
                </a:solidFill>
                <a:latin typeface="微软雅黑" panose="020B0503020204020204" pitchFamily="34" charset="-122"/>
                <a:ea typeface="微软雅黑" panose="020B0503020204020204" pitchFamily="34" charset="-122"/>
              </a:rPr>
              <a:t>BEV </a:t>
            </a:r>
            <a:r>
              <a:rPr lang="zh-CN" altLang="en-US" sz="1400" b="1">
                <a:solidFill>
                  <a:srgbClr val="FFFFFF"/>
                </a:solidFill>
                <a:latin typeface="微软雅黑" panose="020B0503020204020204" pitchFamily="34" charset="-122"/>
                <a:ea typeface="微软雅黑" panose="020B0503020204020204" pitchFamily="34" charset="-122"/>
              </a:rPr>
              <a:t>可视化</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40" name="图片 39"/>
          <p:cNvPicPr/>
          <p:nvPr/>
        </p:nvPicPr>
        <p:blipFill>
          <a:blip r:embed="rId2" cstate="print">
            <a:extLst>
              <a:ext uri="{28A0092B-C50C-407E-A947-70E740481C1C}">
                <a14:useLocalDpi xmlns:a14="http://schemas.microsoft.com/office/drawing/2010/main" val="0"/>
              </a:ext>
            </a:extLst>
          </a:blip>
          <a:stretch>
            <a:fillRect/>
          </a:stretch>
        </p:blipFill>
        <p:spPr>
          <a:xfrm>
            <a:off x="4603750" y="2679700"/>
            <a:ext cx="2984500" cy="2984500"/>
          </a:xfrm>
          <a:prstGeom prst="rect">
            <a:avLst/>
          </a:prstGeom>
        </p:spPr>
      </p:pic>
      <p:sp>
        <p:nvSpPr>
          <p:cNvPr id="41" name="矩形: 圆角 40"/>
          <p:cNvSpPr/>
          <p:nvPr/>
        </p:nvSpPr>
        <p:spPr>
          <a:xfrm>
            <a:off x="8255000" y="2298700"/>
            <a:ext cx="3708400" cy="3467100"/>
          </a:xfrm>
          <a:prstGeom prst="roundRect">
            <a:avLst>
              <a:gd name="adj" fmla="val 2000"/>
            </a:avLst>
          </a:prstGeom>
          <a:solidFill>
            <a:srgbClr val="FFFFFF"/>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2" name="矩形 41"/>
          <p:cNvSpPr/>
          <p:nvPr/>
        </p:nvSpPr>
        <p:spPr>
          <a:xfrm>
            <a:off x="8255000" y="2298700"/>
            <a:ext cx="3708400" cy="342900"/>
          </a:xfrm>
          <a:prstGeom prst="rect">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3" name="文本框 42"/>
          <p:cNvSpPr txBox="1"/>
          <p:nvPr/>
        </p:nvSpPr>
        <p:spPr>
          <a:xfrm>
            <a:off x="8407400" y="2336800"/>
            <a:ext cx="34544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输出结果：三维框 </a:t>
            </a:r>
            <a:r>
              <a:rPr lang="en-US" altLang="zh-CN" sz="1400" b="1">
                <a:solidFill>
                  <a:srgbClr val="FFFFFF"/>
                </a:solidFill>
                <a:latin typeface="微软雅黑" panose="020B0503020204020204" pitchFamily="34" charset="-122"/>
                <a:ea typeface="微软雅黑" panose="020B0503020204020204" pitchFamily="34" charset="-122"/>
              </a:rPr>
              <a:t>BEV </a:t>
            </a:r>
            <a:r>
              <a:rPr lang="zh-CN" altLang="en-US" sz="1400" b="1">
                <a:solidFill>
                  <a:srgbClr val="FFFFFF"/>
                </a:solidFill>
                <a:latin typeface="微软雅黑" panose="020B0503020204020204" pitchFamily="34" charset="-122"/>
                <a:ea typeface="微软雅黑" panose="020B0503020204020204" pitchFamily="34" charset="-122"/>
              </a:rPr>
              <a:t>可视化</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45" name="图片 44"/>
          <p:cNvPicPr/>
          <p:nvPr/>
        </p:nvPicPr>
        <p:blipFill>
          <a:blip r:embed="rId3" cstate="print">
            <a:extLst>
              <a:ext uri="{28A0092B-C50C-407E-A947-70E740481C1C}">
                <a14:useLocalDpi xmlns:a14="http://schemas.microsoft.com/office/drawing/2010/main" val="0"/>
              </a:ext>
            </a:extLst>
          </a:blip>
          <a:stretch>
            <a:fillRect/>
          </a:stretch>
        </p:blipFill>
        <p:spPr>
          <a:xfrm>
            <a:off x="8616950" y="2679700"/>
            <a:ext cx="2984500" cy="2984500"/>
          </a:xfrm>
          <a:prstGeom prst="rect">
            <a:avLst/>
          </a:prstGeom>
        </p:spPr>
      </p:pic>
      <p:sp>
        <p:nvSpPr>
          <p:cNvPr id="46" name="矩形 45"/>
          <p:cNvSpPr/>
          <p:nvPr/>
        </p:nvSpPr>
        <p:spPr>
          <a:xfrm>
            <a:off x="266700" y="6032500"/>
            <a:ext cx="11658600" cy="546100"/>
          </a:xfrm>
          <a:prstGeom prst="rect">
            <a:avLst/>
          </a:prstGeom>
          <a:solidFill>
            <a:srgbClr val="FEF4F5"/>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7" name="文本框 46"/>
          <p:cNvSpPr txBox="1"/>
          <p:nvPr/>
        </p:nvSpPr>
        <p:spPr>
          <a:xfrm>
            <a:off x="495300" y="6184900"/>
            <a:ext cx="1828800" cy="276999"/>
          </a:xfrm>
          <a:prstGeom prst="rect">
            <a:avLst/>
          </a:prstGeom>
          <a:noFill/>
        </p:spPr>
        <p:txBody>
          <a:bodyPr vert="horz" wrap="square" lIns="0" tIns="0" rIns="0" bIns="0" rtlCol="0">
            <a:noAutofit/>
          </a:bodyPr>
          <a:lstStyle/>
          <a:p>
            <a:r>
              <a:rPr lang="zh-CN" altLang="en-US" sz="1600" b="1">
                <a:solidFill>
                  <a:srgbClr val="B5121B"/>
                </a:solidFill>
                <a:latin typeface="微软雅黑" panose="020B0503020204020204" pitchFamily="34" charset="-122"/>
                <a:ea typeface="微软雅黑" panose="020B0503020204020204" pitchFamily="34" charset="-122"/>
              </a:rPr>
              <a:t>单模态局限性</a:t>
            </a:r>
            <a:endParaRPr lang="zh-CN" altLang="en-US" sz="1600" b="1">
              <a:solidFill>
                <a:srgbClr val="B5121B"/>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2425700" y="6159500"/>
            <a:ext cx="9207500" cy="276999"/>
          </a:xfrm>
          <a:prstGeom prst="rect">
            <a:avLst/>
          </a:prstGeom>
          <a:noFill/>
        </p:spPr>
        <p:txBody>
          <a:bodyPr vert="horz" wrap="square" lIns="0" tIns="0" rIns="0" bIns="0" rtlCol="0">
            <a:noAutofit/>
          </a:bodyPr>
          <a:lstStyle/>
          <a:p>
            <a:r>
              <a:rPr lang="zh-CN" altLang="en-US" sz="1200">
                <a:solidFill>
                  <a:srgbClr val="586674"/>
                </a:solidFill>
                <a:latin typeface="微软雅黑" panose="020B0503020204020204" pitchFamily="34" charset="-122"/>
                <a:ea typeface="微软雅黑" panose="020B0503020204020204" pitchFamily="34" charset="-122"/>
              </a:rPr>
              <a:t>仅依赖点云几何信息，缺少图像纹理和语义补充；远距离点稀疏、遮挡或扰动时，三维框位置和朝向更容易不稳定。</a:t>
            </a:r>
            <a:endParaRPr lang="zh-CN" altLang="en-US" sz="1200">
              <a:solidFill>
                <a:srgbClr val="58667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图像</a:t>
            </a:r>
            <a:r>
              <a:rPr lang="en-US" altLang="zh-CN" sz="2400" b="1">
                <a:solidFill>
                  <a:srgbClr val="18222D"/>
                </a:solidFill>
                <a:latin typeface="微软雅黑" panose="020B0503020204020204" pitchFamily="34" charset="-122"/>
                <a:ea typeface="微软雅黑" panose="020B0503020204020204" pitchFamily="34" charset="-122"/>
              </a:rPr>
              <a:t>-</a:t>
            </a:r>
            <a:r>
              <a:rPr lang="zh-CN" altLang="en-US" sz="2400" b="1">
                <a:solidFill>
                  <a:srgbClr val="18222D"/>
                </a:solidFill>
                <a:latin typeface="微软雅黑" panose="020B0503020204020204" pitchFamily="34" charset="-122"/>
                <a:ea typeface="微软雅黑" panose="020B0503020204020204" pitchFamily="34" charset="-122"/>
              </a:rPr>
              <a:t>激光雷达多模态三维检测（</a:t>
            </a:r>
            <a:r>
              <a:rPr lang="en-US" altLang="zh-CN" sz="2400" b="1">
                <a:solidFill>
                  <a:srgbClr val="18222D"/>
                </a:solidFill>
                <a:latin typeface="微软雅黑" panose="020B0503020204020204" pitchFamily="34" charset="-122"/>
                <a:ea typeface="微软雅黑" panose="020B0503020204020204" pitchFamily="34" charset="-122"/>
              </a:rPr>
              <a:t>MVX-Net</a:t>
            </a:r>
            <a:r>
              <a:rPr lang="zh-CN" altLang="en-US" sz="2400" b="1">
                <a:solidFill>
                  <a:srgbClr val="18222D"/>
                </a:solidFill>
                <a:latin typeface="微软雅黑" panose="020B0503020204020204" pitchFamily="34" charset="-122"/>
                <a:ea typeface="微软雅黑" panose="020B0503020204020204" pitchFamily="34" charset="-122"/>
              </a:rPr>
              <a:t>）</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11</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68300" y="914400"/>
            <a:ext cx="11493500" cy="276999"/>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方法流程：相机图像 </a:t>
            </a:r>
            <a:r>
              <a:rPr lang="en-US" altLang="zh-CN" sz="1300">
                <a:solidFill>
                  <a:srgbClr val="586674"/>
                </a:solidFill>
                <a:latin typeface="微软雅黑" panose="020B0503020204020204" pitchFamily="34" charset="-122"/>
                <a:ea typeface="微软雅黑" panose="020B0503020204020204" pitchFamily="34" charset="-122"/>
              </a:rPr>
              <a:t>+ LiDAR </a:t>
            </a:r>
            <a:r>
              <a:rPr lang="zh-CN" altLang="en-US" sz="1300">
                <a:solidFill>
                  <a:srgbClr val="586674"/>
                </a:solidFill>
                <a:latin typeface="微软雅黑" panose="020B0503020204020204" pitchFamily="34" charset="-122"/>
                <a:ea typeface="微软雅黑" panose="020B0503020204020204" pitchFamily="34" charset="-122"/>
              </a:rPr>
              <a:t>点云 → 图像分支 </a:t>
            </a:r>
            <a:r>
              <a:rPr lang="en-US" altLang="zh-CN" sz="1300">
                <a:solidFill>
                  <a:srgbClr val="586674"/>
                </a:solidFill>
                <a:latin typeface="微软雅黑" panose="020B0503020204020204" pitchFamily="34" charset="-122"/>
                <a:ea typeface="微软雅黑" panose="020B0503020204020204" pitchFamily="34" charset="-122"/>
              </a:rPr>
              <a:t>/ </a:t>
            </a:r>
            <a:r>
              <a:rPr lang="zh-CN" altLang="en-US" sz="1300">
                <a:solidFill>
                  <a:srgbClr val="586674"/>
                </a:solidFill>
                <a:latin typeface="微软雅黑" panose="020B0503020204020204" pitchFamily="34" charset="-122"/>
                <a:ea typeface="微软雅黑" panose="020B0503020204020204" pitchFamily="34" charset="-122"/>
              </a:rPr>
              <a:t>点云分支 → 跨模态投影融合（</a:t>
            </a:r>
            <a:r>
              <a:rPr lang="en-US" altLang="zh-CN" sz="1300">
                <a:solidFill>
                  <a:srgbClr val="586674"/>
                </a:solidFill>
                <a:latin typeface="微软雅黑" panose="020B0503020204020204" pitchFamily="34" charset="-122"/>
                <a:ea typeface="微软雅黑" panose="020B0503020204020204" pitchFamily="34" charset="-122"/>
              </a:rPr>
              <a:t>MVX-Net</a:t>
            </a:r>
            <a:r>
              <a:rPr lang="zh-CN" altLang="en-US" sz="1300">
                <a:solidFill>
                  <a:srgbClr val="586674"/>
                </a:solidFill>
                <a:latin typeface="微软雅黑" panose="020B0503020204020204" pitchFamily="34" charset="-122"/>
                <a:ea typeface="微软雅黑" panose="020B0503020204020204" pitchFamily="34" charset="-122"/>
              </a:rPr>
              <a:t>） → 三维检测结果</a:t>
            </a:r>
            <a:endParaRPr lang="zh-CN" altLang="en-US" sz="1300">
              <a:solidFill>
                <a:srgbClr val="586674"/>
              </a:solidFill>
              <a:latin typeface="微软雅黑" panose="020B0503020204020204" pitchFamily="34" charset="-122"/>
              <a:ea typeface="微软雅黑" panose="020B0503020204020204" pitchFamily="34" charset="-122"/>
            </a:endParaRPr>
          </a:p>
        </p:txBody>
      </p:sp>
      <p:sp>
        <p:nvSpPr>
          <p:cNvPr id="8" name="矩形: 圆角 7"/>
          <p:cNvSpPr/>
          <p:nvPr/>
        </p:nvSpPr>
        <p:spPr>
          <a:xfrm>
            <a:off x="342900" y="1333500"/>
            <a:ext cx="3810000" cy="1676400"/>
          </a:xfrm>
          <a:prstGeom prst="roundRect">
            <a:avLst>
              <a:gd name="adj" fmla="val 2000"/>
            </a:avLst>
          </a:prstGeom>
          <a:solidFill>
            <a:srgbClr val="FFFFFF"/>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9" name="矩形 8"/>
          <p:cNvSpPr/>
          <p:nvPr/>
        </p:nvSpPr>
        <p:spPr>
          <a:xfrm>
            <a:off x="342900" y="1333500"/>
            <a:ext cx="3810000" cy="3429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0" name="文本框 9"/>
          <p:cNvSpPr txBox="1"/>
          <p:nvPr/>
        </p:nvSpPr>
        <p:spPr>
          <a:xfrm>
            <a:off x="495300" y="1371600"/>
            <a:ext cx="35560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输入</a:t>
            </a:r>
            <a:r>
              <a:rPr lang="en-US" altLang="zh-CN" sz="1400" b="1">
                <a:solidFill>
                  <a:srgbClr val="FFFFFF"/>
                </a:solidFill>
                <a:latin typeface="微软雅黑" panose="020B0503020204020204" pitchFamily="34" charset="-122"/>
                <a:ea typeface="微软雅黑" panose="020B0503020204020204" pitchFamily="34" charset="-122"/>
              </a:rPr>
              <a:t>1</a:t>
            </a:r>
            <a:r>
              <a:rPr lang="zh-CN" altLang="en-US" sz="1400" b="1">
                <a:solidFill>
                  <a:srgbClr val="FFFFFF"/>
                </a:solidFill>
                <a:latin typeface="微软雅黑" panose="020B0503020204020204" pitchFamily="34" charset="-122"/>
                <a:ea typeface="微软雅黑" panose="020B0503020204020204" pitchFamily="34" charset="-122"/>
              </a:rPr>
              <a:t>：相机图像</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a:xfrm>
            <a:off x="444500" y="1766895"/>
            <a:ext cx="3606800" cy="1089010"/>
          </a:xfrm>
          <a:prstGeom prst="rect">
            <a:avLst/>
          </a:prstGeom>
        </p:spPr>
      </p:pic>
      <p:sp>
        <p:nvSpPr>
          <p:cNvPr id="13" name="矩形: 圆角 12"/>
          <p:cNvSpPr/>
          <p:nvPr/>
        </p:nvSpPr>
        <p:spPr>
          <a:xfrm>
            <a:off x="342900" y="3251200"/>
            <a:ext cx="3810000" cy="2781300"/>
          </a:xfrm>
          <a:prstGeom prst="roundRect">
            <a:avLst>
              <a:gd name="adj" fmla="val 2000"/>
            </a:avLst>
          </a:prstGeom>
          <a:solidFill>
            <a:srgbClr val="FFFFFF"/>
          </a:solidFill>
          <a:ln w="8890">
            <a:solidFill>
              <a:srgbClr val="2095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4" name="矩形 13"/>
          <p:cNvSpPr/>
          <p:nvPr/>
        </p:nvSpPr>
        <p:spPr>
          <a:xfrm>
            <a:off x="342900" y="3251200"/>
            <a:ext cx="3810000" cy="342900"/>
          </a:xfrm>
          <a:prstGeom prst="rect">
            <a:avLst/>
          </a:prstGeom>
          <a:solidFill>
            <a:srgbClr val="209557"/>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5" name="文本框 14"/>
          <p:cNvSpPr txBox="1"/>
          <p:nvPr/>
        </p:nvSpPr>
        <p:spPr>
          <a:xfrm>
            <a:off x="495300" y="3289300"/>
            <a:ext cx="35560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输入</a:t>
            </a:r>
            <a:r>
              <a:rPr lang="en-US" altLang="zh-CN" sz="1400" b="1">
                <a:solidFill>
                  <a:srgbClr val="FFFFFF"/>
                </a:solidFill>
                <a:latin typeface="微软雅黑" panose="020B0503020204020204" pitchFamily="34" charset="-122"/>
                <a:ea typeface="微软雅黑" panose="020B0503020204020204" pitchFamily="34" charset="-122"/>
              </a:rPr>
              <a:t>2</a:t>
            </a:r>
            <a:r>
              <a:rPr lang="zh-CN" altLang="en-US" sz="1400" b="1">
                <a:solidFill>
                  <a:srgbClr val="FFFFFF"/>
                </a:solidFill>
                <a:latin typeface="微软雅黑" panose="020B0503020204020204" pitchFamily="34" charset="-122"/>
                <a:ea typeface="微软雅黑" panose="020B0503020204020204" pitchFamily="34" charset="-122"/>
              </a:rPr>
              <a:t>：</a:t>
            </a:r>
            <a:r>
              <a:rPr lang="en-US" altLang="zh-CN" sz="1400" b="1">
                <a:solidFill>
                  <a:srgbClr val="FFFFFF"/>
                </a:solidFill>
                <a:latin typeface="微软雅黑" panose="020B0503020204020204" pitchFamily="34" charset="-122"/>
                <a:ea typeface="微软雅黑" panose="020B0503020204020204" pitchFamily="34" charset="-122"/>
              </a:rPr>
              <a:t>LiDAR </a:t>
            </a:r>
            <a:r>
              <a:rPr lang="zh-CN" altLang="en-US" sz="1400" b="1">
                <a:solidFill>
                  <a:srgbClr val="FFFFFF"/>
                </a:solidFill>
                <a:latin typeface="微软雅黑" panose="020B0503020204020204" pitchFamily="34" charset="-122"/>
                <a:ea typeface="微软雅黑" panose="020B0503020204020204" pitchFamily="34" charset="-122"/>
              </a:rPr>
              <a:t>点云 </a:t>
            </a:r>
            <a:r>
              <a:rPr lang="en-US" altLang="zh-CN" sz="1400" b="1">
                <a:solidFill>
                  <a:srgbClr val="FFFFFF"/>
                </a:solidFill>
                <a:latin typeface="微软雅黑" panose="020B0503020204020204" pitchFamily="34" charset="-122"/>
                <a:ea typeface="微软雅黑" panose="020B0503020204020204" pitchFamily="34" charset="-122"/>
              </a:rPr>
              <a:t>.bin </a:t>
            </a:r>
            <a:r>
              <a:rPr lang="zh-CN" altLang="en-US" sz="1400" b="1">
                <a:solidFill>
                  <a:srgbClr val="FFFFFF"/>
                </a:solidFill>
                <a:latin typeface="微软雅黑" panose="020B0503020204020204" pitchFamily="34" charset="-122"/>
                <a:ea typeface="微软雅黑" panose="020B0503020204020204" pitchFamily="34" charset="-122"/>
              </a:rPr>
              <a:t>可视化</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17" name="图片 16"/>
          <p:cNvPicPr/>
          <p:nvPr/>
        </p:nvPicPr>
        <p:blipFill>
          <a:blip r:embed="rId2" cstate="print">
            <a:extLst>
              <a:ext uri="{28A0092B-C50C-407E-A947-70E740481C1C}">
                <a14:useLocalDpi xmlns:a14="http://schemas.microsoft.com/office/drawing/2010/main" val="0"/>
              </a:ext>
            </a:extLst>
          </a:blip>
          <a:stretch>
            <a:fillRect/>
          </a:stretch>
        </p:blipFill>
        <p:spPr>
          <a:xfrm>
            <a:off x="530225" y="3644900"/>
            <a:ext cx="3448050" cy="2298700"/>
          </a:xfrm>
          <a:prstGeom prst="rect">
            <a:avLst/>
          </a:prstGeom>
        </p:spPr>
      </p:pic>
      <p:sp>
        <p:nvSpPr>
          <p:cNvPr id="18" name="矩形: 圆角 17"/>
          <p:cNvSpPr/>
          <p:nvPr/>
        </p:nvSpPr>
        <p:spPr>
          <a:xfrm>
            <a:off x="4495800" y="1397000"/>
            <a:ext cx="2260600" cy="1587500"/>
          </a:xfrm>
          <a:prstGeom prst="roundRect">
            <a:avLst>
              <a:gd name="adj" fmla="val 2000"/>
            </a:avLst>
          </a:prstGeom>
          <a:solidFill>
            <a:srgbClr val="F3F8FD"/>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9" name="文本框 18"/>
          <p:cNvSpPr txBox="1"/>
          <p:nvPr/>
        </p:nvSpPr>
        <p:spPr>
          <a:xfrm>
            <a:off x="4610100" y="1473200"/>
            <a:ext cx="2032000" cy="276999"/>
          </a:xfrm>
          <a:prstGeom prst="rect">
            <a:avLst/>
          </a:prstGeom>
          <a:noFill/>
        </p:spPr>
        <p:txBody>
          <a:bodyPr vert="horz" wrap="square" lIns="0" tIns="0" rIns="0" bIns="0" rtlCol="0">
            <a:noAutofit/>
          </a:bodyPr>
          <a:lstStyle/>
          <a:p>
            <a:r>
              <a:rPr lang="zh-CN" altLang="en-US" sz="1600" b="1">
                <a:solidFill>
                  <a:srgbClr val="004A9F"/>
                </a:solidFill>
                <a:latin typeface="微软雅黑" panose="020B0503020204020204" pitchFamily="34" charset="-122"/>
                <a:ea typeface="微软雅黑" panose="020B0503020204020204" pitchFamily="34" charset="-122"/>
              </a:rPr>
              <a:t>图像分支</a:t>
            </a:r>
            <a:endParaRPr lang="zh-CN" altLang="en-US" sz="1600" b="1">
              <a:solidFill>
                <a:srgbClr val="004A9F"/>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4610100" y="1943100"/>
            <a:ext cx="2032000" cy="452120"/>
          </a:xfrm>
          <a:prstGeom prst="rect">
            <a:avLst/>
          </a:prstGeom>
          <a:noFill/>
        </p:spPr>
        <p:txBody>
          <a:bodyPr vert="horz" wrap="square" lIns="0" tIns="0" rIns="0" bIns="0" rtlCol="0">
            <a:noAutofit/>
          </a:bodyPr>
          <a:lstStyle/>
          <a:p>
            <a:r>
              <a:rPr lang="zh-CN" altLang="en-US" sz="1400">
                <a:solidFill>
                  <a:srgbClr val="586674"/>
                </a:solidFill>
                <a:latin typeface="微软雅黑" panose="020B0503020204020204" pitchFamily="34" charset="-122"/>
                <a:ea typeface="微软雅黑" panose="020B0503020204020204" pitchFamily="34" charset="-122"/>
              </a:rPr>
              <a:t>提取颜色、纹理和语义特征</a:t>
            </a:r>
            <a:endParaRPr lang="zh-CN" altLang="en-US" sz="1400">
              <a:solidFill>
                <a:srgbClr val="586674"/>
              </a:solidFill>
              <a:latin typeface="微软雅黑" panose="020B0503020204020204" pitchFamily="34" charset="-122"/>
              <a:ea typeface="微软雅黑" panose="020B0503020204020204" pitchFamily="34" charset="-122"/>
            </a:endParaRPr>
          </a:p>
        </p:txBody>
      </p:sp>
      <p:sp>
        <p:nvSpPr>
          <p:cNvPr id="21" name="矩形 20"/>
          <p:cNvSpPr/>
          <p:nvPr/>
        </p:nvSpPr>
        <p:spPr>
          <a:xfrm>
            <a:off x="5676900" y="2413000"/>
            <a:ext cx="457200" cy="3302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2" name="矩形 21"/>
          <p:cNvSpPr/>
          <p:nvPr/>
        </p:nvSpPr>
        <p:spPr>
          <a:xfrm>
            <a:off x="5588000" y="2476500"/>
            <a:ext cx="457200" cy="3302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3" name="矩形 22"/>
          <p:cNvSpPr/>
          <p:nvPr/>
        </p:nvSpPr>
        <p:spPr>
          <a:xfrm>
            <a:off x="5499100" y="2540000"/>
            <a:ext cx="457200" cy="3302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矩形 23"/>
          <p:cNvSpPr/>
          <p:nvPr/>
        </p:nvSpPr>
        <p:spPr>
          <a:xfrm>
            <a:off x="5410200" y="2603500"/>
            <a:ext cx="457200" cy="330200"/>
          </a:xfrm>
          <a:prstGeom prst="rect">
            <a:avLst/>
          </a:prstGeom>
          <a:solidFill>
            <a:srgbClr val="DAEBFC">
              <a:alpha val="85000"/>
            </a:srgbClr>
          </a:solidFill>
          <a:ln w="8890">
            <a:solidFill>
              <a:srgbClr val="004A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5" name="矩形: 圆角 24"/>
          <p:cNvSpPr/>
          <p:nvPr/>
        </p:nvSpPr>
        <p:spPr>
          <a:xfrm>
            <a:off x="4495800" y="4229100"/>
            <a:ext cx="2260600" cy="1689100"/>
          </a:xfrm>
          <a:prstGeom prst="roundRect">
            <a:avLst>
              <a:gd name="adj" fmla="val 2000"/>
            </a:avLst>
          </a:prstGeom>
          <a:solidFill>
            <a:srgbClr val="F3F8FD"/>
          </a:solidFill>
          <a:ln w="8890">
            <a:solidFill>
              <a:srgbClr val="2095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6" name="文本框 25"/>
          <p:cNvSpPr txBox="1"/>
          <p:nvPr/>
        </p:nvSpPr>
        <p:spPr>
          <a:xfrm>
            <a:off x="4610100" y="4305300"/>
            <a:ext cx="2032000" cy="276999"/>
          </a:xfrm>
          <a:prstGeom prst="rect">
            <a:avLst/>
          </a:prstGeom>
          <a:noFill/>
        </p:spPr>
        <p:txBody>
          <a:bodyPr vert="horz" wrap="square" lIns="0" tIns="0" rIns="0" bIns="0" rtlCol="0">
            <a:noAutofit/>
          </a:bodyPr>
          <a:lstStyle/>
          <a:p>
            <a:r>
              <a:rPr lang="zh-CN" altLang="en-US" sz="1600" b="1">
                <a:solidFill>
                  <a:srgbClr val="209557"/>
                </a:solidFill>
                <a:latin typeface="微软雅黑" panose="020B0503020204020204" pitchFamily="34" charset="-122"/>
                <a:ea typeface="微软雅黑" panose="020B0503020204020204" pitchFamily="34" charset="-122"/>
              </a:rPr>
              <a:t>点云分支</a:t>
            </a:r>
            <a:endParaRPr lang="zh-CN" altLang="en-US" sz="1600" b="1">
              <a:solidFill>
                <a:srgbClr val="209557"/>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4610100" y="4775200"/>
            <a:ext cx="2032000" cy="452120"/>
          </a:xfrm>
          <a:prstGeom prst="rect">
            <a:avLst/>
          </a:prstGeom>
          <a:noFill/>
        </p:spPr>
        <p:txBody>
          <a:bodyPr vert="horz" wrap="square" lIns="0" tIns="0" rIns="0" bIns="0" rtlCol="0">
            <a:noAutofit/>
          </a:bodyPr>
          <a:lstStyle/>
          <a:p>
            <a:r>
              <a:rPr lang="en-US" altLang="zh-CN" sz="1400">
                <a:solidFill>
                  <a:srgbClr val="586674"/>
                </a:solidFill>
                <a:latin typeface="微软雅黑" panose="020B0503020204020204" pitchFamily="34" charset="-122"/>
                <a:ea typeface="微软雅黑" panose="020B0503020204020204" pitchFamily="34" charset="-122"/>
              </a:rPr>
              <a:t>VoxelNet / </a:t>
            </a:r>
            <a:r>
              <a:rPr lang="zh-CN" altLang="en-US" sz="1400">
                <a:solidFill>
                  <a:srgbClr val="586674"/>
                </a:solidFill>
                <a:latin typeface="微软雅黑" panose="020B0503020204020204" pitchFamily="34" charset="-122"/>
                <a:ea typeface="微软雅黑" panose="020B0503020204020204" pitchFamily="34" charset="-122"/>
              </a:rPr>
              <a:t>体素分支提取几何特征</a:t>
            </a:r>
            <a:endParaRPr lang="zh-CN" altLang="en-US" sz="1400">
              <a:solidFill>
                <a:srgbClr val="586674"/>
              </a:solidFill>
              <a:latin typeface="微软雅黑" panose="020B0503020204020204" pitchFamily="34" charset="-122"/>
              <a:ea typeface="微软雅黑" panose="020B0503020204020204" pitchFamily="34" charset="-122"/>
            </a:endParaRPr>
          </a:p>
        </p:txBody>
      </p:sp>
      <p:pic>
        <p:nvPicPr>
          <p:cNvPr id="29" name="图片 28"/>
          <p:cNvPicPr/>
          <p:nvPr/>
        </p:nvPicPr>
        <p:blipFill>
          <a:blip r:embed="rId3" cstate="print">
            <a:extLst>
              <a:ext uri="{28A0092B-C50C-407E-A947-70E740481C1C}">
                <a14:useLocalDpi xmlns:a14="http://schemas.microsoft.com/office/drawing/2010/main" val="0"/>
              </a:ext>
            </a:extLst>
          </a:blip>
          <a:stretch>
            <a:fillRect/>
          </a:stretch>
        </p:blipFill>
        <p:spPr>
          <a:xfrm>
            <a:off x="5149569" y="5334000"/>
            <a:ext cx="753009" cy="508000"/>
          </a:xfrm>
          <a:prstGeom prst="rect">
            <a:avLst/>
          </a:prstGeom>
        </p:spPr>
      </p:pic>
      <p:sp>
        <p:nvSpPr>
          <p:cNvPr id="30" name="矩形: 圆角 29"/>
          <p:cNvSpPr/>
          <p:nvPr/>
        </p:nvSpPr>
        <p:spPr>
          <a:xfrm>
            <a:off x="6464300" y="3098800"/>
            <a:ext cx="1803400" cy="1092200"/>
          </a:xfrm>
          <a:prstGeom prst="roundRect">
            <a:avLst>
              <a:gd name="adj" fmla="val 2000"/>
            </a:avLst>
          </a:prstGeom>
          <a:solidFill>
            <a:srgbClr val="F3F8FD"/>
          </a:solidFill>
          <a:ln w="889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1" name="文本框 30"/>
          <p:cNvSpPr txBox="1"/>
          <p:nvPr/>
        </p:nvSpPr>
        <p:spPr>
          <a:xfrm>
            <a:off x="6578600" y="3175000"/>
            <a:ext cx="1574800" cy="276999"/>
          </a:xfrm>
          <a:prstGeom prst="rect">
            <a:avLst/>
          </a:prstGeom>
          <a:noFill/>
        </p:spPr>
        <p:txBody>
          <a:bodyPr vert="horz" wrap="square" lIns="0" tIns="0" rIns="0" bIns="0" rtlCol="0">
            <a:noAutofit/>
          </a:bodyPr>
          <a:lstStyle/>
          <a:p>
            <a:r>
              <a:rPr lang="zh-CN" altLang="en-US" sz="1400" b="1">
                <a:solidFill>
                  <a:srgbClr val="F28E2B"/>
                </a:solidFill>
                <a:latin typeface="微软雅黑" panose="020B0503020204020204" pitchFamily="34" charset="-122"/>
                <a:ea typeface="微软雅黑" panose="020B0503020204020204" pitchFamily="34" charset="-122"/>
              </a:rPr>
              <a:t>跨模态融合</a:t>
            </a:r>
            <a:endParaRPr lang="zh-CN" altLang="en-US" sz="1400" b="1">
              <a:solidFill>
                <a:srgbClr val="F28E2B"/>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6578600" y="3479800"/>
            <a:ext cx="1574800" cy="495300"/>
          </a:xfrm>
          <a:prstGeom prst="rect">
            <a:avLst/>
          </a:prstGeom>
          <a:noFill/>
        </p:spPr>
        <p:txBody>
          <a:bodyPr vert="horz" wrap="square" lIns="0" tIns="0" rIns="0" bIns="0" rtlCol="0">
            <a:noAutofit/>
          </a:bodyPr>
          <a:lstStyle/>
          <a:p>
            <a:r>
              <a:rPr lang="zh-CN" altLang="en-US" sz="1050">
                <a:solidFill>
                  <a:srgbClr val="586674"/>
                </a:solidFill>
                <a:latin typeface="微软雅黑" panose="020B0503020204020204" pitchFamily="34" charset="-122"/>
                <a:ea typeface="微软雅黑" panose="020B0503020204020204" pitchFamily="34" charset="-122"/>
              </a:rPr>
              <a:t>将图像特征投影到点云</a:t>
            </a:r>
            <a:r>
              <a:rPr lang="en-US" altLang="zh-CN" sz="1050">
                <a:solidFill>
                  <a:srgbClr val="586674"/>
                </a:solidFill>
                <a:latin typeface="微软雅黑" panose="020B0503020204020204" pitchFamily="34" charset="-122"/>
                <a:ea typeface="微软雅黑" panose="020B0503020204020204" pitchFamily="34" charset="-122"/>
              </a:rPr>
              <a:t>/</a:t>
            </a:r>
            <a:r>
              <a:rPr lang="zh-CN" altLang="en-US" sz="1050">
                <a:solidFill>
                  <a:srgbClr val="586674"/>
                </a:solidFill>
                <a:latin typeface="微软雅黑" panose="020B0503020204020204" pitchFamily="34" charset="-122"/>
                <a:ea typeface="微软雅黑" panose="020B0503020204020204" pitchFamily="34" charset="-122"/>
              </a:rPr>
              <a:t>体素位置，融合语义与几何信息</a:t>
            </a:r>
            <a:endParaRPr lang="zh-CN" altLang="en-US" sz="1050">
              <a:solidFill>
                <a:srgbClr val="586674"/>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6769100" y="4000500"/>
            <a:ext cx="1244600" cy="165100"/>
          </a:xfrm>
          <a:prstGeom prst="rect">
            <a:avLst/>
          </a:prstGeom>
          <a:noFill/>
        </p:spPr>
        <p:txBody>
          <a:bodyPr vert="horz" wrap="square" lIns="0" tIns="0" rIns="0" bIns="0" rtlCol="0">
            <a:noAutofit/>
          </a:bodyPr>
          <a:lstStyle/>
          <a:p>
            <a:pPr algn="ctr"/>
            <a:r>
              <a:rPr lang="zh-CN" altLang="en-US" sz="950" b="1">
                <a:solidFill>
                  <a:srgbClr val="F28E2B"/>
                </a:solidFill>
                <a:latin typeface="微软雅黑" panose="020B0503020204020204" pitchFamily="34" charset="-122"/>
                <a:ea typeface="微软雅黑" panose="020B0503020204020204" pitchFamily="34" charset="-122"/>
              </a:rPr>
              <a:t>融合模块</a:t>
            </a:r>
            <a:endParaRPr lang="zh-CN" altLang="en-US" sz="950" b="1">
              <a:solidFill>
                <a:srgbClr val="F28E2B"/>
              </a:solidFill>
              <a:latin typeface="微软雅黑" panose="020B0503020204020204" pitchFamily="34" charset="-122"/>
              <a:ea typeface="微软雅黑" panose="020B0503020204020204" pitchFamily="34" charset="-122"/>
            </a:endParaRPr>
          </a:p>
        </p:txBody>
      </p:sp>
      <p:sp>
        <p:nvSpPr>
          <p:cNvPr id="34" name="矩形: 圆角 33"/>
          <p:cNvSpPr/>
          <p:nvPr/>
        </p:nvSpPr>
        <p:spPr>
          <a:xfrm>
            <a:off x="8394700" y="1346200"/>
            <a:ext cx="3505200" cy="1790700"/>
          </a:xfrm>
          <a:prstGeom prst="roundRect">
            <a:avLst>
              <a:gd name="adj" fmla="val 2000"/>
            </a:avLst>
          </a:prstGeom>
          <a:solidFill>
            <a:srgbClr val="FFFFFF"/>
          </a:solidFill>
          <a:ln w="8890">
            <a:solidFill>
              <a:srgbClr val="B512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5" name="矩形 34"/>
          <p:cNvSpPr/>
          <p:nvPr/>
        </p:nvSpPr>
        <p:spPr>
          <a:xfrm>
            <a:off x="8394700" y="1346200"/>
            <a:ext cx="3505200" cy="342900"/>
          </a:xfrm>
          <a:prstGeom prst="rect">
            <a:avLst/>
          </a:prstGeom>
          <a:solidFill>
            <a:srgbClr val="B5121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6" name="文本框 35"/>
          <p:cNvSpPr txBox="1"/>
          <p:nvPr/>
        </p:nvSpPr>
        <p:spPr>
          <a:xfrm>
            <a:off x="8547100" y="1384300"/>
            <a:ext cx="3251200" cy="276999"/>
          </a:xfrm>
          <a:prstGeom prst="rect">
            <a:avLst/>
          </a:prstGeom>
          <a:noFill/>
        </p:spPr>
        <p:txBody>
          <a:bodyPr vert="horz" wrap="square" lIns="0" tIns="0" rIns="0" bIns="0" rtlCol="0">
            <a:noAutofit/>
          </a:bodyPr>
          <a:lstStyle/>
          <a:p>
            <a:r>
              <a:rPr lang="zh-CN" altLang="en-US" sz="1400" b="1">
                <a:solidFill>
                  <a:srgbClr val="FFFFFF"/>
                </a:solidFill>
                <a:latin typeface="微软雅黑" panose="020B0503020204020204" pitchFamily="34" charset="-122"/>
                <a:ea typeface="微软雅黑" panose="020B0503020204020204" pitchFamily="34" charset="-122"/>
              </a:rPr>
              <a:t>输出：</a:t>
            </a:r>
            <a:r>
              <a:rPr lang="en-US" altLang="zh-CN" sz="1400" b="1">
                <a:solidFill>
                  <a:srgbClr val="FFFFFF"/>
                </a:solidFill>
                <a:latin typeface="微软雅黑" panose="020B0503020204020204" pitchFamily="34" charset="-122"/>
                <a:ea typeface="微软雅黑" panose="020B0503020204020204" pitchFamily="34" charset="-122"/>
              </a:rPr>
              <a:t>MVX-Net </a:t>
            </a:r>
            <a:r>
              <a:rPr lang="zh-CN" altLang="en-US" sz="1400" b="1">
                <a:solidFill>
                  <a:srgbClr val="FFFFFF"/>
                </a:solidFill>
                <a:latin typeface="微软雅黑" panose="020B0503020204020204" pitchFamily="34" charset="-122"/>
                <a:ea typeface="微软雅黑" panose="020B0503020204020204" pitchFamily="34" charset="-122"/>
              </a:rPr>
              <a:t>三维检测结果</a:t>
            </a:r>
            <a:endParaRPr lang="zh-CN" altLang="en-US" sz="1400" b="1">
              <a:solidFill>
                <a:srgbClr val="FFFFFF"/>
              </a:solidFill>
              <a:latin typeface="微软雅黑" panose="020B0503020204020204" pitchFamily="34" charset="-122"/>
              <a:ea typeface="微软雅黑" panose="020B0503020204020204" pitchFamily="34" charset="-122"/>
            </a:endParaRPr>
          </a:p>
        </p:txBody>
      </p:sp>
      <p:pic>
        <p:nvPicPr>
          <p:cNvPr id="38" name="图片 37"/>
          <p:cNvPicPr/>
          <p:nvPr/>
        </p:nvPicPr>
        <p:blipFill>
          <a:blip r:embed="rId4" cstate="print">
            <a:extLst>
              <a:ext uri="{28A0092B-C50C-407E-A947-70E740481C1C}">
                <a14:useLocalDpi xmlns:a14="http://schemas.microsoft.com/office/drawing/2010/main" val="0"/>
              </a:ext>
            </a:extLst>
          </a:blip>
          <a:stretch>
            <a:fillRect/>
          </a:stretch>
        </p:blipFill>
        <p:spPr>
          <a:xfrm>
            <a:off x="8496300" y="1895460"/>
            <a:ext cx="3302000" cy="996981"/>
          </a:xfrm>
          <a:prstGeom prst="rect">
            <a:avLst/>
          </a:prstGeom>
        </p:spPr>
      </p:pic>
      <p:sp>
        <p:nvSpPr>
          <p:cNvPr id="39" name="矩形: 圆角 38"/>
          <p:cNvSpPr/>
          <p:nvPr/>
        </p:nvSpPr>
        <p:spPr>
          <a:xfrm>
            <a:off x="8496300" y="4229100"/>
            <a:ext cx="3365500" cy="990600"/>
          </a:xfrm>
          <a:prstGeom prst="roundRect">
            <a:avLst>
              <a:gd name="adj" fmla="val 2000"/>
            </a:avLst>
          </a:prstGeom>
          <a:solidFill>
            <a:srgbClr val="F3F8FD"/>
          </a:solidFill>
          <a:ln w="8890">
            <a:solidFill>
              <a:srgbClr val="1685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0" name="文本框 39"/>
          <p:cNvSpPr txBox="1"/>
          <p:nvPr/>
        </p:nvSpPr>
        <p:spPr>
          <a:xfrm>
            <a:off x="8610600" y="4305300"/>
            <a:ext cx="3136900" cy="276999"/>
          </a:xfrm>
          <a:prstGeom prst="rect">
            <a:avLst/>
          </a:prstGeom>
          <a:noFill/>
        </p:spPr>
        <p:txBody>
          <a:bodyPr vert="horz" wrap="square" lIns="0" tIns="0" rIns="0" bIns="0" rtlCol="0">
            <a:noAutofit/>
          </a:bodyPr>
          <a:lstStyle/>
          <a:p>
            <a:r>
              <a:rPr lang="zh-CN" altLang="en-US" sz="1500" b="1">
                <a:solidFill>
                  <a:srgbClr val="16857D"/>
                </a:solidFill>
                <a:latin typeface="微软雅黑" panose="020B0503020204020204" pitchFamily="34" charset="-122"/>
                <a:ea typeface="微软雅黑" panose="020B0503020204020204" pitchFamily="34" charset="-122"/>
              </a:rPr>
              <a:t>检测头输出</a:t>
            </a:r>
            <a:endParaRPr lang="zh-CN" altLang="en-US" sz="1500" b="1">
              <a:solidFill>
                <a:srgbClr val="16857D"/>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8610600" y="4775200"/>
            <a:ext cx="3136900" cy="276999"/>
          </a:xfrm>
          <a:prstGeom prst="rect">
            <a:avLst/>
          </a:prstGeom>
          <a:noFill/>
        </p:spPr>
        <p:txBody>
          <a:bodyPr vert="horz" wrap="square" lIns="0" tIns="0" rIns="0" bIns="0" rtlCol="0">
            <a:noAutofit/>
          </a:bodyPr>
          <a:lstStyle/>
          <a:p>
            <a:r>
              <a:rPr lang="zh-CN" altLang="en-US" sz="1300">
                <a:solidFill>
                  <a:srgbClr val="586674"/>
                </a:solidFill>
                <a:latin typeface="微软雅黑" panose="020B0503020204020204" pitchFamily="34" charset="-122"/>
                <a:ea typeface="微软雅黑" panose="020B0503020204020204" pitchFamily="34" charset="-122"/>
              </a:rPr>
              <a:t>类别、置信度、三维位置、尺寸和朝向</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4165600" y="2108200"/>
            <a:ext cx="304800" cy="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165600" y="4940300"/>
            <a:ext cx="304800" cy="0"/>
          </a:xfrm>
          <a:prstGeom prst="line">
            <a:avLst/>
          </a:prstGeom>
          <a:ln w="19050">
            <a:solidFill>
              <a:srgbClr val="209557"/>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781800" y="2159000"/>
            <a:ext cx="419100" cy="914400"/>
          </a:xfrm>
          <a:prstGeom prst="line">
            <a:avLst/>
          </a:prstGeom>
          <a:ln w="19050">
            <a:solidFill>
              <a:srgbClr val="004A9F"/>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6781800" y="4216400"/>
            <a:ext cx="406400" cy="723900"/>
          </a:xfrm>
          <a:prstGeom prst="line">
            <a:avLst/>
          </a:prstGeom>
          <a:ln w="19050">
            <a:solidFill>
              <a:srgbClr val="209557"/>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8293100" y="3606800"/>
            <a:ext cx="508000" cy="596900"/>
          </a:xfrm>
          <a:prstGeom prst="line">
            <a:avLst/>
          </a:prstGeom>
          <a:ln w="19050">
            <a:solidFill>
              <a:srgbClr val="F28E2B"/>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10172700" y="3175000"/>
            <a:ext cx="0" cy="1041400"/>
          </a:xfrm>
          <a:prstGeom prst="line">
            <a:avLst/>
          </a:prstGeom>
          <a:ln w="19050">
            <a:solidFill>
              <a:srgbClr val="16857D"/>
            </a:solidFill>
            <a:tailEnd type="arrow"/>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368300" y="6248400"/>
            <a:ext cx="2032000" cy="276999"/>
          </a:xfrm>
          <a:prstGeom prst="rect">
            <a:avLst/>
          </a:prstGeom>
          <a:noFill/>
        </p:spPr>
        <p:txBody>
          <a:bodyPr vert="horz" wrap="square" lIns="0" tIns="0" rIns="0" bIns="0" rtlCol="0">
            <a:noAutofit/>
          </a:bodyPr>
          <a:lstStyle/>
          <a:p>
            <a:pPr algn="ctr"/>
            <a:r>
              <a:rPr lang="zh-CN" altLang="en-US" sz="1300" b="1">
                <a:solidFill>
                  <a:srgbClr val="004A9F"/>
                </a:solidFill>
                <a:latin typeface="微软雅黑" panose="020B0503020204020204" pitchFamily="34" charset="-122"/>
                <a:ea typeface="微软雅黑" panose="020B0503020204020204" pitchFamily="34" charset="-122"/>
              </a:rPr>
              <a:t>多模态输入</a:t>
            </a:r>
            <a:endParaRPr lang="zh-CN" altLang="en-US" sz="1300" b="1">
              <a:solidFill>
                <a:srgbClr val="004A9F"/>
              </a:solidFill>
              <a:latin typeface="微软雅黑" panose="020B0503020204020204" pitchFamily="34" charset="-122"/>
              <a:ea typeface="微软雅黑" panose="020B0503020204020204" pitchFamily="34" charset="-122"/>
            </a:endParaRPr>
          </a:p>
        </p:txBody>
      </p:sp>
      <p:sp>
        <p:nvSpPr>
          <p:cNvPr id="49" name="矩形 48"/>
          <p:cNvSpPr/>
          <p:nvPr/>
        </p:nvSpPr>
        <p:spPr>
          <a:xfrm>
            <a:off x="3378200" y="6210300"/>
            <a:ext cx="8509000" cy="393700"/>
          </a:xfrm>
          <a:prstGeom prst="rect">
            <a:avLst/>
          </a:prstGeom>
          <a:solidFill>
            <a:srgbClr val="F3F8F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0" name="文本框 49"/>
          <p:cNvSpPr txBox="1"/>
          <p:nvPr/>
        </p:nvSpPr>
        <p:spPr>
          <a:xfrm>
            <a:off x="3517900" y="6286500"/>
            <a:ext cx="8255000" cy="276999"/>
          </a:xfrm>
          <a:prstGeom prst="rect">
            <a:avLst/>
          </a:prstGeom>
          <a:noFill/>
        </p:spPr>
        <p:txBody>
          <a:bodyPr vert="horz" wrap="square" lIns="0" tIns="0" rIns="0" bIns="0" rtlCol="0">
            <a:noAutofit/>
          </a:bodyPr>
          <a:lstStyle/>
          <a:p>
            <a:r>
              <a:rPr lang="en-US" altLang="zh-CN" sz="1200">
                <a:solidFill>
                  <a:srgbClr val="586674"/>
                </a:solidFill>
                <a:latin typeface="微软雅黑" panose="020B0503020204020204" pitchFamily="34" charset="-122"/>
                <a:ea typeface="微软雅黑" panose="020B0503020204020204" pitchFamily="34" charset="-122"/>
              </a:rPr>
              <a:t>MVX-Net </a:t>
            </a:r>
            <a:r>
              <a:rPr lang="zh-CN" altLang="en-US" sz="1200">
                <a:solidFill>
                  <a:srgbClr val="586674"/>
                </a:solidFill>
                <a:latin typeface="微软雅黑" panose="020B0503020204020204" pitchFamily="34" charset="-122"/>
                <a:ea typeface="微软雅黑" panose="020B0503020204020204" pitchFamily="34" charset="-122"/>
              </a:rPr>
              <a:t>的核心是把图像语义特征与点云几何特征按标定关系融合，再完成三维框预测。</a:t>
            </a:r>
            <a:endParaRPr lang="zh-CN" altLang="en-US" sz="1200">
              <a:solidFill>
                <a:srgbClr val="58667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复杂工况数据退化示例</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12</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100" name="Experiment subtitle"/>
          <p:cNvSpPr txBox="1"/>
          <p:nvPr/>
        </p:nvSpPr>
        <p:spPr>
          <a:xfrm>
            <a:off x="368300" y="927100"/>
            <a:ext cx="11303000" cy="266700"/>
          </a:xfrm>
          <a:prstGeom prst="rect">
            <a:avLst/>
          </a:prstGeom>
          <a:noFill/>
          <a:ln>
            <a:noFill/>
          </a:ln>
        </p:spPr>
        <p:txBody>
          <a:bodyPr wrap="none" lIns="0" tIns="0" rIns="0" bIns="0" anchor="ctr">
            <a:noAutofit/>
          </a:bodyPr>
          <a:lstStyle/>
          <a:p>
            <a:pPr algn="l"/>
            <a:r>
              <a:rPr lang="zh-CN" sz="1200" b="0">
                <a:solidFill>
                  <a:srgbClr val="586674"/>
                </a:solidFill>
                <a:latin typeface="微软雅黑" panose="020B0503020204020204" pitchFamily="34" charset="-122"/>
                <a:ea typeface="微软雅黑" panose="020B0503020204020204" pitchFamily="34" charset="-122"/>
              </a:rPr>
              <a:t>前四组为图像，后两组为纯点云投影（颜色表示距离），均不含检测框</a:t>
            </a:r>
            <a:endParaRPr lang="zh-CN" sz="1200" b="0">
              <a:solidFill>
                <a:srgbClr val="586674"/>
              </a:solidFill>
              <a:latin typeface="微软雅黑" panose="020B0503020204020204" pitchFamily="34" charset="-122"/>
              <a:ea typeface="微软雅黑" panose="020B0503020204020204" pitchFamily="34" charset="-122"/>
            </a:endParaRPr>
          </a:p>
        </p:txBody>
      </p:sp>
      <p:sp>
        <p:nvSpPr>
          <p:cNvPr id="101" name="Condition 0"/>
          <p:cNvSpPr txBox="1"/>
          <p:nvPr/>
        </p:nvSpPr>
        <p:spPr>
          <a:xfrm>
            <a:off x="355600" y="13208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弱光（降低亮度）</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02" name="Clean label 0"/>
          <p:cNvSpPr txBox="1"/>
          <p:nvPr/>
        </p:nvSpPr>
        <p:spPr>
          <a:xfrm>
            <a:off x="355600" y="2029701"/>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03" name="Degraded label 0"/>
          <p:cNvSpPr txBox="1"/>
          <p:nvPr/>
        </p:nvSpPr>
        <p:spPr>
          <a:xfrm>
            <a:off x="355600" y="3096501"/>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04" name="Input 000008_low_light before" descr="Input evidence only. Source: code\data\stage04_complex_conditions\paired_samples\000008_low_light\clean\000008.png; SHA256: 5b988d2a04d51850610b38ce50a66fd4027f3f5e645e5f2198d0522f4cf9a640. Render: byte_identical_copy_of_input_rgb. No detection boxes. No generated scene content."/>
          <p:cNvPicPr>
            <a:picLocks noChangeAspect="1"/>
          </p:cNvPicPr>
          <p:nvPr/>
        </p:nvPicPr>
        <p:blipFill>
          <a:blip r:embed="rId1"/>
          <a:stretch>
            <a:fillRect/>
          </a:stretch>
        </p:blipFill>
        <p:spPr>
          <a:xfrm>
            <a:off x="736600" y="1651000"/>
            <a:ext cx="3276600" cy="986001"/>
          </a:xfrm>
          <a:prstGeom prst="rect">
            <a:avLst/>
          </a:prstGeom>
          <a:ln>
            <a:noFill/>
          </a:ln>
        </p:spPr>
      </p:pic>
      <p:pic>
        <p:nvPicPr>
          <p:cNvPr id="105" name="Input 000008_low_light after" descr="Input evidence only. Source: code\data\stage04_complex_conditions\paired_samples\000008_low_light\complex\000008_low_light.png; SHA256: c01408d4d414216d3e8003f3483a0ce1621444801ed4418da51602e4e9bf2705. Render: byte_identical_copy_of_input_rgb. No detection boxes. No generated scene content."/>
          <p:cNvPicPr>
            <a:picLocks noChangeAspect="1"/>
          </p:cNvPicPr>
          <p:nvPr/>
        </p:nvPicPr>
        <p:blipFill>
          <a:blip r:embed="rId2"/>
          <a:stretch>
            <a:fillRect/>
          </a:stretch>
        </p:blipFill>
        <p:spPr>
          <a:xfrm>
            <a:off x="736600" y="2717800"/>
            <a:ext cx="3276600" cy="986001"/>
          </a:xfrm>
          <a:prstGeom prst="rect">
            <a:avLst/>
          </a:prstGeom>
          <a:ln>
            <a:noFill/>
          </a:ln>
        </p:spPr>
      </p:pic>
      <p:sp>
        <p:nvSpPr>
          <p:cNvPr id="106" name="Condition 1"/>
          <p:cNvSpPr txBox="1"/>
          <p:nvPr/>
        </p:nvSpPr>
        <p:spPr>
          <a:xfrm>
            <a:off x="4267200" y="13208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雾化（叠加雾层）</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07" name="Clean label 1"/>
          <p:cNvSpPr txBox="1"/>
          <p:nvPr/>
        </p:nvSpPr>
        <p:spPr>
          <a:xfrm>
            <a:off x="4267200" y="2029701"/>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08" name="Degraded label 1"/>
          <p:cNvSpPr txBox="1"/>
          <p:nvPr/>
        </p:nvSpPr>
        <p:spPr>
          <a:xfrm>
            <a:off x="4267200" y="3096501"/>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09" name="Input 000021_fog before" descr="Input evidence only. Source: code\data\stage04_complex_conditions\paired_samples\000021_fog\clean\000021.png; SHA256: b26d89b487b9708f88fd6a3762ac863b35703cf9337d336b0a6614e940dfb91e. Render: byte_identical_copy_of_input_rgb. No detection boxes. No generated scene content."/>
          <p:cNvPicPr>
            <a:picLocks noChangeAspect="1"/>
          </p:cNvPicPr>
          <p:nvPr/>
        </p:nvPicPr>
        <p:blipFill>
          <a:blip r:embed="rId3"/>
          <a:stretch>
            <a:fillRect/>
          </a:stretch>
        </p:blipFill>
        <p:spPr>
          <a:xfrm>
            <a:off x="4648200" y="1651000"/>
            <a:ext cx="3276600" cy="986001"/>
          </a:xfrm>
          <a:prstGeom prst="rect">
            <a:avLst/>
          </a:prstGeom>
          <a:ln>
            <a:noFill/>
          </a:ln>
        </p:spPr>
      </p:pic>
      <p:pic>
        <p:nvPicPr>
          <p:cNvPr id="110" name="Input 000021_fog after" descr="Input evidence only. Source: code\data\stage04_complex_conditions\paired_samples\000021_fog\complex\000021_fog.png; SHA256: 94098e4400d8f50bc7f5b3a5e3b50a3bda590248866e430c1551320c8521bea2. Render: byte_identical_copy_of_input_rgb. No detection boxes. No generated scene content."/>
          <p:cNvPicPr>
            <a:picLocks noChangeAspect="1"/>
          </p:cNvPicPr>
          <p:nvPr/>
        </p:nvPicPr>
        <p:blipFill>
          <a:blip r:embed="rId4"/>
          <a:stretch>
            <a:fillRect/>
          </a:stretch>
        </p:blipFill>
        <p:spPr>
          <a:xfrm>
            <a:off x="4648200" y="2717800"/>
            <a:ext cx="3276600" cy="986001"/>
          </a:xfrm>
          <a:prstGeom prst="rect">
            <a:avLst/>
          </a:prstGeom>
          <a:ln>
            <a:noFill/>
          </a:ln>
        </p:spPr>
      </p:pic>
      <p:sp>
        <p:nvSpPr>
          <p:cNvPr id="111" name="Condition 2"/>
          <p:cNvSpPr txBox="1"/>
          <p:nvPr/>
        </p:nvSpPr>
        <p:spPr>
          <a:xfrm>
            <a:off x="8178800" y="13208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运动模糊（水平模糊）</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12" name="Clean label 2"/>
          <p:cNvSpPr txBox="1"/>
          <p:nvPr/>
        </p:nvSpPr>
        <p:spPr>
          <a:xfrm>
            <a:off x="8178800" y="2029701"/>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13" name="Degraded label 2"/>
          <p:cNvSpPr txBox="1"/>
          <p:nvPr/>
        </p:nvSpPr>
        <p:spPr>
          <a:xfrm>
            <a:off x="8178800" y="3096501"/>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14" name="Input 000022_motion_blur before" descr="Input evidence only. Source: code\data\stage04_complex_conditions\paired_samples\000022_motion_blur\clean\000022.png; SHA256: b0aeb834e68edc1783f4dd1b620a0f6b7ae6b43ab33ec0b6358cdbd2fbe4c33b. Render: byte_identical_copy_of_input_rgb. No detection boxes. No generated scene content."/>
          <p:cNvPicPr>
            <a:picLocks noChangeAspect="1"/>
          </p:cNvPicPr>
          <p:nvPr/>
        </p:nvPicPr>
        <p:blipFill>
          <a:blip r:embed="rId5"/>
          <a:stretch>
            <a:fillRect/>
          </a:stretch>
        </p:blipFill>
        <p:spPr>
          <a:xfrm>
            <a:off x="8559800" y="1651000"/>
            <a:ext cx="3276600" cy="986001"/>
          </a:xfrm>
          <a:prstGeom prst="rect">
            <a:avLst/>
          </a:prstGeom>
          <a:ln>
            <a:noFill/>
          </a:ln>
        </p:spPr>
      </p:pic>
      <p:pic>
        <p:nvPicPr>
          <p:cNvPr id="115" name="Input 000022_motion_blur after" descr="Input evidence only. Source: code\data\stage04_complex_conditions\paired_samples\000022_motion_blur\complex\000022_motion_blur.png; SHA256: 945018d3ee59eb0f51feebb8b961a3b3399e938d68b45412a145fbcdaed495ca. Render: byte_identical_copy_of_input_rgb. No detection boxes. No generated scene content."/>
          <p:cNvPicPr>
            <a:picLocks noChangeAspect="1"/>
          </p:cNvPicPr>
          <p:nvPr/>
        </p:nvPicPr>
        <p:blipFill>
          <a:blip r:embed="rId6"/>
          <a:stretch>
            <a:fillRect/>
          </a:stretch>
        </p:blipFill>
        <p:spPr>
          <a:xfrm>
            <a:off x="8559800" y="2717800"/>
            <a:ext cx="3276600" cy="986001"/>
          </a:xfrm>
          <a:prstGeom prst="rect">
            <a:avLst/>
          </a:prstGeom>
          <a:ln>
            <a:noFill/>
          </a:ln>
        </p:spPr>
      </p:pic>
      <p:sp>
        <p:nvSpPr>
          <p:cNvPr id="116" name="Condition 3"/>
          <p:cNvSpPr txBox="1"/>
          <p:nvPr/>
        </p:nvSpPr>
        <p:spPr>
          <a:xfrm>
            <a:off x="355600" y="40132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图像噪声（像素加噪）</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17" name="Clean label 3"/>
          <p:cNvSpPr txBox="1"/>
          <p:nvPr/>
        </p:nvSpPr>
        <p:spPr>
          <a:xfrm>
            <a:off x="355600" y="4722101"/>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18" name="Degraded label 3"/>
          <p:cNvSpPr txBox="1"/>
          <p:nvPr/>
        </p:nvSpPr>
        <p:spPr>
          <a:xfrm>
            <a:off x="355600" y="5788901"/>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19" name="Input 000023_image_noise before" descr="Input evidence only. Source: code\data\stage04_complex_conditions\paired_samples\000023_image_noise\clean\000023.png; SHA256: c7cd94f8632af6681c6067bdbffc81a2e7fbd246a43cec583629833f6140e433. Render: byte_identical_copy_of_input_rgb. No detection boxes. No generated scene content."/>
          <p:cNvPicPr>
            <a:picLocks noChangeAspect="1"/>
          </p:cNvPicPr>
          <p:nvPr/>
        </p:nvPicPr>
        <p:blipFill>
          <a:blip r:embed="rId7"/>
          <a:stretch>
            <a:fillRect/>
          </a:stretch>
        </p:blipFill>
        <p:spPr>
          <a:xfrm>
            <a:off x="736600" y="4343400"/>
            <a:ext cx="3276600" cy="986001"/>
          </a:xfrm>
          <a:prstGeom prst="rect">
            <a:avLst/>
          </a:prstGeom>
          <a:ln>
            <a:noFill/>
          </a:ln>
        </p:spPr>
      </p:pic>
      <p:pic>
        <p:nvPicPr>
          <p:cNvPr id="120" name="Input 000023_image_noise after" descr="Input evidence only. Source: code\data\stage04_complex_conditions\paired_samples\000023_image_noise\complex\000023_image_noise.png; SHA256: 17cea22c843990577223aa82b604bf21be21e8a799cf2f6b8ce4e8cb820607cc. Render: byte_identical_copy_of_input_rgb. No detection boxes. No generated scene content."/>
          <p:cNvPicPr>
            <a:picLocks noChangeAspect="1"/>
          </p:cNvPicPr>
          <p:nvPr/>
        </p:nvPicPr>
        <p:blipFill>
          <a:blip r:embed="rId8"/>
          <a:stretch>
            <a:fillRect/>
          </a:stretch>
        </p:blipFill>
        <p:spPr>
          <a:xfrm>
            <a:off x="736600" y="5410200"/>
            <a:ext cx="3276600" cy="986001"/>
          </a:xfrm>
          <a:prstGeom prst="rect">
            <a:avLst/>
          </a:prstGeom>
          <a:ln>
            <a:noFill/>
          </a:ln>
        </p:spPr>
      </p:pic>
      <p:sp>
        <p:nvSpPr>
          <p:cNvPr id="121" name="Condition 4"/>
          <p:cNvSpPr txBox="1"/>
          <p:nvPr/>
        </p:nvSpPr>
        <p:spPr>
          <a:xfrm>
            <a:off x="4267200" y="40132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点云稀疏（随机删点）</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22" name="Clean label 4"/>
          <p:cNvSpPr txBox="1"/>
          <p:nvPr/>
        </p:nvSpPr>
        <p:spPr>
          <a:xfrm>
            <a:off x="4267200" y="4722514"/>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23" name="Degraded label 4"/>
          <p:cNvSpPr txBox="1"/>
          <p:nvPr/>
        </p:nvSpPr>
        <p:spPr>
          <a:xfrm>
            <a:off x="4267200" y="5789314"/>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24" name="Input 000024_lidar_sparse before" descr="Input evidence only. Source: code\data\stage04_complex_conditions\paired_samples\000024_lidar_sparse\clean\000024.bin; SHA256: 5a1f121c9bc94b92454257a1cdb3eecd08e1e5eec0fed8b7c7579a053558c7d7. Render: point_cloud_camera_projection_on_black. No detection boxes. No generated scene content."/>
          <p:cNvPicPr>
            <a:picLocks noChangeAspect="1"/>
          </p:cNvPicPr>
          <p:nvPr/>
        </p:nvPicPr>
        <p:blipFill>
          <a:blip r:embed="rId9"/>
          <a:stretch>
            <a:fillRect/>
          </a:stretch>
        </p:blipFill>
        <p:spPr>
          <a:xfrm>
            <a:off x="4648200" y="4343400"/>
            <a:ext cx="3276600" cy="986828"/>
          </a:xfrm>
          <a:prstGeom prst="rect">
            <a:avLst/>
          </a:prstGeom>
          <a:ln>
            <a:noFill/>
          </a:ln>
        </p:spPr>
      </p:pic>
      <p:pic>
        <p:nvPicPr>
          <p:cNvPr id="125" name="Input 000024_lidar_sparse after" descr="Input evidence only. Source: code\data\stage04_complex_conditions\paired_samples\000024_lidar_sparse\complex\000024_lidar_sparse.bin; SHA256: 692f9022d414b22f56f2c2802a79655d1aa9fcf534588bde0ca4a003bb8771d0. Render: point_cloud_camera_projection_on_black. No detection boxes. No generated scene content."/>
          <p:cNvPicPr>
            <a:picLocks noChangeAspect="1"/>
          </p:cNvPicPr>
          <p:nvPr/>
        </p:nvPicPr>
        <p:blipFill>
          <a:blip r:embed="rId10"/>
          <a:stretch>
            <a:fillRect/>
          </a:stretch>
        </p:blipFill>
        <p:spPr>
          <a:xfrm>
            <a:off x="4648200" y="5410200"/>
            <a:ext cx="3276600" cy="986828"/>
          </a:xfrm>
          <a:prstGeom prst="rect">
            <a:avLst/>
          </a:prstGeom>
          <a:ln>
            <a:noFill/>
          </a:ln>
        </p:spPr>
      </p:pic>
      <p:sp>
        <p:nvSpPr>
          <p:cNvPr id="126" name="Condition 5"/>
          <p:cNvSpPr txBox="1"/>
          <p:nvPr/>
        </p:nvSpPr>
        <p:spPr>
          <a:xfrm>
            <a:off x="8178800" y="4013200"/>
            <a:ext cx="3657600" cy="279400"/>
          </a:xfrm>
          <a:prstGeom prst="rect">
            <a:avLst/>
          </a:prstGeom>
          <a:noFill/>
          <a:ln>
            <a:noFill/>
          </a:ln>
        </p:spPr>
        <p:txBody>
          <a:bodyPr wrap="none" lIns="0" tIns="0" rIns="0" bIns="0" anchor="ctr">
            <a:noAutofit/>
          </a:bodyPr>
          <a:lstStyle/>
          <a:p>
            <a:pPr algn="l"/>
            <a:r>
              <a:rPr lang="zh-CN" sz="1550" b="1">
                <a:solidFill>
                  <a:srgbClr val="004A9F"/>
                </a:solidFill>
                <a:latin typeface="微软雅黑" panose="020B0503020204020204" pitchFamily="34" charset="-122"/>
                <a:ea typeface="微软雅黑" panose="020B0503020204020204" pitchFamily="34" charset="-122"/>
              </a:rPr>
              <a:t>点云扰动（坐标加噪）</a:t>
            </a:r>
            <a:endParaRPr lang="zh-CN" sz="1550" b="1">
              <a:solidFill>
                <a:srgbClr val="004A9F"/>
              </a:solidFill>
              <a:latin typeface="微软雅黑" panose="020B0503020204020204" pitchFamily="34" charset="-122"/>
              <a:ea typeface="微软雅黑" panose="020B0503020204020204" pitchFamily="34" charset="-122"/>
            </a:endParaRPr>
          </a:p>
        </p:txBody>
      </p:sp>
      <p:sp>
        <p:nvSpPr>
          <p:cNvPr id="127" name="Clean label 5"/>
          <p:cNvSpPr txBox="1"/>
          <p:nvPr/>
        </p:nvSpPr>
        <p:spPr>
          <a:xfrm>
            <a:off x="8178800" y="4722101"/>
            <a:ext cx="342900" cy="228600"/>
          </a:xfrm>
          <a:prstGeom prst="rect">
            <a:avLst/>
          </a:prstGeom>
          <a:noFill/>
          <a:ln>
            <a:noFill/>
          </a:ln>
        </p:spPr>
        <p:txBody>
          <a:bodyPr wrap="none" lIns="0" tIns="0" rIns="0" bIns="0" anchor="ctr">
            <a:noAutofit/>
          </a:bodyPr>
          <a:lstStyle/>
          <a:p>
            <a:pPr algn="l"/>
            <a:r>
              <a:rPr lang="zh-CN" sz="1050" b="0">
                <a:solidFill>
                  <a:srgbClr val="004A9F"/>
                </a:solidFill>
                <a:latin typeface="微软雅黑" panose="020B0503020204020204" pitchFamily="34" charset="-122"/>
                <a:ea typeface="微软雅黑" panose="020B0503020204020204" pitchFamily="34" charset="-122"/>
              </a:rPr>
              <a:t>原始</a:t>
            </a:r>
            <a:endParaRPr lang="zh-CN" sz="1050" b="0">
              <a:solidFill>
                <a:srgbClr val="004A9F"/>
              </a:solidFill>
              <a:latin typeface="微软雅黑" panose="020B0503020204020204" pitchFamily="34" charset="-122"/>
              <a:ea typeface="微软雅黑" panose="020B0503020204020204" pitchFamily="34" charset="-122"/>
            </a:endParaRPr>
          </a:p>
        </p:txBody>
      </p:sp>
      <p:sp>
        <p:nvSpPr>
          <p:cNvPr id="128" name="Degraded label 5"/>
          <p:cNvSpPr txBox="1"/>
          <p:nvPr/>
        </p:nvSpPr>
        <p:spPr>
          <a:xfrm>
            <a:off x="8178800" y="5788901"/>
            <a:ext cx="342900" cy="228600"/>
          </a:xfrm>
          <a:prstGeom prst="rect">
            <a:avLst/>
          </a:prstGeom>
          <a:noFill/>
          <a:ln>
            <a:noFill/>
          </a:ln>
        </p:spPr>
        <p:txBody>
          <a:bodyPr wrap="none" lIns="0" tIns="0" rIns="0" bIns="0" anchor="ctr">
            <a:noAutofit/>
          </a:bodyPr>
          <a:lstStyle/>
          <a:p>
            <a:pPr algn="l"/>
            <a:r>
              <a:rPr lang="zh-CN" sz="1050" b="0">
                <a:solidFill>
                  <a:srgbClr val="B5121B"/>
                </a:solidFill>
                <a:latin typeface="微软雅黑" panose="020B0503020204020204" pitchFamily="34" charset="-122"/>
                <a:ea typeface="微软雅黑" panose="020B0503020204020204" pitchFamily="34" charset="-122"/>
              </a:rPr>
              <a:t>退化</a:t>
            </a:r>
            <a:endParaRPr lang="zh-CN" sz="1050" b="0">
              <a:solidFill>
                <a:srgbClr val="B5121B"/>
              </a:solidFill>
              <a:latin typeface="微软雅黑" panose="020B0503020204020204" pitchFamily="34" charset="-122"/>
              <a:ea typeface="微软雅黑" panose="020B0503020204020204" pitchFamily="34" charset="-122"/>
            </a:endParaRPr>
          </a:p>
        </p:txBody>
      </p:sp>
      <p:pic>
        <p:nvPicPr>
          <p:cNvPr id="129" name="Input 000025_lidar_jitter before" descr="Input evidence only. Source: code\data\stage04_complex_conditions\paired_samples\000025_lidar_jitter\clean\000025.bin; SHA256: 285c582c17e32189ab224e68f7a86628c0063e19b14c0a255d0893dc9c28812c. Render: point_cloud_camera_projection_on_black. No detection boxes. No generated scene content."/>
          <p:cNvPicPr>
            <a:picLocks noChangeAspect="1"/>
          </p:cNvPicPr>
          <p:nvPr/>
        </p:nvPicPr>
        <p:blipFill>
          <a:blip r:embed="rId11"/>
          <a:stretch>
            <a:fillRect/>
          </a:stretch>
        </p:blipFill>
        <p:spPr>
          <a:xfrm>
            <a:off x="8559800" y="4343400"/>
            <a:ext cx="3276600" cy="986001"/>
          </a:xfrm>
          <a:prstGeom prst="rect">
            <a:avLst/>
          </a:prstGeom>
          <a:ln>
            <a:noFill/>
          </a:ln>
        </p:spPr>
      </p:pic>
      <p:pic>
        <p:nvPicPr>
          <p:cNvPr id="130" name="Input 000025_lidar_jitter after" descr="Input evidence only. Source: code\data\stage04_complex_conditions\paired_samples\000025_lidar_jitter\complex\000025_lidar_jitter.bin; SHA256: e0d670d6ad3f28870fafa8fe5e7c87257187beeba243018c3aae00aaa0083f44. Render: point_cloud_camera_projection_on_black. No detection boxes. No generated scene content."/>
          <p:cNvPicPr>
            <a:picLocks noChangeAspect="1"/>
          </p:cNvPicPr>
          <p:nvPr/>
        </p:nvPicPr>
        <p:blipFill>
          <a:blip r:embed="rId12"/>
          <a:stretch>
            <a:fillRect/>
          </a:stretch>
        </p:blipFill>
        <p:spPr>
          <a:xfrm>
            <a:off x="8559800" y="5410200"/>
            <a:ext cx="3276600" cy="986001"/>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02</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复杂工况实验数据与结论</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13</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100" name="Statistics subtitle"/>
          <p:cNvSpPr txBox="1"/>
          <p:nvPr/>
        </p:nvSpPr>
        <p:spPr>
          <a:xfrm>
            <a:off x="368300" y="939800"/>
            <a:ext cx="11455400" cy="266700"/>
          </a:xfrm>
          <a:prstGeom prst="rect">
            <a:avLst/>
          </a:prstGeom>
          <a:noFill/>
          <a:ln>
            <a:noFill/>
          </a:ln>
        </p:spPr>
        <p:txBody>
          <a:bodyPr wrap="none" lIns="0" tIns="0" rIns="0" bIns="0">
            <a:noAutofit/>
          </a:bodyPr>
          <a:lstStyle/>
          <a:p>
            <a:pPr>
              <a:lnSpc>
                <a:spcPts val="1800"/>
              </a:lnSpc>
            </a:pPr>
            <a:r>
              <a:rPr lang="zh-CN" sz="1200" b="0">
                <a:solidFill>
                  <a:srgbClr val="586674"/>
                </a:solidFill>
                <a:latin typeface="微软雅黑" panose="020B0503020204020204" pitchFamily="34" charset="-122"/>
                <a:ea typeface="微软雅黑" panose="020B0503020204020204" pitchFamily="34" charset="-122"/>
              </a:rPr>
              <a:t>MVX-Net检测统计，变化为退化输入减去干净输入</a:t>
            </a:r>
            <a:endParaRPr lang="zh-CN" sz="1200" b="0">
              <a:solidFill>
                <a:srgbClr val="586674"/>
              </a:solidFill>
              <a:latin typeface="微软雅黑" panose="020B0503020204020204" pitchFamily="34" charset="-122"/>
              <a:ea typeface="微软雅黑" panose="020B0503020204020204" pitchFamily="34" charset="-122"/>
            </a:endParaRPr>
          </a:p>
        </p:txBody>
      </p:sp>
      <p:graphicFrame>
        <p:nvGraphicFramePr>
          <p:cNvPr id="101" name="Complete experiment statistics table" descr="Six conditions with all four metrics. Each metric retains the original clean value, degraded value and displayed difference."/>
          <p:cNvGraphicFramePr>
            <a:graphicFrameLocks noGrp="1"/>
          </p:cNvGraphicFramePr>
          <p:nvPr/>
        </p:nvGraphicFramePr>
        <p:xfrm>
          <a:off x="355600" y="1320800"/>
          <a:ext cx="11480800" cy="3390900"/>
        </p:xfrm>
        <a:graphic>
          <a:graphicData uri="http://schemas.openxmlformats.org/drawingml/2006/table">
            <a:tbl>
              <a:tblPr firstRow="1"/>
              <a:tblGrid>
                <a:gridCol w="1270000"/>
                <a:gridCol w="850900"/>
                <a:gridCol w="850900"/>
                <a:gridCol w="850900"/>
                <a:gridCol w="850900"/>
                <a:gridCol w="850900"/>
                <a:gridCol w="850900"/>
                <a:gridCol w="850900"/>
                <a:gridCol w="850900"/>
                <a:gridCol w="850900"/>
                <a:gridCol w="850900"/>
                <a:gridCol w="850900"/>
                <a:gridCol w="850900"/>
              </a:tblGrid>
              <a:tr h="330200">
                <a:tc rowSpan="2">
                  <a:txBody>
                    <a:bodyPr/>
                    <a:lstStyle/>
                    <a:p>
                      <a:pPr algn="ctr"/>
                      <a:r>
                        <a:rPr lang="zh-CN" sz="1350" b="1">
                          <a:solidFill>
                            <a:srgbClr val="FFFFFF"/>
                          </a:solidFill>
                          <a:latin typeface="微软雅黑" panose="020B0503020204020204" pitchFamily="34" charset="-122"/>
                          <a:ea typeface="微软雅黑" panose="020B0503020204020204" pitchFamily="34" charset="-122"/>
                        </a:rPr>
                        <a:t>工况</a:t>
                      </a:r>
                      <a:endParaRPr lang="zh-CN" sz="1350" b="1">
                        <a:solidFill>
                          <a:srgbClr val="FFFFF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gridSpan="3">
                  <a:txBody>
                    <a:bodyPr/>
                    <a:lstStyle/>
                    <a:p>
                      <a:pPr algn="ctr"/>
                      <a:r>
                        <a:rPr lang="zh-CN" sz="1300" b="1">
                          <a:solidFill>
                            <a:srgbClr val="FFFFFF"/>
                          </a:solidFill>
                          <a:latin typeface="微软雅黑" panose="020B0503020204020204" pitchFamily="34" charset="-122"/>
                          <a:ea typeface="微软雅黑" panose="020B0503020204020204" pitchFamily="34" charset="-122"/>
                        </a:rPr>
                        <a:t>检测框数量</a:t>
                      </a:r>
                      <a:endParaRPr lang="zh-CN" sz="1300" b="1">
                        <a:solidFill>
                          <a:srgbClr val="FFFFF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gridSpan="3">
                  <a:txBody>
                    <a:bodyPr/>
                    <a:lstStyle/>
                    <a:p>
                      <a:pPr algn="ctr"/>
                      <a:r>
                        <a:rPr lang="zh-CN" sz="1300" b="1">
                          <a:solidFill>
                            <a:srgbClr val="FFFFFF"/>
                          </a:solidFill>
                          <a:latin typeface="微软雅黑" panose="020B0503020204020204" pitchFamily="34" charset="-122"/>
                          <a:ea typeface="微软雅黑" panose="020B0503020204020204" pitchFamily="34" charset="-122"/>
                        </a:rPr>
                        <a:t>平均置信度</a:t>
                      </a:r>
                      <a:endParaRPr lang="zh-CN" sz="1300" b="1">
                        <a:solidFill>
                          <a:srgbClr val="FFFFF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gridSpan="3">
                  <a:txBody>
                    <a:bodyPr/>
                    <a:lstStyle/>
                    <a:p>
                      <a:pPr algn="ctr"/>
                      <a:r>
                        <a:rPr lang="zh-CN" sz="1300" b="1">
                          <a:solidFill>
                            <a:srgbClr val="FFFFFF"/>
                          </a:solidFill>
                          <a:latin typeface="微软雅黑" panose="020B0503020204020204" pitchFamily="34" charset="-122"/>
                          <a:ea typeface="微软雅黑" panose="020B0503020204020204" pitchFamily="34" charset="-122"/>
                        </a:rPr>
                        <a:t>置信度≥0.5的框数</a:t>
                      </a:r>
                      <a:endParaRPr lang="zh-CN" sz="1300" b="1">
                        <a:solidFill>
                          <a:srgbClr val="FFFFF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gridSpan="3">
                  <a:txBody>
                    <a:bodyPr/>
                    <a:lstStyle/>
                    <a:p>
                      <a:pPr algn="ctr"/>
                      <a:r>
                        <a:rPr lang="zh-CN" sz="1300" b="1">
                          <a:solidFill>
                            <a:srgbClr val="FFFFFF"/>
                          </a:solidFill>
                          <a:latin typeface="微软雅黑" panose="020B0503020204020204" pitchFamily="34" charset="-122"/>
                          <a:ea typeface="微软雅黑" panose="020B0503020204020204" pitchFamily="34" charset="-122"/>
                        </a:rPr>
                        <a:t>置信度≥0.7的框数</a:t>
                      </a:r>
                      <a:endParaRPr lang="zh-CN" sz="1300" b="1">
                        <a:solidFill>
                          <a:srgbClr val="FFFFF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h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r>
              <a:tr h="317500">
                <a:tc vMerge="1">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004A9F"/>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干净</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退化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变化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干净</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退化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变化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干净</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退化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变化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干净</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退化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c>
                  <a:txBody>
                    <a:bodyPr/>
                    <a:lstStyle/>
                    <a:p>
                      <a:pPr algn="ctr"/>
                      <a:r>
                        <a:rPr lang="zh-CN" sz="1250" b="1">
                          <a:solidFill>
                            <a:srgbClr val="004A9F"/>
                          </a:solidFill>
                          <a:latin typeface="微软雅黑" panose="020B0503020204020204" pitchFamily="34" charset="-122"/>
                          <a:ea typeface="微软雅黑" panose="020B0503020204020204" pitchFamily="34" charset="-122"/>
                        </a:rPr>
                        <a:t>变化</a:t>
                      </a:r>
                      <a:endParaRPr lang="zh-CN" sz="1250" b="1">
                        <a:solidFill>
                          <a:srgbClr val="004A9F"/>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EAF2FA"/>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弱光</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0.64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0.59</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-0.05</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7</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7</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5</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5</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雾天</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0.53</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0.48</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-0.05</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7</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6</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5</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运动模糊</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0.38</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0.25</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-0.13</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图像噪声</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3</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0.30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0.32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+0.02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点云稀疏</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3</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0.55</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0.56</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+0.01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2</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-1</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FFFFF"/>
                    </a:solidFill>
                  </a:tcPr>
                </a:tc>
              </a:tr>
              <a:tr h="457200">
                <a:tc>
                  <a:txBody>
                    <a:bodyPr/>
                    <a:lstStyle/>
                    <a:p>
                      <a:pPr algn="ctr"/>
                      <a:r>
                        <a:rPr lang="zh-CN" sz="1400" b="1">
                          <a:solidFill>
                            <a:srgbClr val="18222D"/>
                          </a:solidFill>
                          <a:latin typeface="微软雅黑" panose="020B0503020204020204" pitchFamily="34" charset="-122"/>
                          <a:ea typeface="微软雅黑" panose="020B0503020204020204" pitchFamily="34" charset="-122"/>
                        </a:rPr>
                        <a:t>点云扰动</a:t>
                      </a:r>
                      <a:endParaRPr lang="zh-CN" sz="1400" b="1">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11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0.61</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0.33</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-0.28</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8</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3</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-5</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4</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18222D"/>
                          </a:solidFill>
                          <a:latin typeface="微软雅黑" panose="020B0503020204020204" pitchFamily="34" charset="-122"/>
                          <a:ea typeface="微软雅黑" panose="020B0503020204020204" pitchFamily="34" charset="-122"/>
                        </a:rPr>
                        <a:t>0</a:t>
                      </a:r>
                      <a:endParaRPr lang="zh-CN" sz="1400" b="0">
                        <a:solidFill>
                          <a:srgbClr val="18222D"/>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c>
                  <a:txBody>
                    <a:bodyPr/>
                    <a:lstStyle/>
                    <a:p>
                      <a:pPr algn="ctr"/>
                      <a:r>
                        <a:rPr lang="zh-CN" sz="1400" b="0">
                          <a:solidFill>
                            <a:srgbClr val="B5121B"/>
                          </a:solidFill>
                          <a:latin typeface="微软雅黑" panose="020B0503020204020204" pitchFamily="34" charset="-122"/>
                          <a:ea typeface="微软雅黑" panose="020B0503020204020204" pitchFamily="34" charset="-122"/>
                        </a:rPr>
                        <a:t>-4</a:t>
                      </a:r>
                      <a:endParaRPr lang="zh-CN" sz="1400" b="0">
                        <a:solidFill>
                          <a:srgbClr val="B5121B"/>
                        </a:solidFill>
                        <a:latin typeface="微软雅黑" panose="020B0503020204020204" pitchFamily="34" charset="-122"/>
                        <a:ea typeface="微软雅黑" panose="020B0503020204020204" pitchFamily="34" charset="-122"/>
                      </a:endParaRPr>
                    </a:p>
                  </a:txBody>
                  <a:tcPr marL="25400" marR="25400" marT="12700" marB="12700" anchor="ctr">
                    <a:lnL w="6350">
                      <a:solidFill>
                        <a:srgbClr val="D8E4EF"/>
                      </a:solidFill>
                      <a:prstDash val="solid"/>
                    </a:lnL>
                    <a:lnR w="6350">
                      <a:solidFill>
                        <a:srgbClr val="D8E4EF"/>
                      </a:solidFill>
                      <a:prstDash val="solid"/>
                    </a:lnR>
                    <a:lnT w="6350">
                      <a:solidFill>
                        <a:srgbClr val="D8E4EF"/>
                      </a:solidFill>
                      <a:prstDash val="solid"/>
                    </a:lnT>
                    <a:lnB w="6350">
                      <a:solidFill>
                        <a:srgbClr val="D8E4EF"/>
                      </a:solidFill>
                      <a:prstDash val="solid"/>
                    </a:lnB>
                    <a:solidFill>
                      <a:srgbClr val="F4F8FC"/>
                    </a:solidFill>
                  </a:tcPr>
                </a:tc>
              </a:tr>
            </a:tbl>
          </a:graphicData>
        </a:graphic>
      </p:graphicFrame>
      <p:sp>
        <p:nvSpPr>
          <p:cNvPr id="102" name="Observed changes heading"/>
          <p:cNvSpPr txBox="1"/>
          <p:nvPr/>
        </p:nvSpPr>
        <p:spPr>
          <a:xfrm>
            <a:off x="368300" y="5067300"/>
            <a:ext cx="5461000" cy="304800"/>
          </a:xfrm>
          <a:prstGeom prst="rect">
            <a:avLst/>
          </a:prstGeom>
          <a:noFill/>
          <a:ln>
            <a:noFill/>
          </a:ln>
        </p:spPr>
        <p:txBody>
          <a:bodyPr wrap="none" lIns="0" tIns="0" rIns="0" bIns="0">
            <a:noAutofit/>
          </a:bodyPr>
          <a:lstStyle/>
          <a:p>
            <a:pPr>
              <a:lnSpc>
                <a:spcPts val="1800"/>
              </a:lnSpc>
            </a:pPr>
            <a:r>
              <a:rPr lang="zh-CN" sz="1600" b="1">
                <a:solidFill>
                  <a:srgbClr val="004A9F"/>
                </a:solidFill>
                <a:latin typeface="微软雅黑" panose="020B0503020204020204" pitchFamily="34" charset="-122"/>
                <a:ea typeface="微软雅黑" panose="020B0503020204020204" pitchFamily="34" charset="-122"/>
              </a:rPr>
              <a:t>实验现象</a:t>
            </a:r>
            <a:endParaRPr lang="zh-CN" sz="1600" b="1">
              <a:solidFill>
                <a:srgbClr val="004A9F"/>
              </a:solidFill>
              <a:latin typeface="微软雅黑" panose="020B0503020204020204" pitchFamily="34" charset="-122"/>
              <a:ea typeface="微软雅黑" panose="020B0503020204020204" pitchFamily="34" charset="-122"/>
            </a:endParaRPr>
          </a:p>
        </p:txBody>
      </p:sp>
      <p:sp>
        <p:nvSpPr>
          <p:cNvPr id="103" name="Observed changes"/>
          <p:cNvSpPr txBox="1"/>
          <p:nvPr/>
        </p:nvSpPr>
        <p:spPr>
          <a:xfrm>
            <a:off x="368300" y="5486400"/>
            <a:ext cx="5461000" cy="647700"/>
          </a:xfrm>
          <a:prstGeom prst="rect">
            <a:avLst/>
          </a:prstGeom>
          <a:noFill/>
          <a:ln>
            <a:noFill/>
          </a:ln>
        </p:spPr>
        <p:txBody>
          <a:bodyPr wrap="none" lIns="0" tIns="0" rIns="0" bIns="0">
            <a:noAutofit/>
          </a:bodyPr>
          <a:lstStyle/>
          <a:p>
            <a:pPr>
              <a:lnSpc>
                <a:spcPts val="1800"/>
              </a:lnSpc>
            </a:pPr>
            <a:r>
              <a:rPr lang="zh-CN" sz="1300" b="0">
                <a:solidFill>
                  <a:srgbClr val="18222D"/>
                </a:solidFill>
                <a:latin typeface="微软雅黑" panose="020B0503020204020204" pitchFamily="34" charset="-122"/>
                <a:ea typeface="微软雅黑" panose="020B0503020204020204" pitchFamily="34" charset="-122"/>
              </a:rPr>
              <a:t>平均置信度下降，高置信度检测框减少。</a:t>
            </a:r>
            <a:endParaRPr lang="zh-CN" sz="1300" b="0">
              <a:solidFill>
                <a:srgbClr val="18222D"/>
              </a:solidFill>
              <a:latin typeface="微软雅黑" panose="020B0503020204020204" pitchFamily="34" charset="-122"/>
              <a:ea typeface="微软雅黑" panose="020B0503020204020204" pitchFamily="34" charset="-122"/>
            </a:endParaRPr>
          </a:p>
          <a:p>
            <a:pPr>
              <a:lnSpc>
                <a:spcPts val="1800"/>
              </a:lnSpc>
            </a:pPr>
            <a:r>
              <a:rPr lang="zh-CN" sz="1300" b="0">
                <a:solidFill>
                  <a:srgbClr val="18222D"/>
                </a:solidFill>
                <a:latin typeface="微软雅黑" panose="020B0503020204020204" pitchFamily="34" charset="-122"/>
                <a:ea typeface="微软雅黑" panose="020B0503020204020204" pitchFamily="34" charset="-122"/>
              </a:rPr>
              <a:t>检测框数量减少，检测输出出现缺失。</a:t>
            </a:r>
            <a:endParaRPr lang="zh-CN" sz="1300" b="0">
              <a:solidFill>
                <a:srgbClr val="18222D"/>
              </a:solidFill>
              <a:latin typeface="微软雅黑" panose="020B0503020204020204" pitchFamily="34" charset="-122"/>
              <a:ea typeface="微软雅黑" panose="020B0503020204020204" pitchFamily="34" charset="-122"/>
            </a:endParaRPr>
          </a:p>
        </p:txBody>
      </p:sp>
      <p:sp>
        <p:nvSpPr>
          <p:cNvPr id="104" name="Conclusion heading"/>
          <p:cNvSpPr txBox="1"/>
          <p:nvPr/>
        </p:nvSpPr>
        <p:spPr>
          <a:xfrm>
            <a:off x="6375400" y="5067300"/>
            <a:ext cx="5461000" cy="304800"/>
          </a:xfrm>
          <a:prstGeom prst="rect">
            <a:avLst/>
          </a:prstGeom>
          <a:noFill/>
          <a:ln>
            <a:noFill/>
          </a:ln>
        </p:spPr>
        <p:txBody>
          <a:bodyPr wrap="none" lIns="0" tIns="0" rIns="0" bIns="0">
            <a:noAutofit/>
          </a:bodyPr>
          <a:lstStyle/>
          <a:p>
            <a:pPr>
              <a:lnSpc>
                <a:spcPts val="1800"/>
              </a:lnSpc>
            </a:pPr>
            <a:r>
              <a:rPr lang="zh-CN" sz="1600" b="1">
                <a:solidFill>
                  <a:srgbClr val="004A9F"/>
                </a:solidFill>
                <a:latin typeface="微软雅黑" panose="020B0503020204020204" pitchFamily="34" charset="-122"/>
                <a:ea typeface="微软雅黑" panose="020B0503020204020204" pitchFamily="34" charset="-122"/>
              </a:rPr>
              <a:t>结论</a:t>
            </a:r>
            <a:endParaRPr lang="zh-CN" sz="1600" b="1">
              <a:solidFill>
                <a:srgbClr val="004A9F"/>
              </a:solidFill>
              <a:latin typeface="微软雅黑" panose="020B0503020204020204" pitchFamily="34" charset="-122"/>
              <a:ea typeface="微软雅黑" panose="020B0503020204020204" pitchFamily="34" charset="-122"/>
            </a:endParaRPr>
          </a:p>
        </p:txBody>
      </p:sp>
      <p:sp>
        <p:nvSpPr>
          <p:cNvPr id="105" name="Conclusion"/>
          <p:cNvSpPr txBox="1"/>
          <p:nvPr/>
        </p:nvSpPr>
        <p:spPr>
          <a:xfrm>
            <a:off x="6375400" y="5486400"/>
            <a:ext cx="5461000" cy="647700"/>
          </a:xfrm>
          <a:prstGeom prst="rect">
            <a:avLst/>
          </a:prstGeom>
          <a:noFill/>
          <a:ln>
            <a:noFill/>
          </a:ln>
        </p:spPr>
        <p:txBody>
          <a:bodyPr wrap="none" lIns="0" tIns="0" rIns="0" bIns="0">
            <a:noAutofit/>
          </a:bodyPr>
          <a:lstStyle/>
          <a:p>
            <a:pPr>
              <a:lnSpc>
                <a:spcPts val="1800"/>
              </a:lnSpc>
            </a:pPr>
            <a:r>
              <a:rPr lang="zh-CN" sz="1300" b="0">
                <a:solidFill>
                  <a:srgbClr val="18222D"/>
                </a:solidFill>
                <a:latin typeface="微软雅黑" panose="020B0503020204020204" pitchFamily="34" charset="-122"/>
                <a:ea typeface="微软雅黑" panose="020B0503020204020204" pitchFamily="34" charset="-122"/>
              </a:rPr>
              <a:t>输入退化影响融合检测输出，需提高检测稳定性。</a:t>
            </a:r>
            <a:endParaRPr lang="zh-CN" sz="1300" b="0">
              <a:solidFill>
                <a:srgbClr val="18222D"/>
              </a:solidFill>
              <a:latin typeface="微软雅黑" panose="020B0503020204020204" pitchFamily="34" charset="-122"/>
              <a:ea typeface="微软雅黑" panose="020B0503020204020204" pitchFamily="34" charset="-122"/>
            </a:endParaRPr>
          </a:p>
          <a:p>
            <a:pPr>
              <a:lnSpc>
                <a:spcPts val="1800"/>
              </a:lnSpc>
            </a:pPr>
            <a:r>
              <a:rPr lang="zh-CN" sz="1300" b="0">
                <a:solidFill>
                  <a:srgbClr val="18222D"/>
                </a:solidFill>
                <a:latin typeface="微软雅黑" panose="020B0503020204020204" pitchFamily="34" charset="-122"/>
                <a:ea typeface="微软雅黑" panose="020B0503020204020204" pitchFamily="34" charset="-122"/>
              </a:rPr>
              <a:t>后续根据图像与点云质量调节融合贡献。</a:t>
            </a:r>
            <a:endParaRPr lang="zh-CN" sz="1300" b="0">
              <a:solidFill>
                <a:srgbClr val="18222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 name="Problem mapping 201"/>
          <p:cNvSpPr txBox="1"/>
          <p:nvPr/>
        </p:nvSpPr>
        <p:spPr>
          <a:xfrm>
            <a:off x="361950" y="190500"/>
            <a:ext cx="609600" cy="428625"/>
          </a:xfrm>
          <a:prstGeom prst="rect">
            <a:avLst/>
          </a:prstGeom>
          <a:noFill/>
          <a:ln w="9525">
            <a:noFill/>
          </a:ln>
        </p:spPr>
        <p:txBody>
          <a:bodyPr wrap="square" lIns="0" tIns="0" rIns="0" bIns="0" anchor="ctr">
            <a:noAutofit/>
          </a:bodyPr>
          <a:lstStyle/>
          <a:p>
            <a:pPr algn="l">
              <a:lnSpc>
                <a:spcPct val="115000"/>
              </a:lnSpc>
              <a:buNone/>
            </a:pPr>
            <a:r>
              <a:rPr lang="zh-CN" sz="2800" b="1">
                <a:solidFill>
                  <a:srgbClr val="004A9F"/>
                </a:solidFill>
                <a:latin typeface="微软雅黑" panose="020B0503020204020204" pitchFamily="34" charset="-122"/>
                <a:ea typeface="微软雅黑" panose="020B0503020204020204" pitchFamily="34" charset="-122"/>
              </a:rPr>
              <a:t>03</a:t>
            </a:r>
            <a:endParaRPr lang="zh-CN" sz="2800" b="1">
              <a:solidFill>
                <a:srgbClr val="004A9F"/>
              </a:solidFill>
              <a:latin typeface="微软雅黑" panose="020B0503020204020204" pitchFamily="34" charset="-122"/>
              <a:ea typeface="微软雅黑" panose="020B0503020204020204" pitchFamily="34" charset="-122"/>
            </a:endParaRPr>
          </a:p>
        </p:txBody>
      </p:sp>
      <p:sp>
        <p:nvSpPr>
          <p:cNvPr id="202" name="Editable rule"/>
          <p:cNvSpPr/>
          <p:nvPr/>
        </p:nvSpPr>
        <p:spPr>
          <a:xfrm>
            <a:off x="1085850" y="257175"/>
            <a:ext cx="0" cy="323850"/>
          </a:xfrm>
          <a:prstGeom prst="line">
            <a:avLst/>
          </a:prstGeom>
          <a:ln w="7620">
            <a:solidFill>
              <a:srgbClr val="B6D2EB"/>
            </a:solidFill>
          </a:ln>
        </p:spPr>
      </p:sp>
      <p:sp>
        <p:nvSpPr>
          <p:cNvPr id="203" name="Problem mapping 203"/>
          <p:cNvSpPr txBox="1"/>
          <p:nvPr/>
        </p:nvSpPr>
        <p:spPr>
          <a:xfrm>
            <a:off x="1362075" y="190500"/>
            <a:ext cx="10477500" cy="428625"/>
          </a:xfrm>
          <a:prstGeom prst="rect">
            <a:avLst/>
          </a:prstGeom>
          <a:noFill/>
          <a:ln w="9525">
            <a:noFill/>
          </a:ln>
        </p:spPr>
        <p:txBody>
          <a:bodyPr wrap="square" lIns="0" tIns="0" rIns="0" bIns="0" anchor="ctr">
            <a:noAutofit/>
          </a:bodyPr>
          <a:lstStyle/>
          <a:p>
            <a:pPr algn="l">
              <a:lnSpc>
                <a:spcPct val="115000"/>
              </a:lnSpc>
              <a:buNone/>
            </a:pPr>
            <a:r>
              <a:rPr lang="zh-CN" sz="2600" b="1">
                <a:solidFill>
                  <a:srgbClr val="18222D"/>
                </a:solidFill>
                <a:latin typeface="微软雅黑" panose="020B0503020204020204" pitchFamily="34" charset="-122"/>
                <a:ea typeface="微软雅黑" panose="020B0503020204020204" pitchFamily="34" charset="-122"/>
              </a:rPr>
              <a:t>现有研究与实验暴露的问题</a:t>
            </a:r>
            <a:endParaRPr lang="zh-CN" sz="2600" b="1">
              <a:solidFill>
                <a:srgbClr val="18222D"/>
              </a:solidFill>
              <a:latin typeface="微软雅黑" panose="020B0503020204020204" pitchFamily="34" charset="-122"/>
              <a:ea typeface="微软雅黑" panose="020B0503020204020204" pitchFamily="34" charset="-122"/>
            </a:endParaRPr>
          </a:p>
        </p:txBody>
      </p:sp>
      <p:sp>
        <p:nvSpPr>
          <p:cNvPr id="204" name="Editable rule"/>
          <p:cNvSpPr/>
          <p:nvPr/>
        </p:nvSpPr>
        <p:spPr>
          <a:xfrm>
            <a:off x="361950" y="733425"/>
            <a:ext cx="11468100" cy="0"/>
          </a:xfrm>
          <a:prstGeom prst="line">
            <a:avLst/>
          </a:prstGeom>
          <a:ln w="7620">
            <a:solidFill>
              <a:srgbClr val="B6D2EB"/>
            </a:solidFill>
          </a:ln>
        </p:spPr>
      </p:sp>
      <p:sp>
        <p:nvSpPr>
          <p:cNvPr id="205" name="Editable rule"/>
          <p:cNvSpPr/>
          <p:nvPr/>
        </p:nvSpPr>
        <p:spPr>
          <a:xfrm>
            <a:off x="4105275" y="1181100"/>
            <a:ext cx="0" cy="5181600"/>
          </a:xfrm>
          <a:prstGeom prst="line">
            <a:avLst/>
          </a:prstGeom>
          <a:ln w="7620">
            <a:solidFill>
              <a:srgbClr val="D7E5EF"/>
            </a:solidFill>
            <a:prstDash val="dash"/>
          </a:ln>
        </p:spPr>
      </p:sp>
      <p:sp>
        <p:nvSpPr>
          <p:cNvPr id="206" name="Editable rule"/>
          <p:cNvSpPr/>
          <p:nvPr/>
        </p:nvSpPr>
        <p:spPr>
          <a:xfrm>
            <a:off x="8086725" y="1181100"/>
            <a:ext cx="0" cy="5181600"/>
          </a:xfrm>
          <a:prstGeom prst="line">
            <a:avLst/>
          </a:prstGeom>
          <a:ln w="7620">
            <a:solidFill>
              <a:srgbClr val="D7E5EF"/>
            </a:solidFill>
            <a:prstDash val="dash"/>
          </a:ln>
        </p:spPr>
      </p:sp>
      <p:sp>
        <p:nvSpPr>
          <p:cNvPr id="207" name="Problem mapping 207"/>
          <p:cNvSpPr txBox="1"/>
          <p:nvPr/>
        </p:nvSpPr>
        <p:spPr>
          <a:xfrm>
            <a:off x="428625" y="1143000"/>
            <a:ext cx="457200" cy="457200"/>
          </a:xfrm>
          <a:prstGeom prst="ellipse">
            <a:avLst/>
          </a:prstGeom>
          <a:solidFill>
            <a:srgbClr val="004A9F"/>
          </a:solidFill>
          <a:ln w="9525">
            <a:noFill/>
          </a:ln>
        </p:spPr>
      </p:sp>
      <p:sp>
        <p:nvSpPr>
          <p:cNvPr id="208" name="Problem mapping 208"/>
          <p:cNvSpPr txBox="1"/>
          <p:nvPr/>
        </p:nvSpPr>
        <p:spPr>
          <a:xfrm>
            <a:off x="428625" y="1152525"/>
            <a:ext cx="457200" cy="438150"/>
          </a:xfrm>
          <a:prstGeom prst="rect">
            <a:avLst/>
          </a:prstGeom>
          <a:noFill/>
          <a:ln w="9525">
            <a:noFill/>
          </a:ln>
        </p:spPr>
        <p:txBody>
          <a:bodyPr wrap="square" lIns="0" tIns="0" rIns="0" bIns="0" anchor="ctr">
            <a:noAutofit/>
          </a:bodyPr>
          <a:lstStyle/>
          <a:p>
            <a:pPr algn="ctr">
              <a:lnSpc>
                <a:spcPct val="115000"/>
              </a:lnSpc>
              <a:buNone/>
            </a:pPr>
            <a:r>
              <a:rPr lang="zh-CN" sz="2100" b="1">
                <a:solidFill>
                  <a:srgbClr val="FFFFFF"/>
                </a:solidFill>
                <a:latin typeface="微软雅黑" panose="020B0503020204020204" pitchFamily="34" charset="-122"/>
                <a:ea typeface="微软雅黑" panose="020B0503020204020204" pitchFamily="34" charset="-122"/>
              </a:rPr>
              <a:t>01</a:t>
            </a:r>
            <a:endParaRPr lang="zh-CN" sz="2100" b="1">
              <a:solidFill>
                <a:srgbClr val="FFFFFF"/>
              </a:solidFill>
              <a:latin typeface="微软雅黑" panose="020B0503020204020204" pitchFamily="34" charset="-122"/>
              <a:ea typeface="微软雅黑" panose="020B0503020204020204" pitchFamily="34" charset="-122"/>
            </a:endParaRPr>
          </a:p>
        </p:txBody>
      </p:sp>
      <p:sp>
        <p:nvSpPr>
          <p:cNvPr id="209" name="Problem mapping 209"/>
          <p:cNvSpPr txBox="1"/>
          <p:nvPr/>
        </p:nvSpPr>
        <p:spPr>
          <a:xfrm>
            <a:off x="1009650" y="1343025"/>
            <a:ext cx="276225" cy="28575"/>
          </a:xfrm>
          <a:prstGeom prst="rect">
            <a:avLst/>
          </a:prstGeom>
          <a:solidFill>
            <a:srgbClr val="B6D2EB"/>
          </a:solidFill>
          <a:ln w="9525">
            <a:noFill/>
          </a:ln>
        </p:spPr>
      </p:sp>
      <p:sp>
        <p:nvSpPr>
          <p:cNvPr id="210" name="Problem mapping 210"/>
          <p:cNvSpPr txBox="1"/>
          <p:nvPr/>
        </p:nvSpPr>
        <p:spPr>
          <a:xfrm>
            <a:off x="428625" y="1704975"/>
            <a:ext cx="3381375" cy="762000"/>
          </a:xfrm>
          <a:prstGeom prst="rect">
            <a:avLst/>
          </a:prstGeom>
          <a:noFill/>
          <a:ln w="9525">
            <a:noFill/>
          </a:ln>
        </p:spPr>
        <p:txBody>
          <a:bodyPr wrap="square" lIns="0" tIns="0" rIns="0" bIns="0" anchor="ctr">
            <a:noAutofit/>
          </a:bodyPr>
          <a:lstStyle/>
          <a:p>
            <a:pPr algn="l">
              <a:lnSpc>
                <a:spcPct val="115000"/>
              </a:lnSpc>
              <a:buNone/>
            </a:pPr>
            <a:r>
              <a:rPr lang="zh-CN" sz="2300" b="1">
                <a:solidFill>
                  <a:srgbClr val="004A9F"/>
                </a:solidFill>
                <a:latin typeface="微软雅黑" panose="020B0503020204020204" pitchFamily="34" charset="-122"/>
                <a:ea typeface="微软雅黑" panose="020B0503020204020204" pitchFamily="34" charset="-122"/>
              </a:rPr>
              <a:t>复杂工况数据覆盖</a:t>
            </a:r>
            <a:endParaRPr lang="zh-CN" sz="2300" b="1">
              <a:solidFill>
                <a:srgbClr val="004A9F"/>
              </a:solidFill>
              <a:latin typeface="微软雅黑" panose="020B0503020204020204" pitchFamily="34" charset="-122"/>
              <a:ea typeface="微软雅黑" panose="020B0503020204020204" pitchFamily="34" charset="-122"/>
            </a:endParaRPr>
          </a:p>
          <a:p>
            <a:pPr algn="l">
              <a:lnSpc>
                <a:spcPct val="115000"/>
              </a:lnSpc>
              <a:buNone/>
            </a:pPr>
            <a:r>
              <a:rPr lang="zh-CN" sz="2300" b="1">
                <a:solidFill>
                  <a:srgbClr val="004A9F"/>
                </a:solidFill>
                <a:latin typeface="微软雅黑" panose="020B0503020204020204" pitchFamily="34" charset="-122"/>
                <a:ea typeface="微软雅黑" panose="020B0503020204020204" pitchFamily="34" charset="-122"/>
              </a:rPr>
              <a:t>与退化分析不足</a:t>
            </a:r>
            <a:endParaRPr lang="zh-CN" sz="2300" b="1">
              <a:solidFill>
                <a:srgbClr val="004A9F"/>
              </a:solidFill>
              <a:latin typeface="微软雅黑" panose="020B0503020204020204" pitchFamily="34" charset="-122"/>
              <a:ea typeface="微软雅黑" panose="020B0503020204020204" pitchFamily="34" charset="-122"/>
            </a:endParaRPr>
          </a:p>
        </p:txBody>
      </p:sp>
      <p:sp>
        <p:nvSpPr>
          <p:cNvPr id="211" name="Problem mapping 211"/>
          <p:cNvSpPr txBox="1"/>
          <p:nvPr/>
        </p:nvSpPr>
        <p:spPr>
          <a:xfrm>
            <a:off x="457200" y="5334000"/>
            <a:ext cx="3514725" cy="962025"/>
          </a:xfrm>
          <a:prstGeom prst="rect">
            <a:avLst/>
          </a:prstGeom>
          <a:noFill/>
          <a:ln w="9525">
            <a:noFill/>
          </a:ln>
        </p:spPr>
        <p:txBody>
          <a:bodyPr wrap="square" lIns="0" tIns="0" rIns="0" bIns="0" anchor="ctr">
            <a:noAutofit/>
          </a:bodyPr>
          <a:lstStyle/>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前期样例少、退化方式简单，</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尚需覆盖更多场景与退化强度，</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系统分析图像和点云的变化。</a:t>
            </a:r>
            <a:endParaRPr lang="zh-CN" sz="1600" b="0">
              <a:solidFill>
                <a:srgbClr val="26313D"/>
              </a:solidFill>
              <a:latin typeface="微软雅黑" panose="020B0503020204020204" pitchFamily="34" charset="-122"/>
              <a:ea typeface="微软雅黑" panose="020B0503020204020204" pitchFamily="34" charset="-122"/>
            </a:endParaRPr>
          </a:p>
        </p:txBody>
      </p:sp>
      <p:sp>
        <p:nvSpPr>
          <p:cNvPr id="212" name="Problem mapping 212"/>
          <p:cNvSpPr txBox="1"/>
          <p:nvPr/>
        </p:nvSpPr>
        <p:spPr>
          <a:xfrm>
            <a:off x="4429125" y="1143000"/>
            <a:ext cx="457200" cy="457200"/>
          </a:xfrm>
          <a:prstGeom prst="ellipse">
            <a:avLst/>
          </a:prstGeom>
          <a:solidFill>
            <a:srgbClr val="008C89"/>
          </a:solidFill>
          <a:ln w="9525">
            <a:noFill/>
          </a:ln>
        </p:spPr>
      </p:sp>
      <p:sp>
        <p:nvSpPr>
          <p:cNvPr id="213" name="Problem mapping 213"/>
          <p:cNvSpPr txBox="1"/>
          <p:nvPr/>
        </p:nvSpPr>
        <p:spPr>
          <a:xfrm>
            <a:off x="4429125" y="1152525"/>
            <a:ext cx="457200" cy="438150"/>
          </a:xfrm>
          <a:prstGeom prst="rect">
            <a:avLst/>
          </a:prstGeom>
          <a:noFill/>
          <a:ln w="9525">
            <a:noFill/>
          </a:ln>
        </p:spPr>
        <p:txBody>
          <a:bodyPr wrap="square" lIns="0" tIns="0" rIns="0" bIns="0" anchor="ctr">
            <a:noAutofit/>
          </a:bodyPr>
          <a:lstStyle/>
          <a:p>
            <a:pPr algn="ctr">
              <a:lnSpc>
                <a:spcPct val="115000"/>
              </a:lnSpc>
              <a:buNone/>
            </a:pPr>
            <a:r>
              <a:rPr lang="zh-CN" sz="2100" b="1">
                <a:solidFill>
                  <a:srgbClr val="FFFFFF"/>
                </a:solidFill>
                <a:latin typeface="微软雅黑" panose="020B0503020204020204" pitchFamily="34" charset="-122"/>
                <a:ea typeface="微软雅黑" panose="020B0503020204020204" pitchFamily="34" charset="-122"/>
              </a:rPr>
              <a:t>02</a:t>
            </a:r>
            <a:endParaRPr lang="zh-CN" sz="2100" b="1">
              <a:solidFill>
                <a:srgbClr val="FFFFFF"/>
              </a:solidFill>
              <a:latin typeface="微软雅黑" panose="020B0503020204020204" pitchFamily="34" charset="-122"/>
              <a:ea typeface="微软雅黑" panose="020B0503020204020204" pitchFamily="34" charset="-122"/>
            </a:endParaRPr>
          </a:p>
        </p:txBody>
      </p:sp>
      <p:sp>
        <p:nvSpPr>
          <p:cNvPr id="214" name="Problem mapping 214"/>
          <p:cNvSpPr txBox="1"/>
          <p:nvPr/>
        </p:nvSpPr>
        <p:spPr>
          <a:xfrm>
            <a:off x="5010150" y="1343025"/>
            <a:ext cx="276225" cy="28575"/>
          </a:xfrm>
          <a:prstGeom prst="rect">
            <a:avLst/>
          </a:prstGeom>
          <a:solidFill>
            <a:srgbClr val="ACDDE0"/>
          </a:solidFill>
          <a:ln w="9525">
            <a:noFill/>
          </a:ln>
        </p:spPr>
      </p:sp>
      <p:sp>
        <p:nvSpPr>
          <p:cNvPr id="215" name="Problem mapping 215"/>
          <p:cNvSpPr txBox="1"/>
          <p:nvPr/>
        </p:nvSpPr>
        <p:spPr>
          <a:xfrm>
            <a:off x="4429125" y="1704975"/>
            <a:ext cx="3381375" cy="762000"/>
          </a:xfrm>
          <a:prstGeom prst="rect">
            <a:avLst/>
          </a:prstGeom>
          <a:noFill/>
          <a:ln w="9525">
            <a:noFill/>
          </a:ln>
        </p:spPr>
        <p:txBody>
          <a:bodyPr wrap="square" lIns="0" tIns="0" rIns="0" bIns="0" anchor="ctr">
            <a:noAutofit/>
          </a:bodyPr>
          <a:lstStyle/>
          <a:p>
            <a:pPr algn="l">
              <a:lnSpc>
                <a:spcPct val="115000"/>
              </a:lnSpc>
              <a:buNone/>
            </a:pPr>
            <a:r>
              <a:rPr lang="zh-CN" sz="2300" b="1">
                <a:solidFill>
                  <a:srgbClr val="008C89"/>
                </a:solidFill>
                <a:latin typeface="微软雅黑" panose="020B0503020204020204" pitchFamily="34" charset="-122"/>
                <a:ea typeface="微软雅黑" panose="020B0503020204020204" pitchFamily="34" charset="-122"/>
              </a:rPr>
              <a:t>退化输入下融合</a:t>
            </a:r>
            <a:endParaRPr lang="zh-CN" sz="2300" b="1">
              <a:solidFill>
                <a:srgbClr val="008C89"/>
              </a:solidFill>
              <a:latin typeface="微软雅黑" panose="020B0503020204020204" pitchFamily="34" charset="-122"/>
              <a:ea typeface="微软雅黑" panose="020B0503020204020204" pitchFamily="34" charset="-122"/>
            </a:endParaRPr>
          </a:p>
          <a:p>
            <a:pPr algn="l">
              <a:lnSpc>
                <a:spcPct val="115000"/>
              </a:lnSpc>
              <a:buNone/>
            </a:pPr>
            <a:r>
              <a:rPr lang="zh-CN" sz="2300" b="1">
                <a:solidFill>
                  <a:srgbClr val="008C89"/>
                </a:solidFill>
                <a:latin typeface="微软雅黑" panose="020B0503020204020204" pitchFamily="34" charset="-122"/>
                <a:ea typeface="微软雅黑" panose="020B0503020204020204" pitchFamily="34" charset="-122"/>
              </a:rPr>
              <a:t>检测稳定性不足</a:t>
            </a:r>
            <a:endParaRPr lang="zh-CN" sz="2300" b="1">
              <a:solidFill>
                <a:srgbClr val="008C89"/>
              </a:solidFill>
              <a:latin typeface="微软雅黑" panose="020B0503020204020204" pitchFamily="34" charset="-122"/>
              <a:ea typeface="微软雅黑" panose="020B0503020204020204" pitchFamily="34" charset="-122"/>
            </a:endParaRPr>
          </a:p>
        </p:txBody>
      </p:sp>
      <p:sp>
        <p:nvSpPr>
          <p:cNvPr id="216" name="Problem mapping 216"/>
          <p:cNvSpPr txBox="1"/>
          <p:nvPr/>
        </p:nvSpPr>
        <p:spPr>
          <a:xfrm>
            <a:off x="4457700" y="5334000"/>
            <a:ext cx="3514725" cy="962025"/>
          </a:xfrm>
          <a:prstGeom prst="rect">
            <a:avLst/>
          </a:prstGeom>
          <a:noFill/>
          <a:ln w="9525">
            <a:noFill/>
          </a:ln>
        </p:spPr>
        <p:txBody>
          <a:bodyPr wrap="square" lIns="0" tIns="0" rIns="0" bIns="0" anchor="ctr">
            <a:noAutofit/>
          </a:bodyPr>
          <a:lstStyle/>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输入退化后，高置信度检测框</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减少、检测输出出现缺失，</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融合对质量变化的适应性仍需提高。</a:t>
            </a:r>
            <a:endParaRPr lang="zh-CN" sz="1600" b="0">
              <a:solidFill>
                <a:srgbClr val="26313D"/>
              </a:solidFill>
              <a:latin typeface="微软雅黑" panose="020B0503020204020204" pitchFamily="34" charset="-122"/>
              <a:ea typeface="微软雅黑" panose="020B0503020204020204" pitchFamily="34" charset="-122"/>
            </a:endParaRPr>
          </a:p>
        </p:txBody>
      </p:sp>
      <p:sp>
        <p:nvSpPr>
          <p:cNvPr id="217" name="Problem mapping 217"/>
          <p:cNvSpPr txBox="1"/>
          <p:nvPr/>
        </p:nvSpPr>
        <p:spPr>
          <a:xfrm>
            <a:off x="8420100" y="1143000"/>
            <a:ext cx="457200" cy="457200"/>
          </a:xfrm>
          <a:prstGeom prst="ellipse">
            <a:avLst/>
          </a:prstGeom>
          <a:solidFill>
            <a:srgbClr val="004A9F"/>
          </a:solidFill>
          <a:ln w="9525">
            <a:noFill/>
          </a:ln>
        </p:spPr>
      </p:sp>
      <p:sp>
        <p:nvSpPr>
          <p:cNvPr id="218" name="Problem mapping 218"/>
          <p:cNvSpPr txBox="1"/>
          <p:nvPr/>
        </p:nvSpPr>
        <p:spPr>
          <a:xfrm>
            <a:off x="8420100" y="1152525"/>
            <a:ext cx="457200" cy="438150"/>
          </a:xfrm>
          <a:prstGeom prst="rect">
            <a:avLst/>
          </a:prstGeom>
          <a:noFill/>
          <a:ln w="9525">
            <a:noFill/>
          </a:ln>
        </p:spPr>
        <p:txBody>
          <a:bodyPr wrap="square" lIns="0" tIns="0" rIns="0" bIns="0" anchor="ctr">
            <a:noAutofit/>
          </a:bodyPr>
          <a:lstStyle/>
          <a:p>
            <a:pPr algn="ctr">
              <a:lnSpc>
                <a:spcPct val="115000"/>
              </a:lnSpc>
              <a:buNone/>
            </a:pPr>
            <a:r>
              <a:rPr lang="zh-CN" sz="2100" b="1">
                <a:solidFill>
                  <a:srgbClr val="FFFFFF"/>
                </a:solidFill>
                <a:latin typeface="微软雅黑" panose="020B0503020204020204" pitchFamily="34" charset="-122"/>
                <a:ea typeface="微软雅黑" panose="020B0503020204020204" pitchFamily="34" charset="-122"/>
              </a:rPr>
              <a:t>03</a:t>
            </a:r>
            <a:endParaRPr lang="zh-CN" sz="2100" b="1">
              <a:solidFill>
                <a:srgbClr val="FFFFFF"/>
              </a:solidFill>
              <a:latin typeface="微软雅黑" panose="020B0503020204020204" pitchFamily="34" charset="-122"/>
              <a:ea typeface="微软雅黑" panose="020B0503020204020204" pitchFamily="34" charset="-122"/>
            </a:endParaRPr>
          </a:p>
        </p:txBody>
      </p:sp>
      <p:sp>
        <p:nvSpPr>
          <p:cNvPr id="219" name="Problem mapping 219"/>
          <p:cNvSpPr txBox="1"/>
          <p:nvPr/>
        </p:nvSpPr>
        <p:spPr>
          <a:xfrm>
            <a:off x="9001125" y="1343025"/>
            <a:ext cx="276225" cy="28575"/>
          </a:xfrm>
          <a:prstGeom prst="rect">
            <a:avLst/>
          </a:prstGeom>
          <a:solidFill>
            <a:srgbClr val="B6D2EB"/>
          </a:solidFill>
          <a:ln w="9525">
            <a:noFill/>
          </a:ln>
        </p:spPr>
      </p:sp>
      <p:sp>
        <p:nvSpPr>
          <p:cNvPr id="220" name="Problem mapping 220"/>
          <p:cNvSpPr txBox="1"/>
          <p:nvPr/>
        </p:nvSpPr>
        <p:spPr>
          <a:xfrm>
            <a:off x="8420100" y="1704975"/>
            <a:ext cx="3381375" cy="762000"/>
          </a:xfrm>
          <a:prstGeom prst="rect">
            <a:avLst/>
          </a:prstGeom>
          <a:noFill/>
          <a:ln w="9525">
            <a:noFill/>
          </a:ln>
        </p:spPr>
        <p:txBody>
          <a:bodyPr wrap="square" lIns="0" tIns="0" rIns="0" bIns="0" anchor="ctr">
            <a:noAutofit/>
          </a:bodyPr>
          <a:lstStyle/>
          <a:p>
            <a:pPr algn="l">
              <a:lnSpc>
                <a:spcPct val="115000"/>
              </a:lnSpc>
              <a:buNone/>
            </a:pPr>
            <a:r>
              <a:rPr lang="zh-CN" sz="2300" b="1">
                <a:solidFill>
                  <a:srgbClr val="004A9F"/>
                </a:solidFill>
                <a:latin typeface="微软雅黑" panose="020B0503020204020204" pitchFamily="34" charset="-122"/>
                <a:ea typeface="微软雅黑" panose="020B0503020204020204" pitchFamily="34" charset="-122"/>
              </a:rPr>
              <a:t>鲁棒性提升带来</a:t>
            </a:r>
            <a:endParaRPr lang="zh-CN" sz="2300" b="1">
              <a:solidFill>
                <a:srgbClr val="004A9F"/>
              </a:solidFill>
              <a:latin typeface="微软雅黑" panose="020B0503020204020204" pitchFamily="34" charset="-122"/>
              <a:ea typeface="微软雅黑" panose="020B0503020204020204" pitchFamily="34" charset="-122"/>
            </a:endParaRPr>
          </a:p>
          <a:p>
            <a:pPr algn="l">
              <a:lnSpc>
                <a:spcPct val="115000"/>
              </a:lnSpc>
              <a:buNone/>
            </a:pPr>
            <a:r>
              <a:rPr lang="zh-CN" sz="2300" b="1">
                <a:solidFill>
                  <a:srgbClr val="004A9F"/>
                </a:solidFill>
                <a:latin typeface="微软雅黑" panose="020B0503020204020204" pitchFamily="34" charset="-122"/>
                <a:ea typeface="微软雅黑" panose="020B0503020204020204" pitchFamily="34" charset="-122"/>
              </a:rPr>
              <a:t>额外计算负担</a:t>
            </a:r>
            <a:endParaRPr lang="zh-CN" sz="2300" b="1">
              <a:solidFill>
                <a:srgbClr val="004A9F"/>
              </a:solidFill>
              <a:latin typeface="微软雅黑" panose="020B0503020204020204" pitchFamily="34" charset="-122"/>
              <a:ea typeface="微软雅黑" panose="020B0503020204020204" pitchFamily="34" charset="-122"/>
            </a:endParaRPr>
          </a:p>
        </p:txBody>
      </p:sp>
      <p:sp>
        <p:nvSpPr>
          <p:cNvPr id="221" name="Problem mapping 221"/>
          <p:cNvSpPr txBox="1"/>
          <p:nvPr/>
        </p:nvSpPr>
        <p:spPr>
          <a:xfrm>
            <a:off x="8448675" y="5334000"/>
            <a:ext cx="3514725" cy="962025"/>
          </a:xfrm>
          <a:prstGeom prst="rect">
            <a:avLst/>
          </a:prstGeom>
          <a:noFill/>
          <a:ln w="9525">
            <a:noFill/>
          </a:ln>
        </p:spPr>
        <p:txBody>
          <a:bodyPr wrap="square" lIns="0" tIns="0" rIns="0" bIns="0" anchor="ctr">
            <a:noAutofit/>
          </a:bodyPr>
          <a:lstStyle/>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现有方法中的复杂特征交互与</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重复推理会增加计算开销，</a:t>
            </a:r>
            <a:endParaRPr lang="zh-CN" sz="1600" b="0">
              <a:solidFill>
                <a:srgbClr val="26313D"/>
              </a:solidFill>
              <a:latin typeface="微软雅黑" panose="020B0503020204020204" pitchFamily="34" charset="-122"/>
              <a:ea typeface="微软雅黑" panose="020B0503020204020204" pitchFamily="34" charset="-122"/>
            </a:endParaRPr>
          </a:p>
          <a:p>
            <a:pPr algn="l">
              <a:lnSpc>
                <a:spcPct val="145000"/>
              </a:lnSpc>
              <a:buNone/>
            </a:pPr>
            <a:r>
              <a:rPr lang="zh-CN" sz="1600" b="0">
                <a:solidFill>
                  <a:srgbClr val="26313D"/>
                </a:solidFill>
                <a:latin typeface="微软雅黑" panose="020B0503020204020204" pitchFamily="34" charset="-122"/>
                <a:ea typeface="微软雅黑" panose="020B0503020204020204" pitchFamily="34" charset="-122"/>
              </a:rPr>
              <a:t>检测效果与实时性仍需兼顾。</a:t>
            </a:r>
            <a:endParaRPr lang="zh-CN" sz="1600" b="0">
              <a:solidFill>
                <a:srgbClr val="26313D"/>
              </a:solidFill>
              <a:latin typeface="微软雅黑" panose="020B0503020204020204" pitchFamily="34" charset="-122"/>
              <a:ea typeface="微软雅黑" panose="020B0503020204020204" pitchFamily="34" charset="-122"/>
            </a:endParaRPr>
          </a:p>
        </p:txBody>
      </p:sp>
      <p:pic>
        <p:nvPicPr>
          <p:cNvPr id="222" name="Original illustration crop 1" descr="原图片式第14页的局部裁剪；概念示意图，非实验结果。"/>
          <p:cNvPicPr>
            <a:picLocks noChangeAspect="1"/>
          </p:cNvPicPr>
          <p:nvPr/>
        </p:nvPicPr>
        <p:blipFill>
          <a:blip r:embed="rId1"/>
          <a:srcRect l="2392" t="36132" r="67703" b="25611"/>
          <a:stretch>
            <a:fillRect/>
          </a:stretch>
        </p:blipFill>
        <p:spPr>
          <a:xfrm>
            <a:off x="291675" y="2477917"/>
            <a:ext cx="3645933" cy="2623677"/>
          </a:xfrm>
          <a:prstGeom prst="rect">
            <a:avLst/>
          </a:prstGeom>
        </p:spPr>
      </p:pic>
      <p:pic>
        <p:nvPicPr>
          <p:cNvPr id="223" name="Original illustration crop 2" descr="原图片式第14页的局部裁剪；概念示意图，非实验结果。"/>
          <p:cNvPicPr>
            <a:picLocks noChangeAspect="1"/>
          </p:cNvPicPr>
          <p:nvPr/>
        </p:nvPicPr>
        <p:blipFill>
          <a:blip r:embed="rId1"/>
          <a:srcRect l="34809" t="36132" r="34809" b="25611"/>
          <a:stretch>
            <a:fillRect/>
          </a:stretch>
        </p:blipFill>
        <p:spPr>
          <a:xfrm>
            <a:off x="4243866" y="2477917"/>
            <a:ext cx="3704268" cy="2623677"/>
          </a:xfrm>
          <a:prstGeom prst="rect">
            <a:avLst/>
          </a:prstGeom>
        </p:spPr>
      </p:pic>
      <p:pic>
        <p:nvPicPr>
          <p:cNvPr id="224" name="Original illustration crop 3" descr="原图片式第14页的局部裁剪；概念示意图，非实验结果。"/>
          <p:cNvPicPr>
            <a:picLocks noChangeAspect="1"/>
          </p:cNvPicPr>
          <p:nvPr/>
        </p:nvPicPr>
        <p:blipFill>
          <a:blip r:embed="rId1"/>
          <a:srcRect l="66986" t="36132" r="1615" b="25611"/>
          <a:stretch>
            <a:fillRect/>
          </a:stretch>
        </p:blipFill>
        <p:spPr>
          <a:xfrm>
            <a:off x="8166890" y="2477917"/>
            <a:ext cx="3828230" cy="2623677"/>
          </a:xfrm>
          <a:prstGeom prst="rect">
            <a:avLst/>
          </a:prstGeom>
        </p:spPr>
      </p:pic>
      <p:sp>
        <p:nvSpPr>
          <p:cNvPr id="225" name="Problem mapping 225"/>
          <p:cNvSpPr txBox="1"/>
          <p:nvPr/>
        </p:nvSpPr>
        <p:spPr>
          <a:xfrm>
            <a:off x="11544300" y="6600825"/>
            <a:ext cx="285750" cy="180975"/>
          </a:xfrm>
          <a:prstGeom prst="rect">
            <a:avLst/>
          </a:prstGeom>
          <a:noFill/>
          <a:ln w="9525">
            <a:noFill/>
          </a:ln>
        </p:spPr>
        <p:txBody>
          <a:bodyPr wrap="square" lIns="0" tIns="0" rIns="0" bIns="0" anchor="ctr">
            <a:noAutofit/>
          </a:bodyPr>
          <a:lstStyle/>
          <a:p>
            <a:pPr algn="r">
              <a:lnSpc>
                <a:spcPct val="115000"/>
              </a:lnSpc>
              <a:buNone/>
            </a:pPr>
            <a:r>
              <a:rPr lang="zh-CN" sz="1000" b="0">
                <a:solidFill>
                  <a:srgbClr val="596B7C"/>
                </a:solidFill>
                <a:latin typeface="微软雅黑" panose="020B0503020204020204" pitchFamily="34" charset="-122"/>
                <a:ea typeface="微软雅黑" panose="020B0503020204020204" pitchFamily="34" charset="-122"/>
              </a:rPr>
              <a:t>14</a:t>
            </a:r>
            <a:endParaRPr lang="zh-CN" sz="1000" b="0">
              <a:solidFill>
                <a:srgbClr val="596B7C"/>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Editable connector"/>
          <p:cNvCxnSpPr/>
          <p:nvPr/>
        </p:nvCxnSpPr>
        <p:spPr>
          <a:xfrm>
            <a:off x="1079500" y="254000"/>
            <a:ext cx="0" cy="330200"/>
          </a:xfrm>
          <a:prstGeom prst="line">
            <a:avLst/>
          </a:prstGeom>
          <a:ln w="8890" cap="flat">
            <a:solidFill>
              <a:srgbClr val="9AB9D8"/>
            </a:solidFill>
            <a:prstDash val="solid"/>
          </a:ln>
        </p:spPr>
      </p:cxnSp>
      <p:cxnSp>
        <p:nvCxnSpPr>
          <p:cNvPr id="13" name="Editable connector"/>
          <p:cNvCxnSpPr/>
          <p:nvPr/>
        </p:nvCxnSpPr>
        <p:spPr>
          <a:xfrm>
            <a:off x="355600" y="736600"/>
            <a:ext cx="11480800" cy="0"/>
          </a:xfrm>
          <a:prstGeom prst="line">
            <a:avLst/>
          </a:prstGeom>
          <a:ln w="10160" cap="flat">
            <a:solidFill>
              <a:srgbClr val="C8DBEC"/>
            </a:solidFill>
            <a:prstDash val="solid"/>
          </a:ln>
        </p:spPr>
      </p:cxnSp>
      <p:cxnSp>
        <p:nvCxnSpPr>
          <p:cNvPr id="25" name="Editable connector"/>
          <p:cNvCxnSpPr/>
          <p:nvPr/>
        </p:nvCxnSpPr>
        <p:spPr>
          <a:xfrm>
            <a:off x="4127500" y="1435100"/>
            <a:ext cx="0" cy="4572000"/>
          </a:xfrm>
          <a:prstGeom prst="line">
            <a:avLst/>
          </a:prstGeom>
          <a:ln w="8890" cap="flat">
            <a:solidFill>
              <a:srgbClr val="D6E4F0"/>
            </a:solidFill>
            <a:prstDash val="dash"/>
          </a:ln>
        </p:spPr>
      </p:cxnSp>
      <p:cxnSp>
        <p:nvCxnSpPr>
          <p:cNvPr id="26" name="Editable connector"/>
          <p:cNvCxnSpPr/>
          <p:nvPr/>
        </p:nvCxnSpPr>
        <p:spPr>
          <a:xfrm>
            <a:off x="8064500" y="1435100"/>
            <a:ext cx="0" cy="4572000"/>
          </a:xfrm>
          <a:prstGeom prst="line">
            <a:avLst/>
          </a:prstGeom>
          <a:ln w="8890" cap="flat">
            <a:solidFill>
              <a:srgbClr val="D6E4F0"/>
            </a:solidFill>
            <a:prstDash val="dash"/>
          </a:ln>
        </p:spPr>
      </p:cxnSp>
      <p:cxnSp>
        <p:nvCxnSpPr>
          <p:cNvPr id="67" name="Editable connector"/>
          <p:cNvCxnSpPr/>
          <p:nvPr/>
        </p:nvCxnSpPr>
        <p:spPr>
          <a:xfrm>
            <a:off x="1384300" y="2921000"/>
            <a:ext cx="266700" cy="0"/>
          </a:xfrm>
          <a:prstGeom prst="line">
            <a:avLst/>
          </a:prstGeom>
          <a:ln w="15875" cap="flat">
            <a:solidFill>
              <a:srgbClr val="004A9F"/>
            </a:solidFill>
            <a:prstDash val="solid"/>
          </a:ln>
        </p:spPr>
      </p:cxnSp>
      <p:cxnSp>
        <p:nvCxnSpPr>
          <p:cNvPr id="68" name="Editable connector"/>
          <p:cNvCxnSpPr/>
          <p:nvPr/>
        </p:nvCxnSpPr>
        <p:spPr>
          <a:xfrm>
            <a:off x="1651000" y="2921000"/>
            <a:ext cx="0" cy="266700"/>
          </a:xfrm>
          <a:prstGeom prst="line">
            <a:avLst/>
          </a:prstGeom>
          <a:ln w="15875" cap="flat">
            <a:solidFill>
              <a:srgbClr val="004A9F"/>
            </a:solidFill>
            <a:prstDash val="solid"/>
          </a:ln>
        </p:spPr>
      </p:cxnSp>
      <p:cxnSp>
        <p:nvCxnSpPr>
          <p:cNvPr id="69" name="Editable connector"/>
          <p:cNvCxnSpPr>
            <a:endCxn id="61" idx="1"/>
          </p:cNvCxnSpPr>
          <p:nvPr/>
        </p:nvCxnSpPr>
        <p:spPr>
          <a:xfrm>
            <a:off x="1651000" y="3187700"/>
            <a:ext cx="254000" cy="0"/>
          </a:xfrm>
          <a:prstGeom prst="line">
            <a:avLst/>
          </a:prstGeom>
          <a:ln w="15875" cap="flat">
            <a:solidFill>
              <a:srgbClr val="004A9F"/>
            </a:solidFill>
            <a:prstDash val="solid"/>
            <a:tailEnd type="triangle" w="med" len="med"/>
          </a:ln>
        </p:spPr>
      </p:cxnSp>
      <p:cxnSp>
        <p:nvCxnSpPr>
          <p:cNvPr id="70" name="Editable connector"/>
          <p:cNvCxnSpPr/>
          <p:nvPr/>
        </p:nvCxnSpPr>
        <p:spPr>
          <a:xfrm>
            <a:off x="1473200" y="4152900"/>
            <a:ext cx="215900" cy="0"/>
          </a:xfrm>
          <a:prstGeom prst="line">
            <a:avLst/>
          </a:prstGeom>
          <a:ln w="15875" cap="flat">
            <a:solidFill>
              <a:srgbClr val="004A9F"/>
            </a:solidFill>
            <a:prstDash val="solid"/>
          </a:ln>
        </p:spPr>
      </p:cxnSp>
      <p:cxnSp>
        <p:nvCxnSpPr>
          <p:cNvPr id="71" name="Editable connector"/>
          <p:cNvCxnSpPr/>
          <p:nvPr/>
        </p:nvCxnSpPr>
        <p:spPr>
          <a:xfrm flipV="1">
            <a:off x="1689100" y="3962400"/>
            <a:ext cx="0" cy="190500"/>
          </a:xfrm>
          <a:prstGeom prst="line">
            <a:avLst/>
          </a:prstGeom>
          <a:ln w="15875" cap="flat">
            <a:solidFill>
              <a:srgbClr val="004A9F"/>
            </a:solidFill>
            <a:prstDash val="solid"/>
          </a:ln>
        </p:spPr>
      </p:cxnSp>
      <p:cxnSp>
        <p:nvCxnSpPr>
          <p:cNvPr id="72" name="Editable connector"/>
          <p:cNvCxnSpPr/>
          <p:nvPr/>
        </p:nvCxnSpPr>
        <p:spPr>
          <a:xfrm>
            <a:off x="1689100" y="3962400"/>
            <a:ext cx="215900" cy="0"/>
          </a:xfrm>
          <a:prstGeom prst="line">
            <a:avLst/>
          </a:prstGeom>
          <a:ln w="15875" cap="flat">
            <a:solidFill>
              <a:srgbClr val="004A9F"/>
            </a:solidFill>
            <a:prstDash val="solid"/>
            <a:tailEnd type="triangle" w="med" len="med"/>
          </a:ln>
        </p:spPr>
      </p:cxnSp>
      <p:cxnSp>
        <p:nvCxnSpPr>
          <p:cNvPr id="85" name="Editable connector"/>
          <p:cNvCxnSpPr/>
          <p:nvPr/>
        </p:nvCxnSpPr>
        <p:spPr>
          <a:xfrm>
            <a:off x="5232400" y="2971800"/>
            <a:ext cx="571500" cy="0"/>
          </a:xfrm>
          <a:prstGeom prst="line">
            <a:avLst/>
          </a:prstGeom>
          <a:ln w="15875" cap="flat">
            <a:solidFill>
              <a:srgbClr val="004A9F"/>
            </a:solidFill>
            <a:prstDash val="solid"/>
          </a:ln>
        </p:spPr>
      </p:cxnSp>
      <p:cxnSp>
        <p:nvCxnSpPr>
          <p:cNvPr id="86" name="Editable connector"/>
          <p:cNvCxnSpPr/>
          <p:nvPr/>
        </p:nvCxnSpPr>
        <p:spPr>
          <a:xfrm>
            <a:off x="5803900" y="2971800"/>
            <a:ext cx="0" cy="355600"/>
          </a:xfrm>
          <a:prstGeom prst="line">
            <a:avLst/>
          </a:prstGeom>
          <a:ln w="15875" cap="flat">
            <a:solidFill>
              <a:srgbClr val="004A9F"/>
            </a:solidFill>
            <a:prstDash val="solid"/>
          </a:ln>
        </p:spPr>
      </p:cxnSp>
      <p:cxnSp>
        <p:nvCxnSpPr>
          <p:cNvPr id="87" name="Editable connector"/>
          <p:cNvCxnSpPr/>
          <p:nvPr/>
        </p:nvCxnSpPr>
        <p:spPr>
          <a:xfrm>
            <a:off x="5803900" y="3327400"/>
            <a:ext cx="635000" cy="0"/>
          </a:xfrm>
          <a:prstGeom prst="line">
            <a:avLst/>
          </a:prstGeom>
          <a:ln w="15875" cap="flat">
            <a:solidFill>
              <a:srgbClr val="004A9F"/>
            </a:solidFill>
            <a:prstDash val="solid"/>
            <a:tailEnd type="triangle" w="med" len="med"/>
          </a:ln>
        </p:spPr>
      </p:cxnSp>
      <p:cxnSp>
        <p:nvCxnSpPr>
          <p:cNvPr id="88" name="Editable connector"/>
          <p:cNvCxnSpPr/>
          <p:nvPr/>
        </p:nvCxnSpPr>
        <p:spPr>
          <a:xfrm>
            <a:off x="5232400" y="4356100"/>
            <a:ext cx="571500" cy="0"/>
          </a:xfrm>
          <a:prstGeom prst="line">
            <a:avLst/>
          </a:prstGeom>
          <a:ln w="15875" cap="flat">
            <a:solidFill>
              <a:srgbClr val="004A9F"/>
            </a:solidFill>
            <a:prstDash val="solid"/>
          </a:ln>
        </p:spPr>
      </p:cxnSp>
      <p:cxnSp>
        <p:nvCxnSpPr>
          <p:cNvPr id="89" name="Editable connector"/>
          <p:cNvCxnSpPr/>
          <p:nvPr/>
        </p:nvCxnSpPr>
        <p:spPr>
          <a:xfrm flipV="1">
            <a:off x="5803900" y="3810000"/>
            <a:ext cx="0" cy="546100"/>
          </a:xfrm>
          <a:prstGeom prst="line">
            <a:avLst/>
          </a:prstGeom>
          <a:ln w="15875" cap="flat">
            <a:solidFill>
              <a:srgbClr val="004A9F"/>
            </a:solidFill>
            <a:prstDash val="solid"/>
          </a:ln>
        </p:spPr>
      </p:cxnSp>
      <p:cxnSp>
        <p:nvCxnSpPr>
          <p:cNvPr id="90" name="Editable connector"/>
          <p:cNvCxnSpPr/>
          <p:nvPr/>
        </p:nvCxnSpPr>
        <p:spPr>
          <a:xfrm>
            <a:off x="5803900" y="3810000"/>
            <a:ext cx="635000" cy="0"/>
          </a:xfrm>
          <a:prstGeom prst="line">
            <a:avLst/>
          </a:prstGeom>
          <a:ln w="15875" cap="flat">
            <a:solidFill>
              <a:srgbClr val="004A9F"/>
            </a:solidFill>
            <a:prstDash val="solid"/>
            <a:tailEnd type="triangle" w="med" len="med"/>
          </a:ln>
        </p:spPr>
      </p:cxnSp>
      <p:cxnSp>
        <p:nvCxnSpPr>
          <p:cNvPr id="99" name="Editable connector"/>
          <p:cNvCxnSpPr/>
          <p:nvPr/>
        </p:nvCxnSpPr>
        <p:spPr>
          <a:xfrm>
            <a:off x="5334000" y="4991100"/>
            <a:ext cx="190500" cy="0"/>
          </a:xfrm>
          <a:prstGeom prst="line">
            <a:avLst/>
          </a:prstGeom>
          <a:ln w="15875" cap="flat">
            <a:solidFill>
              <a:srgbClr val="004A9F"/>
            </a:solidFill>
            <a:prstDash val="solid"/>
            <a:tailEnd type="triangle" w="med" len="med"/>
          </a:ln>
        </p:spPr>
      </p:cxnSp>
      <p:cxnSp>
        <p:nvCxnSpPr>
          <p:cNvPr id="100" name="Editable connector"/>
          <p:cNvCxnSpPr/>
          <p:nvPr/>
        </p:nvCxnSpPr>
        <p:spPr>
          <a:xfrm flipV="1">
            <a:off x="6946900" y="4419600"/>
            <a:ext cx="0" cy="317500"/>
          </a:xfrm>
          <a:prstGeom prst="line">
            <a:avLst/>
          </a:prstGeom>
          <a:ln w="15875" cap="flat">
            <a:solidFill>
              <a:srgbClr val="E77C18"/>
            </a:solidFill>
            <a:prstDash val="dash"/>
            <a:tailEnd type="triangle" w="med" len="med"/>
          </a:ln>
        </p:spPr>
      </p:cxnSp>
      <p:cxnSp>
        <p:nvCxnSpPr>
          <p:cNvPr id="110" name="Editable connector"/>
          <p:cNvCxnSpPr>
            <a:endCxn id="108" idx="1"/>
          </p:cNvCxnSpPr>
          <p:nvPr/>
        </p:nvCxnSpPr>
        <p:spPr>
          <a:xfrm>
            <a:off x="9017000" y="3276600"/>
            <a:ext cx="317500" cy="0"/>
          </a:xfrm>
          <a:prstGeom prst="line">
            <a:avLst/>
          </a:prstGeom>
          <a:ln w="15875" cap="flat">
            <a:solidFill>
              <a:srgbClr val="004A9F"/>
            </a:solidFill>
            <a:prstDash val="solid"/>
            <a:tailEnd type="triangle" w="med" len="med"/>
          </a:ln>
        </p:spPr>
      </p:cxnSp>
      <p:cxnSp>
        <p:nvCxnSpPr>
          <p:cNvPr id="115" name="Editable connector"/>
          <p:cNvCxnSpPr/>
          <p:nvPr/>
        </p:nvCxnSpPr>
        <p:spPr>
          <a:xfrm>
            <a:off x="10655300" y="3276600"/>
            <a:ext cx="165100" cy="0"/>
          </a:xfrm>
          <a:prstGeom prst="line">
            <a:avLst/>
          </a:prstGeom>
          <a:ln w="15875" cap="flat">
            <a:solidFill>
              <a:srgbClr val="004A9F"/>
            </a:solidFill>
            <a:prstDash val="solid"/>
          </a:ln>
        </p:spPr>
      </p:cxnSp>
      <p:cxnSp>
        <p:nvCxnSpPr>
          <p:cNvPr id="116" name="Editable connector"/>
          <p:cNvCxnSpPr/>
          <p:nvPr/>
        </p:nvCxnSpPr>
        <p:spPr>
          <a:xfrm flipV="1">
            <a:off x="10820400" y="3035300"/>
            <a:ext cx="0" cy="241300"/>
          </a:xfrm>
          <a:prstGeom prst="line">
            <a:avLst/>
          </a:prstGeom>
          <a:ln w="15875" cap="flat">
            <a:solidFill>
              <a:srgbClr val="004A9F"/>
            </a:solidFill>
            <a:prstDash val="solid"/>
          </a:ln>
        </p:spPr>
      </p:cxnSp>
      <p:cxnSp>
        <p:nvCxnSpPr>
          <p:cNvPr id="117" name="Editable connector"/>
          <p:cNvCxnSpPr/>
          <p:nvPr/>
        </p:nvCxnSpPr>
        <p:spPr>
          <a:xfrm>
            <a:off x="10820400" y="3035300"/>
            <a:ext cx="177800" cy="0"/>
          </a:xfrm>
          <a:prstGeom prst="line">
            <a:avLst/>
          </a:prstGeom>
          <a:ln w="15875" cap="flat">
            <a:solidFill>
              <a:srgbClr val="004A9F"/>
            </a:solidFill>
            <a:prstDash val="solid"/>
            <a:tailEnd type="triangle" w="med" len="med"/>
          </a:ln>
        </p:spPr>
      </p:cxnSp>
      <p:cxnSp>
        <p:nvCxnSpPr>
          <p:cNvPr id="118" name="Editable connector"/>
          <p:cNvCxnSpPr/>
          <p:nvPr/>
        </p:nvCxnSpPr>
        <p:spPr>
          <a:xfrm>
            <a:off x="10655300" y="3276600"/>
            <a:ext cx="165100" cy="0"/>
          </a:xfrm>
          <a:prstGeom prst="line">
            <a:avLst/>
          </a:prstGeom>
          <a:ln w="15875" cap="flat">
            <a:solidFill>
              <a:srgbClr val="004A9F"/>
            </a:solidFill>
            <a:prstDash val="solid"/>
          </a:ln>
        </p:spPr>
      </p:cxnSp>
      <p:cxnSp>
        <p:nvCxnSpPr>
          <p:cNvPr id="119" name="Editable connector"/>
          <p:cNvCxnSpPr/>
          <p:nvPr/>
        </p:nvCxnSpPr>
        <p:spPr>
          <a:xfrm>
            <a:off x="10820400" y="3276600"/>
            <a:ext cx="0" cy="292100"/>
          </a:xfrm>
          <a:prstGeom prst="line">
            <a:avLst/>
          </a:prstGeom>
          <a:ln w="15875" cap="flat">
            <a:solidFill>
              <a:srgbClr val="004A9F"/>
            </a:solidFill>
            <a:prstDash val="solid"/>
          </a:ln>
        </p:spPr>
      </p:cxnSp>
      <p:cxnSp>
        <p:nvCxnSpPr>
          <p:cNvPr id="120" name="Editable connector"/>
          <p:cNvCxnSpPr/>
          <p:nvPr/>
        </p:nvCxnSpPr>
        <p:spPr>
          <a:xfrm>
            <a:off x="10820400" y="3568700"/>
            <a:ext cx="177800" cy="0"/>
          </a:xfrm>
          <a:prstGeom prst="line">
            <a:avLst/>
          </a:prstGeom>
          <a:ln w="15875" cap="flat">
            <a:solidFill>
              <a:srgbClr val="004A9F"/>
            </a:solidFill>
            <a:prstDash val="solid"/>
            <a:tailEnd type="triangle" w="med" len="med"/>
          </a:ln>
        </p:spPr>
      </p:cxnSp>
      <p:cxnSp>
        <p:nvCxnSpPr>
          <p:cNvPr id="121" name="Editable connector"/>
          <p:cNvCxnSpPr/>
          <p:nvPr/>
        </p:nvCxnSpPr>
        <p:spPr>
          <a:xfrm>
            <a:off x="8267700" y="3962400"/>
            <a:ext cx="3543300" cy="0"/>
          </a:xfrm>
          <a:prstGeom prst="line">
            <a:avLst/>
          </a:prstGeom>
          <a:ln w="8890" cap="flat">
            <a:solidFill>
              <a:srgbClr val="D3E3EF"/>
            </a:solidFill>
            <a:prstDash val="dash"/>
          </a:ln>
        </p:spPr>
      </p:cxnSp>
      <p:cxnSp>
        <p:nvCxnSpPr>
          <p:cNvPr id="133" name="Editable connector"/>
          <p:cNvCxnSpPr/>
          <p:nvPr/>
        </p:nvCxnSpPr>
        <p:spPr>
          <a:xfrm>
            <a:off x="9423400" y="4813300"/>
            <a:ext cx="1181100" cy="0"/>
          </a:xfrm>
          <a:prstGeom prst="line">
            <a:avLst/>
          </a:prstGeom>
          <a:ln w="15875" cap="flat">
            <a:solidFill>
              <a:srgbClr val="004A9F"/>
            </a:solidFill>
            <a:prstDash val="solid"/>
            <a:tailEnd type="triangle" w="med" len="med"/>
          </a:ln>
        </p:spPr>
      </p:cxnSp>
      <p:sp>
        <p:nvSpPr>
          <p:cNvPr id="16" name="Direction 1 number"/>
          <p:cNvSpPr/>
          <p:nvPr/>
        </p:nvSpPr>
        <p:spPr>
          <a:xfrm>
            <a:off x="355600" y="1409700"/>
            <a:ext cx="469900" cy="469900"/>
          </a:xfrm>
          <a:prstGeom prst="ellipse">
            <a:avLst/>
          </a:prstGeom>
          <a:solidFill>
            <a:srgbClr val="004A9F"/>
          </a:solidFill>
          <a:ln w="10160">
            <a:noFill/>
          </a:ln>
        </p:spPr>
      </p:sp>
      <p:sp>
        <p:nvSpPr>
          <p:cNvPr id="19" name="Direction 2 number"/>
          <p:cNvSpPr/>
          <p:nvPr/>
        </p:nvSpPr>
        <p:spPr>
          <a:xfrm>
            <a:off x="4292600" y="1409700"/>
            <a:ext cx="469900" cy="469900"/>
          </a:xfrm>
          <a:prstGeom prst="ellipse">
            <a:avLst/>
          </a:prstGeom>
          <a:solidFill>
            <a:srgbClr val="008C89"/>
          </a:solidFill>
          <a:ln w="10160">
            <a:noFill/>
          </a:ln>
        </p:spPr>
      </p:sp>
      <p:sp>
        <p:nvSpPr>
          <p:cNvPr id="22" name="Direction 3 number"/>
          <p:cNvSpPr/>
          <p:nvPr/>
        </p:nvSpPr>
        <p:spPr>
          <a:xfrm>
            <a:off x="8229600" y="1409700"/>
            <a:ext cx="469900" cy="469900"/>
          </a:xfrm>
          <a:prstGeom prst="ellipse">
            <a:avLst/>
          </a:prstGeom>
          <a:solidFill>
            <a:srgbClr val="004A9F"/>
          </a:solidFill>
          <a:ln w="10160">
            <a:noFill/>
          </a:ln>
        </p:spPr>
      </p:sp>
      <p:sp>
        <p:nvSpPr>
          <p:cNvPr id="61" name="Candidate quality indicators"/>
          <p:cNvSpPr/>
          <p:nvPr/>
        </p:nvSpPr>
        <p:spPr>
          <a:xfrm>
            <a:off x="1905000" y="2425700"/>
            <a:ext cx="1943100" cy="2400300"/>
          </a:xfrm>
          <a:prstGeom prst="roundRect">
            <a:avLst>
              <a:gd name="adj" fmla="val 5000"/>
            </a:avLst>
          </a:prstGeom>
          <a:solidFill>
            <a:srgbClr val="EEF6FC"/>
          </a:solidFill>
          <a:ln w="10160">
            <a:solidFill>
              <a:srgbClr val="B6D2EB"/>
            </a:solidFill>
          </a:ln>
        </p:spPr>
      </p:sp>
      <p:sp>
        <p:nvSpPr>
          <p:cNvPr id="97" name="Quality-guided controller"/>
          <p:cNvSpPr/>
          <p:nvPr/>
        </p:nvSpPr>
        <p:spPr>
          <a:xfrm>
            <a:off x="5524500" y="4737100"/>
            <a:ext cx="2133600" cy="406400"/>
          </a:xfrm>
          <a:prstGeom prst="roundRect">
            <a:avLst>
              <a:gd name="adj" fmla="val 5000"/>
            </a:avLst>
          </a:prstGeom>
          <a:solidFill>
            <a:srgbClr val="FFF6EB"/>
          </a:solidFill>
          <a:ln w="10160">
            <a:solidFill>
              <a:srgbClr val="E77C18"/>
            </a:solidFill>
          </a:ln>
        </p:spPr>
      </p:sp>
      <p:sp>
        <p:nvSpPr>
          <p:cNvPr id="108" name="Compact MLP"/>
          <p:cNvSpPr/>
          <p:nvPr/>
        </p:nvSpPr>
        <p:spPr>
          <a:xfrm>
            <a:off x="9334500" y="3060700"/>
            <a:ext cx="1320800" cy="444500"/>
          </a:xfrm>
          <a:prstGeom prst="roundRect">
            <a:avLst>
              <a:gd name="adj" fmla="val 5000"/>
            </a:avLst>
          </a:prstGeom>
          <a:solidFill>
            <a:srgbClr val="EEF6FC"/>
          </a:solidFill>
          <a:ln w="10160">
            <a:solidFill>
              <a:srgbClr val="004A9F"/>
            </a:solidFill>
          </a:ln>
        </p:spPr>
      </p:sp>
      <p:sp>
        <p:nvSpPr>
          <p:cNvPr id="111" name="Image weight"/>
          <p:cNvSpPr/>
          <p:nvPr/>
        </p:nvSpPr>
        <p:spPr>
          <a:xfrm>
            <a:off x="10998200" y="2844800"/>
            <a:ext cx="698500" cy="368300"/>
          </a:xfrm>
          <a:prstGeom prst="roundRect">
            <a:avLst>
              <a:gd name="adj" fmla="val 5000"/>
            </a:avLst>
          </a:prstGeom>
          <a:solidFill>
            <a:srgbClr val="EEF6FC"/>
          </a:solidFill>
          <a:ln w="10160">
            <a:solidFill>
              <a:srgbClr val="004A9F"/>
            </a:solidFill>
          </a:ln>
        </p:spPr>
      </p:sp>
      <p:sp>
        <p:nvSpPr>
          <p:cNvPr id="113" name="Lidar weight"/>
          <p:cNvSpPr/>
          <p:nvPr/>
        </p:nvSpPr>
        <p:spPr>
          <a:xfrm>
            <a:off x="10998200" y="3390900"/>
            <a:ext cx="698500" cy="368300"/>
          </a:xfrm>
          <a:prstGeom prst="roundRect">
            <a:avLst>
              <a:gd name="adj" fmla="val 5000"/>
            </a:avLst>
          </a:prstGeom>
          <a:solidFill>
            <a:srgbClr val="ECF8F6"/>
          </a:solidFill>
          <a:ln w="10160">
            <a:solidFill>
              <a:srgbClr val="008C89"/>
            </a:solidFill>
          </a:ln>
        </p:spPr>
      </p:sp>
      <p:sp>
        <p:nvSpPr>
          <p:cNvPr id="123" name="Candidate metric strip 0"/>
          <p:cNvSpPr/>
          <p:nvPr/>
        </p:nvSpPr>
        <p:spPr>
          <a:xfrm>
            <a:off x="8432800" y="4635500"/>
            <a:ext cx="101600" cy="342900"/>
          </a:xfrm>
          <a:prstGeom prst="rect">
            <a:avLst/>
          </a:prstGeom>
          <a:solidFill>
            <a:srgbClr val="ABD0EE"/>
          </a:solidFill>
          <a:ln w="6350">
            <a:solidFill>
              <a:srgbClr val="004A9F"/>
            </a:solidFill>
          </a:ln>
        </p:spPr>
      </p:sp>
      <p:sp>
        <p:nvSpPr>
          <p:cNvPr id="124" name="Candidate metric strip 1"/>
          <p:cNvSpPr/>
          <p:nvPr/>
        </p:nvSpPr>
        <p:spPr>
          <a:xfrm>
            <a:off x="8597900" y="4635500"/>
            <a:ext cx="101600" cy="342900"/>
          </a:xfrm>
          <a:prstGeom prst="rect">
            <a:avLst/>
          </a:prstGeom>
          <a:solidFill>
            <a:srgbClr val="ABD0EE"/>
          </a:solidFill>
          <a:ln w="6350">
            <a:solidFill>
              <a:srgbClr val="004A9F"/>
            </a:solidFill>
          </a:ln>
        </p:spPr>
      </p:sp>
      <p:sp>
        <p:nvSpPr>
          <p:cNvPr id="125" name="Candidate metric strip 2"/>
          <p:cNvSpPr/>
          <p:nvPr/>
        </p:nvSpPr>
        <p:spPr>
          <a:xfrm>
            <a:off x="8763000" y="4635500"/>
            <a:ext cx="101600" cy="342900"/>
          </a:xfrm>
          <a:prstGeom prst="rect">
            <a:avLst/>
          </a:prstGeom>
          <a:solidFill>
            <a:srgbClr val="ABD0EE"/>
          </a:solidFill>
          <a:ln w="6350">
            <a:solidFill>
              <a:srgbClr val="004A9F"/>
            </a:solidFill>
          </a:ln>
        </p:spPr>
      </p:sp>
      <p:sp>
        <p:nvSpPr>
          <p:cNvPr id="126" name="Candidate metric strip 3"/>
          <p:cNvSpPr/>
          <p:nvPr/>
        </p:nvSpPr>
        <p:spPr>
          <a:xfrm>
            <a:off x="8928100" y="4635500"/>
            <a:ext cx="101600" cy="342900"/>
          </a:xfrm>
          <a:prstGeom prst="rect">
            <a:avLst/>
          </a:prstGeom>
          <a:solidFill>
            <a:srgbClr val="ABD0EE"/>
          </a:solidFill>
          <a:ln w="6350">
            <a:solidFill>
              <a:srgbClr val="004A9F"/>
            </a:solidFill>
          </a:ln>
        </p:spPr>
      </p:sp>
      <p:sp>
        <p:nvSpPr>
          <p:cNvPr id="127" name="Candidate metric strip 4"/>
          <p:cNvSpPr/>
          <p:nvPr/>
        </p:nvSpPr>
        <p:spPr>
          <a:xfrm>
            <a:off x="9093200" y="4635500"/>
            <a:ext cx="101600" cy="342900"/>
          </a:xfrm>
          <a:prstGeom prst="rect">
            <a:avLst/>
          </a:prstGeom>
          <a:solidFill>
            <a:srgbClr val="ABD0EE"/>
          </a:solidFill>
          <a:ln w="6350">
            <a:solidFill>
              <a:srgbClr val="004A9F"/>
            </a:solidFill>
          </a:ln>
        </p:spPr>
      </p:sp>
      <p:sp>
        <p:nvSpPr>
          <p:cNvPr id="128" name="Retained metric strip 0"/>
          <p:cNvSpPr/>
          <p:nvPr/>
        </p:nvSpPr>
        <p:spPr>
          <a:xfrm>
            <a:off x="10896600" y="4635500"/>
            <a:ext cx="114300" cy="342900"/>
          </a:xfrm>
          <a:prstGeom prst="rect">
            <a:avLst/>
          </a:prstGeom>
          <a:solidFill>
            <a:srgbClr val="9DD4C9"/>
          </a:solidFill>
          <a:ln w="6350">
            <a:solidFill>
              <a:srgbClr val="008C89"/>
            </a:solidFill>
          </a:ln>
        </p:spPr>
      </p:sp>
      <p:sp>
        <p:nvSpPr>
          <p:cNvPr id="129" name="Retained metric strip 1"/>
          <p:cNvSpPr/>
          <p:nvPr/>
        </p:nvSpPr>
        <p:spPr>
          <a:xfrm>
            <a:off x="11074400" y="4635500"/>
            <a:ext cx="114300" cy="342900"/>
          </a:xfrm>
          <a:prstGeom prst="rect">
            <a:avLst/>
          </a:prstGeom>
          <a:solidFill>
            <a:srgbClr val="9DD4C9"/>
          </a:solidFill>
          <a:ln w="6350">
            <a:solidFill>
              <a:srgbClr val="008C89"/>
            </a:solidFill>
          </a:ln>
        </p:spPr>
      </p:sp>
      <p:sp>
        <p:nvSpPr>
          <p:cNvPr id="130" name="Retained metric strip 2"/>
          <p:cNvSpPr/>
          <p:nvPr/>
        </p:nvSpPr>
        <p:spPr>
          <a:xfrm>
            <a:off x="11252200" y="4635500"/>
            <a:ext cx="114300" cy="342900"/>
          </a:xfrm>
          <a:prstGeom prst="rect">
            <a:avLst/>
          </a:prstGeom>
          <a:solidFill>
            <a:srgbClr val="9DD4C9"/>
          </a:solidFill>
          <a:ln w="6350">
            <a:solidFill>
              <a:srgbClr val="008C89"/>
            </a:solidFill>
          </a:ln>
        </p:spPr>
      </p:sp>
      <p:sp>
        <p:nvSpPr>
          <p:cNvPr id="10" name="Section"/>
          <p:cNvSpPr txBox="1"/>
          <p:nvPr/>
        </p:nvSpPr>
        <p:spPr>
          <a:xfrm>
            <a:off x="355600" y="215900"/>
            <a:ext cx="609600" cy="457200"/>
          </a:xfrm>
          <a:prstGeom prst="rect">
            <a:avLst/>
          </a:prstGeom>
          <a:noFill/>
          <a:ln w="10160">
            <a:noFill/>
          </a:ln>
        </p:spPr>
        <p:txBody>
          <a:bodyPr wrap="square" lIns="0" tIns="0" rIns="0" bIns="0" anchor="ctr">
            <a:noAutofit/>
          </a:bodyPr>
          <a:lstStyle/>
          <a:p>
            <a:pPr marL="0" marR="0" algn="l">
              <a:lnSpc>
                <a:spcPts val="3585"/>
              </a:lnSpc>
              <a:buNone/>
            </a:pPr>
            <a:r>
              <a:rPr lang="zh-CN" sz="28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sz="2800"/>
          </a:p>
        </p:txBody>
      </p:sp>
      <p:sp>
        <p:nvSpPr>
          <p:cNvPr id="12" name="Slide title"/>
          <p:cNvSpPr txBox="1"/>
          <p:nvPr/>
        </p:nvSpPr>
        <p:spPr>
          <a:xfrm>
            <a:off x="1371600" y="215900"/>
            <a:ext cx="10464800" cy="457200"/>
          </a:xfrm>
          <a:prstGeom prst="rect">
            <a:avLst/>
          </a:prstGeom>
          <a:noFill/>
          <a:ln w="10160">
            <a:noFill/>
          </a:ln>
        </p:spPr>
        <p:txBody>
          <a:bodyPr wrap="square" lIns="0" tIns="0" rIns="0" bIns="0" anchor="ctr">
            <a:noAutofit/>
          </a:bodyPr>
          <a:lstStyle/>
          <a:p>
            <a:pPr marL="0" marR="0" algn="l">
              <a:lnSpc>
                <a:spcPts val="3330"/>
              </a:lnSpc>
              <a:buNone/>
            </a:pPr>
            <a:r>
              <a:rPr lang="zh-CN" sz="260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后续研究内容</a:t>
            </a:r>
            <a:endParaRPr lang="zh-CN" sz="2600"/>
          </a:p>
        </p:txBody>
      </p:sp>
      <p:sp>
        <p:nvSpPr>
          <p:cNvPr id="14" name="Subtitle"/>
          <p:cNvSpPr txBox="1"/>
          <p:nvPr/>
        </p:nvSpPr>
        <p:spPr>
          <a:xfrm>
            <a:off x="368300" y="927100"/>
            <a:ext cx="11455400" cy="342900"/>
          </a:xfrm>
          <a:prstGeom prst="rect">
            <a:avLst/>
          </a:prstGeom>
          <a:noFill/>
          <a:ln w="10160">
            <a:noFill/>
          </a:ln>
        </p:spPr>
        <p:txBody>
          <a:bodyPr wrap="square" lIns="0" tIns="0" rIns="0" bIns="0" anchor="ctr">
            <a:noAutofit/>
          </a:bodyPr>
          <a:lstStyle/>
          <a:p>
            <a:pPr marL="0" marR="0" algn="l">
              <a:lnSpc>
                <a:spcPts val="1730"/>
              </a:lnSpc>
              <a:buNone/>
            </a:pPr>
            <a:r>
              <a:rPr lang="zh-CN" sz="13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拟从数据分析、融合机制与轻量化设计三个方面开展研究</a:t>
            </a:r>
            <a:endParaRPr lang="zh-CN" sz="1350"/>
          </a:p>
        </p:txBody>
      </p:sp>
      <p:sp>
        <p:nvSpPr>
          <p:cNvPr id="15" name="Page number"/>
          <p:cNvSpPr txBox="1"/>
          <p:nvPr/>
        </p:nvSpPr>
        <p:spPr>
          <a:xfrm>
            <a:off x="11569700" y="6604000"/>
            <a:ext cx="342900" cy="203200"/>
          </a:xfrm>
          <a:prstGeom prst="rect">
            <a:avLst/>
          </a:prstGeom>
          <a:noFill/>
          <a:ln w="10160">
            <a:noFill/>
          </a:ln>
        </p:spPr>
        <p:txBody>
          <a:bodyPr wrap="square" lIns="0" tIns="0" rIns="0" bIns="0" anchor="ctr">
            <a:noAutofit/>
          </a:bodyPr>
          <a:lstStyle/>
          <a:p>
            <a:pPr marL="0" marR="0" algn="r">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15</a:t>
            </a:r>
            <a:endParaRPr lang="zh-CN" sz="1150"/>
          </a:p>
        </p:txBody>
      </p:sp>
      <p:sp>
        <p:nvSpPr>
          <p:cNvPr id="17" name="Direction 1 index"/>
          <p:cNvSpPr txBox="1"/>
          <p:nvPr/>
        </p:nvSpPr>
        <p:spPr>
          <a:xfrm>
            <a:off x="355600" y="1409700"/>
            <a:ext cx="469900" cy="469900"/>
          </a:xfrm>
          <a:prstGeom prst="rect">
            <a:avLst/>
          </a:prstGeom>
          <a:noFill/>
          <a:ln w="10160">
            <a:noFill/>
          </a:ln>
        </p:spPr>
        <p:txBody>
          <a:bodyPr wrap="square" lIns="0" tIns="0" rIns="0" bIns="0" anchor="ctr">
            <a:noAutofit/>
          </a:bodyPr>
          <a:lstStyle/>
          <a:p>
            <a:pPr marL="0" marR="0" algn="ctr">
              <a:lnSpc>
                <a:spcPts val="2560"/>
              </a:lnSpc>
              <a:buNone/>
            </a:pPr>
            <a:r>
              <a:rPr lang="zh-CN"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sz="2000"/>
          </a:p>
        </p:txBody>
      </p:sp>
      <p:sp>
        <p:nvSpPr>
          <p:cNvPr id="18" name="Direction 1 title"/>
          <p:cNvSpPr txBox="1"/>
          <p:nvPr/>
        </p:nvSpPr>
        <p:spPr>
          <a:xfrm>
            <a:off x="977900" y="1371600"/>
            <a:ext cx="3022600" cy="647700"/>
          </a:xfrm>
          <a:prstGeom prst="rect">
            <a:avLst/>
          </a:prstGeom>
          <a:noFill/>
          <a:ln w="10160">
            <a:noFill/>
          </a:ln>
        </p:spPr>
        <p:txBody>
          <a:bodyPr wrap="square" lIns="0" tIns="0" rIns="0" bIns="0" anchor="ctr">
            <a:noAutofit/>
          </a:bodyPr>
          <a:lstStyle/>
          <a:p>
            <a:pPr marL="0" marR="0" algn="l">
              <a:lnSpc>
                <a:spcPts val="2140"/>
              </a:lnSpc>
              <a:buNone/>
            </a:pPr>
            <a:r>
              <a:rPr lang="zh-CN" sz="167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复杂工况多模态数据</a:t>
            </a:r>
            <a:endParaRPr lang="zh-CN" sz="1670"/>
          </a:p>
          <a:p>
            <a:pPr marL="0" marR="0" algn="l">
              <a:lnSpc>
                <a:spcPts val="2140"/>
              </a:lnSpc>
              <a:buNone/>
            </a:pPr>
            <a:r>
              <a:rPr lang="zh-CN" sz="167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特性分析与退化方法</a:t>
            </a:r>
            <a:endParaRPr lang="zh-CN" sz="1670"/>
          </a:p>
        </p:txBody>
      </p:sp>
      <p:sp>
        <p:nvSpPr>
          <p:cNvPr id="20" name="Direction 2 index"/>
          <p:cNvSpPr txBox="1"/>
          <p:nvPr/>
        </p:nvSpPr>
        <p:spPr>
          <a:xfrm>
            <a:off x="4292600" y="1409700"/>
            <a:ext cx="469900" cy="469900"/>
          </a:xfrm>
          <a:prstGeom prst="rect">
            <a:avLst/>
          </a:prstGeom>
          <a:noFill/>
          <a:ln w="10160">
            <a:noFill/>
          </a:ln>
        </p:spPr>
        <p:txBody>
          <a:bodyPr wrap="square" lIns="0" tIns="0" rIns="0" bIns="0" anchor="ctr">
            <a:noAutofit/>
          </a:bodyPr>
          <a:lstStyle/>
          <a:p>
            <a:pPr marL="0" marR="0" algn="ctr">
              <a:lnSpc>
                <a:spcPts val="2560"/>
              </a:lnSpc>
              <a:buNone/>
            </a:pPr>
            <a:r>
              <a:rPr lang="zh-CN"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02</a:t>
            </a:r>
            <a:endParaRPr lang="zh-CN" sz="2000"/>
          </a:p>
        </p:txBody>
      </p:sp>
      <p:sp>
        <p:nvSpPr>
          <p:cNvPr id="21" name="Direction 2 title"/>
          <p:cNvSpPr txBox="1"/>
          <p:nvPr/>
        </p:nvSpPr>
        <p:spPr>
          <a:xfrm>
            <a:off x="4914900" y="1371600"/>
            <a:ext cx="3022600" cy="647700"/>
          </a:xfrm>
          <a:prstGeom prst="rect">
            <a:avLst/>
          </a:prstGeom>
          <a:noFill/>
          <a:ln w="10160">
            <a:noFill/>
          </a:ln>
        </p:spPr>
        <p:txBody>
          <a:bodyPr wrap="square" lIns="0" tIns="0" rIns="0" bIns="0" anchor="ctr">
            <a:noAutofit/>
          </a:bodyPr>
          <a:lstStyle/>
          <a:p>
            <a:pPr marL="0" marR="0" algn="l">
              <a:lnSpc>
                <a:spcPts val="2140"/>
              </a:lnSpc>
              <a:buNone/>
            </a:pPr>
            <a:r>
              <a:rPr lang="zh-CN" sz="167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输入质量引导的多模态</a:t>
            </a:r>
            <a:endParaRPr lang="zh-CN" sz="1670"/>
          </a:p>
          <a:p>
            <a:pPr marL="0" marR="0" algn="l">
              <a:lnSpc>
                <a:spcPts val="2140"/>
              </a:lnSpc>
              <a:buNone/>
            </a:pPr>
            <a:r>
              <a:rPr lang="zh-CN" sz="167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自适应融合机制</a:t>
            </a:r>
            <a:endParaRPr lang="zh-CN" sz="1670"/>
          </a:p>
        </p:txBody>
      </p:sp>
      <p:sp>
        <p:nvSpPr>
          <p:cNvPr id="23" name="Direction 3 index"/>
          <p:cNvSpPr txBox="1"/>
          <p:nvPr/>
        </p:nvSpPr>
        <p:spPr>
          <a:xfrm>
            <a:off x="8229600" y="1409700"/>
            <a:ext cx="469900" cy="469900"/>
          </a:xfrm>
          <a:prstGeom prst="rect">
            <a:avLst/>
          </a:prstGeom>
          <a:noFill/>
          <a:ln w="10160">
            <a:noFill/>
          </a:ln>
        </p:spPr>
        <p:txBody>
          <a:bodyPr wrap="square" lIns="0" tIns="0" rIns="0" bIns="0" anchor="ctr">
            <a:noAutofit/>
          </a:bodyPr>
          <a:lstStyle/>
          <a:p>
            <a:pPr marL="0" marR="0" algn="ctr">
              <a:lnSpc>
                <a:spcPts val="2560"/>
              </a:lnSpc>
              <a:buNone/>
            </a:pPr>
            <a:r>
              <a:rPr lang="zh-CN"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sz="2000"/>
          </a:p>
        </p:txBody>
      </p:sp>
      <p:sp>
        <p:nvSpPr>
          <p:cNvPr id="24" name="Direction 3 title"/>
          <p:cNvSpPr txBox="1"/>
          <p:nvPr/>
        </p:nvSpPr>
        <p:spPr>
          <a:xfrm>
            <a:off x="8851900" y="1371600"/>
            <a:ext cx="3022600" cy="647700"/>
          </a:xfrm>
          <a:prstGeom prst="rect">
            <a:avLst/>
          </a:prstGeom>
          <a:noFill/>
          <a:ln w="10160">
            <a:noFill/>
          </a:ln>
        </p:spPr>
        <p:txBody>
          <a:bodyPr wrap="square" lIns="0" tIns="0" rIns="0" bIns="0" anchor="ctr">
            <a:noAutofit/>
          </a:bodyPr>
          <a:lstStyle/>
          <a:p>
            <a:pPr marL="0" marR="0" algn="l">
              <a:lnSpc>
                <a:spcPts val="2140"/>
              </a:lnSpc>
              <a:buNone/>
            </a:pPr>
            <a:r>
              <a:rPr lang="zh-CN" sz="167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减少新增计算开销的</a:t>
            </a:r>
            <a:endParaRPr lang="zh-CN" sz="1670"/>
          </a:p>
          <a:p>
            <a:pPr marL="0" marR="0" algn="l">
              <a:lnSpc>
                <a:spcPts val="2140"/>
              </a:lnSpc>
              <a:buNone/>
            </a:pPr>
            <a:r>
              <a:rPr lang="zh-CN" sz="167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轻量化设计</a:t>
            </a:r>
            <a:endParaRPr lang="zh-CN" sz="1670"/>
          </a:p>
        </p:txBody>
      </p:sp>
      <p:sp>
        <p:nvSpPr>
          <p:cNvPr id="27" name="Image schematic heading"/>
          <p:cNvSpPr txBox="1"/>
          <p:nvPr/>
        </p:nvSpPr>
        <p:spPr>
          <a:xfrm>
            <a:off x="431800" y="2235200"/>
            <a:ext cx="1168400" cy="279400"/>
          </a:xfrm>
          <a:prstGeom prst="rect">
            <a:avLst/>
          </a:prstGeom>
          <a:noFill/>
          <a:ln w="10160">
            <a:noFill/>
          </a:ln>
        </p:spPr>
        <p:txBody>
          <a:bodyPr wrap="square" lIns="0" tIns="0" rIns="0" bIns="0" anchor="ctr">
            <a:noAutofit/>
          </a:bodyPr>
          <a:lstStyle/>
          <a:p>
            <a:pPr marL="0" marR="0" algn="l">
              <a:lnSpc>
                <a:spcPts val="1855"/>
              </a:lnSpc>
              <a:buNone/>
            </a:pPr>
            <a:r>
              <a:rPr lang="zh-CN" sz="14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a:t>
            </a:r>
            <a:endParaRPr lang="zh-CN" sz="1450"/>
          </a:p>
        </p:txBody>
      </p:sp>
      <p:sp>
        <p:nvSpPr>
          <p:cNvPr id="31" name="Point schematic heading"/>
          <p:cNvSpPr txBox="1"/>
          <p:nvPr/>
        </p:nvSpPr>
        <p:spPr>
          <a:xfrm>
            <a:off x="431800" y="3467100"/>
            <a:ext cx="1270000" cy="279400"/>
          </a:xfrm>
          <a:prstGeom prst="rect">
            <a:avLst/>
          </a:prstGeom>
          <a:noFill/>
          <a:ln w="10160">
            <a:noFill/>
          </a:ln>
        </p:spPr>
        <p:txBody>
          <a:bodyPr wrap="square" lIns="0" tIns="0" rIns="0" bIns="0" anchor="ctr">
            <a:noAutofit/>
          </a:bodyPr>
          <a:lstStyle/>
          <a:p>
            <a:pPr marL="0" marR="0" algn="l">
              <a:lnSpc>
                <a:spcPts val="1715"/>
              </a:lnSpc>
              <a:buNone/>
            </a:pPr>
            <a:r>
              <a:rPr lang="zh-CN" sz="134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激光雷达点云</a:t>
            </a:r>
            <a:endParaRPr lang="zh-CN" sz="1340"/>
          </a:p>
        </p:txBody>
      </p:sp>
      <p:sp>
        <p:nvSpPr>
          <p:cNvPr id="60" name="Data schematic disclaimer"/>
          <p:cNvSpPr txBox="1"/>
          <p:nvPr/>
        </p:nvSpPr>
        <p:spPr>
          <a:xfrm>
            <a:off x="431800" y="4559300"/>
            <a:ext cx="1257300" cy="228600"/>
          </a:xfrm>
          <a:prstGeom prst="rect">
            <a:avLst/>
          </a:prstGeom>
          <a:noFill/>
          <a:ln w="10160">
            <a:noFill/>
          </a:ln>
        </p:spPr>
        <p:txBody>
          <a:bodyPr wrap="square" lIns="0" tIns="0" rIns="0" bIns="0" anchor="ctr">
            <a:noAutofit/>
          </a:bodyPr>
          <a:lstStyle/>
          <a:p>
            <a:pPr marL="0" marR="0" algn="ctr">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数据示意</a:t>
            </a:r>
            <a:endParaRPr lang="zh-CN" sz="1150"/>
          </a:p>
        </p:txBody>
      </p:sp>
      <p:sp>
        <p:nvSpPr>
          <p:cNvPr id="62" name="Candidate quality heading"/>
          <p:cNvSpPr txBox="1"/>
          <p:nvPr/>
        </p:nvSpPr>
        <p:spPr>
          <a:xfrm>
            <a:off x="2032000" y="2552700"/>
            <a:ext cx="1689100" cy="406400"/>
          </a:xfrm>
          <a:prstGeom prst="rect">
            <a:avLst/>
          </a:prstGeom>
          <a:noFill/>
          <a:ln w="10160">
            <a:noFill/>
          </a:ln>
        </p:spPr>
        <p:txBody>
          <a:bodyPr wrap="square" lIns="0" tIns="0" rIns="0" bIns="0" anchor="ctr">
            <a:noAutofit/>
          </a:bodyPr>
          <a:lstStyle/>
          <a:p>
            <a:pPr marL="0" marR="0" algn="l">
              <a:lnSpc>
                <a:spcPts val="1765"/>
              </a:lnSpc>
              <a:buNone/>
            </a:pPr>
            <a:r>
              <a:rPr lang="zh-CN" sz="138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质量指标（候选）</a:t>
            </a:r>
            <a:endParaRPr lang="zh-CN" sz="1380"/>
          </a:p>
        </p:txBody>
      </p:sp>
      <p:sp>
        <p:nvSpPr>
          <p:cNvPr id="63" name="Quality indicator 1"/>
          <p:cNvSpPr txBox="1"/>
          <p:nvPr/>
        </p:nvSpPr>
        <p:spPr>
          <a:xfrm>
            <a:off x="2044700" y="3048000"/>
            <a:ext cx="1676400" cy="3048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亮度与对比度</a:t>
            </a:r>
            <a:endParaRPr lang="zh-CN" sz="1250"/>
          </a:p>
        </p:txBody>
      </p:sp>
      <p:sp>
        <p:nvSpPr>
          <p:cNvPr id="64" name="Quality indicator 2"/>
          <p:cNvSpPr txBox="1"/>
          <p:nvPr/>
        </p:nvSpPr>
        <p:spPr>
          <a:xfrm>
            <a:off x="2044700" y="3429000"/>
            <a:ext cx="1676400" cy="3048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清晰度与噪声</a:t>
            </a:r>
            <a:endParaRPr lang="zh-CN" sz="1250"/>
          </a:p>
        </p:txBody>
      </p:sp>
      <p:sp>
        <p:nvSpPr>
          <p:cNvPr id="65" name="Quality indicator 3"/>
          <p:cNvSpPr txBox="1"/>
          <p:nvPr/>
        </p:nvSpPr>
        <p:spPr>
          <a:xfrm>
            <a:off x="2044700" y="3810000"/>
            <a:ext cx="1676400" cy="3048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点云数量与密度</a:t>
            </a:r>
            <a:endParaRPr lang="zh-CN" sz="1250"/>
          </a:p>
        </p:txBody>
      </p:sp>
      <p:sp>
        <p:nvSpPr>
          <p:cNvPr id="66" name="Quality indicator 4"/>
          <p:cNvSpPr txBox="1"/>
          <p:nvPr/>
        </p:nvSpPr>
        <p:spPr>
          <a:xfrm>
            <a:off x="2044700" y="4191000"/>
            <a:ext cx="1676400" cy="3048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局部结构稳定性</a:t>
            </a:r>
            <a:endParaRPr lang="zh-CN" sz="1250"/>
          </a:p>
        </p:txBody>
      </p:sp>
      <p:sp>
        <p:nvSpPr>
          <p:cNvPr id="73" name="Image feature label"/>
          <p:cNvSpPr txBox="1"/>
          <p:nvPr/>
        </p:nvSpPr>
        <p:spPr>
          <a:xfrm>
            <a:off x="4470400" y="2235200"/>
            <a:ext cx="1397000" cy="279400"/>
          </a:xfrm>
          <a:prstGeom prst="rect">
            <a:avLst/>
          </a:prstGeom>
          <a:noFill/>
          <a:ln w="10160">
            <a:noFill/>
          </a:ln>
        </p:spPr>
        <p:txBody>
          <a:bodyPr wrap="square" lIns="0" tIns="0" rIns="0" bIns="0" anchor="ctr">
            <a:noAutofit/>
          </a:bodyPr>
          <a:lstStyle/>
          <a:p>
            <a:pPr marL="0" marR="0" algn="l">
              <a:lnSpc>
                <a:spcPts val="1730"/>
              </a:lnSpc>
              <a:buNone/>
            </a:pPr>
            <a:r>
              <a:rPr lang="zh-CN" sz="13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图像特征 F_I</a:t>
            </a:r>
            <a:endParaRPr lang="zh-CN" sz="1350"/>
          </a:p>
        </p:txBody>
      </p:sp>
      <p:sp>
        <p:nvSpPr>
          <p:cNvPr id="78" name="Lidar feature label"/>
          <p:cNvSpPr txBox="1"/>
          <p:nvPr/>
        </p:nvSpPr>
        <p:spPr>
          <a:xfrm>
            <a:off x="4470400" y="3594100"/>
            <a:ext cx="1397000" cy="279400"/>
          </a:xfrm>
          <a:prstGeom prst="rect">
            <a:avLst/>
          </a:prstGeom>
          <a:noFill/>
          <a:ln w="10160">
            <a:noFill/>
          </a:ln>
        </p:spPr>
        <p:txBody>
          <a:bodyPr wrap="square" lIns="0" tIns="0" rIns="0" bIns="0" anchor="ctr">
            <a:noAutofit/>
          </a:bodyPr>
          <a:lstStyle/>
          <a:p>
            <a:pPr marL="0" marR="0" algn="l">
              <a:lnSpc>
                <a:spcPts val="1730"/>
              </a:lnSpc>
              <a:buNone/>
            </a:pPr>
            <a:r>
              <a:rPr lang="zh-CN" sz="135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点云特征 F_L</a:t>
            </a:r>
            <a:endParaRPr lang="zh-CN" sz="1350"/>
          </a:p>
        </p:txBody>
      </p:sp>
      <p:sp>
        <p:nvSpPr>
          <p:cNvPr id="84" name="Fused feature label"/>
          <p:cNvSpPr txBox="1"/>
          <p:nvPr/>
        </p:nvSpPr>
        <p:spPr>
          <a:xfrm>
            <a:off x="6083300" y="4127500"/>
            <a:ext cx="1739900" cy="304800"/>
          </a:xfrm>
          <a:prstGeom prst="rect">
            <a:avLst/>
          </a:prstGeom>
          <a:noFill/>
          <a:ln w="10160">
            <a:noFill/>
          </a:ln>
        </p:spPr>
        <p:txBody>
          <a:bodyPr wrap="square" lIns="0" tIns="0" rIns="0" bIns="0" anchor="ctr">
            <a:noAutofit/>
          </a:bodyPr>
          <a:lstStyle/>
          <a:p>
            <a:pPr marL="0" marR="0" algn="ctr">
              <a:lnSpc>
                <a:spcPts val="1700"/>
              </a:lnSpc>
              <a:buNone/>
            </a:pPr>
            <a:r>
              <a:rPr lang="zh-CN" sz="133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加权拼接特征 F</a:t>
            </a:r>
            <a:endParaRPr lang="zh-CN" sz="1330"/>
          </a:p>
        </p:txBody>
      </p:sp>
      <p:sp>
        <p:nvSpPr>
          <p:cNvPr id="91" name="Quality vector q heading"/>
          <p:cNvSpPr txBox="1"/>
          <p:nvPr/>
        </p:nvSpPr>
        <p:spPr>
          <a:xfrm>
            <a:off x="4445000" y="4876800"/>
            <a:ext cx="469900" cy="254000"/>
          </a:xfrm>
          <a:prstGeom prst="rect">
            <a:avLst/>
          </a:prstGeom>
          <a:noFill/>
          <a:ln w="10160">
            <a:noFill/>
          </a:ln>
        </p:spPr>
        <p:txBody>
          <a:bodyPr wrap="square" lIns="0" tIns="0" rIns="0" bIns="0" anchor="ctr">
            <a:noAutofit/>
          </a:bodyPr>
          <a:lstStyle/>
          <a:p>
            <a:pPr marL="0" marR="0" algn="l">
              <a:lnSpc>
                <a:spcPts val="1730"/>
              </a:lnSpc>
              <a:buNone/>
            </a:pPr>
            <a:r>
              <a:rPr lang="zh-CN" sz="13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q</a:t>
            </a:r>
            <a:endParaRPr lang="zh-CN" sz="1350"/>
          </a:p>
        </p:txBody>
      </p:sp>
      <p:sp>
        <p:nvSpPr>
          <p:cNvPr id="98" name="Quality-guided controller label"/>
          <p:cNvSpPr txBox="1"/>
          <p:nvPr/>
        </p:nvSpPr>
        <p:spPr>
          <a:xfrm>
            <a:off x="5600700" y="4775200"/>
            <a:ext cx="1981200" cy="330200"/>
          </a:xfrm>
          <a:prstGeom prst="rect">
            <a:avLst/>
          </a:prstGeom>
          <a:noFill/>
          <a:ln w="10160">
            <a:noFill/>
          </a:ln>
        </p:spPr>
        <p:txBody>
          <a:bodyPr wrap="square" lIns="0" tIns="0" rIns="0" bIns="0" anchor="ctr">
            <a:noAutofit/>
          </a:bodyPr>
          <a:lstStyle/>
          <a:p>
            <a:pPr marL="0" marR="0" algn="ctr">
              <a:lnSpc>
                <a:spcPts val="1790"/>
              </a:lnSpc>
              <a:buNone/>
            </a:pPr>
            <a:r>
              <a:rPr lang="zh-CN" sz="14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MLP + Softmax</a:t>
            </a:r>
            <a:endParaRPr lang="zh-CN" sz="1400"/>
          </a:p>
        </p:txBody>
      </p:sp>
      <p:sp>
        <p:nvSpPr>
          <p:cNvPr id="101" name="Compact weight generator heading"/>
          <p:cNvSpPr txBox="1"/>
          <p:nvPr/>
        </p:nvSpPr>
        <p:spPr>
          <a:xfrm>
            <a:off x="8318500" y="2273300"/>
            <a:ext cx="3505200" cy="304800"/>
          </a:xfrm>
          <a:prstGeom prst="rect">
            <a:avLst/>
          </a:prstGeom>
          <a:noFill/>
          <a:ln w="10160">
            <a:noFill/>
          </a:ln>
        </p:spPr>
        <p:txBody>
          <a:bodyPr wrap="square" lIns="0" tIns="0" rIns="0" bIns="0" anchor="ctr">
            <a:noAutofit/>
          </a:bodyPr>
          <a:lstStyle/>
          <a:p>
            <a:pPr marL="0" marR="0" algn="l">
              <a:lnSpc>
                <a:spcPts val="1855"/>
              </a:lnSpc>
              <a:buNone/>
            </a:pPr>
            <a:r>
              <a:rPr lang="zh-CN" sz="14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基于质量向量的紧凑权重生成</a:t>
            </a:r>
            <a:endParaRPr lang="zh-CN" sz="1450"/>
          </a:p>
        </p:txBody>
      </p:sp>
      <p:sp>
        <p:nvSpPr>
          <p:cNvPr id="102" name="Compact quality vector label"/>
          <p:cNvSpPr txBox="1"/>
          <p:nvPr/>
        </p:nvSpPr>
        <p:spPr>
          <a:xfrm>
            <a:off x="8382000" y="2806700"/>
            <a:ext cx="825500" cy="266700"/>
          </a:xfrm>
          <a:prstGeom prst="rect">
            <a:avLst/>
          </a:prstGeom>
          <a:noFill/>
          <a:ln w="10160">
            <a:noFill/>
          </a:ln>
        </p:spPr>
        <p:txBody>
          <a:bodyPr wrap="square" lIns="0" tIns="0" rIns="0" bIns="0" anchor="ctr">
            <a:noAutofit/>
          </a:bodyPr>
          <a:lstStyle/>
          <a:p>
            <a:pPr marL="0" marR="0" algn="l">
              <a:lnSpc>
                <a:spcPts val="1535"/>
              </a:lnSpc>
              <a:buNone/>
            </a:pPr>
            <a:r>
              <a:rPr lang="zh-CN" sz="12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质量向量 q</a:t>
            </a:r>
            <a:endParaRPr lang="zh-CN" sz="1200"/>
          </a:p>
        </p:txBody>
      </p:sp>
      <p:sp>
        <p:nvSpPr>
          <p:cNvPr id="109" name="Compact MLP label"/>
          <p:cNvSpPr txBox="1"/>
          <p:nvPr/>
        </p:nvSpPr>
        <p:spPr>
          <a:xfrm>
            <a:off x="9410700" y="3098800"/>
            <a:ext cx="1168400" cy="368300"/>
          </a:xfrm>
          <a:prstGeom prst="rect">
            <a:avLst/>
          </a:prstGeom>
          <a:noFill/>
          <a:ln w="10160">
            <a:noFill/>
          </a:ln>
        </p:spPr>
        <p:txBody>
          <a:bodyPr wrap="square" lIns="0" tIns="0" rIns="0" bIns="0" anchor="ctr">
            <a:noAutofit/>
          </a:bodyPr>
          <a:lstStyle/>
          <a:p>
            <a:pPr marL="0" marR="0" algn="ctr">
              <a:lnSpc>
                <a:spcPts val="1740"/>
              </a:lnSpc>
              <a:buNone/>
            </a:pPr>
            <a:r>
              <a:rPr lang="zh-CN" sz="136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小型MLP</a:t>
            </a:r>
            <a:endParaRPr lang="zh-CN" sz="1360"/>
          </a:p>
        </p:txBody>
      </p:sp>
      <p:sp>
        <p:nvSpPr>
          <p:cNvPr id="112" name="Image weight label"/>
          <p:cNvSpPr txBox="1"/>
          <p:nvPr/>
        </p:nvSpPr>
        <p:spPr>
          <a:xfrm>
            <a:off x="11074400" y="2882900"/>
            <a:ext cx="546100" cy="292100"/>
          </a:xfrm>
          <a:prstGeom prst="rect">
            <a:avLst/>
          </a:prstGeom>
          <a:noFill/>
          <a:ln w="10160">
            <a:noFill/>
          </a:ln>
        </p:spPr>
        <p:txBody>
          <a:bodyPr wrap="square" lIns="0" tIns="0" rIns="0" bIns="0" anchor="ctr">
            <a:noAutofit/>
          </a:bodyPr>
          <a:lstStyle/>
          <a:p>
            <a:pPr marL="0" marR="0" algn="ctr">
              <a:lnSpc>
                <a:spcPts val="1790"/>
              </a:lnSpc>
              <a:buNone/>
            </a:pPr>
            <a:r>
              <a:rPr lang="zh-CN" sz="14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w_I</a:t>
            </a:r>
            <a:endParaRPr lang="zh-CN" sz="1400"/>
          </a:p>
        </p:txBody>
      </p:sp>
      <p:sp>
        <p:nvSpPr>
          <p:cNvPr id="114" name="Lidar weight label"/>
          <p:cNvSpPr txBox="1"/>
          <p:nvPr/>
        </p:nvSpPr>
        <p:spPr>
          <a:xfrm>
            <a:off x="11074400" y="3429000"/>
            <a:ext cx="546100" cy="292100"/>
          </a:xfrm>
          <a:prstGeom prst="rect">
            <a:avLst/>
          </a:prstGeom>
          <a:noFill/>
          <a:ln w="10160">
            <a:noFill/>
          </a:ln>
        </p:spPr>
        <p:txBody>
          <a:bodyPr wrap="square" lIns="0" tIns="0" rIns="0" bIns="0" anchor="ctr">
            <a:noAutofit/>
          </a:bodyPr>
          <a:lstStyle/>
          <a:p>
            <a:pPr marL="0" marR="0" algn="ctr">
              <a:lnSpc>
                <a:spcPts val="1790"/>
              </a:lnSpc>
              <a:buNone/>
            </a:pPr>
            <a:r>
              <a:rPr lang="zh-CN" sz="14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w_L</a:t>
            </a:r>
            <a:endParaRPr lang="zh-CN" sz="1400"/>
          </a:p>
        </p:txBody>
      </p:sp>
      <p:sp>
        <p:nvSpPr>
          <p:cNvPr id="122" name="Indicator selection heading"/>
          <p:cNvSpPr txBox="1"/>
          <p:nvPr/>
        </p:nvSpPr>
        <p:spPr>
          <a:xfrm>
            <a:off x="8318500" y="4076700"/>
            <a:ext cx="2286000" cy="292100"/>
          </a:xfrm>
          <a:prstGeom prst="rect">
            <a:avLst/>
          </a:prstGeom>
          <a:noFill/>
          <a:ln w="10160">
            <a:noFill/>
          </a:ln>
        </p:spPr>
        <p:txBody>
          <a:bodyPr wrap="square" lIns="0" tIns="0" rIns="0" bIns="0" anchor="ctr">
            <a:noAutofit/>
          </a:bodyPr>
          <a:lstStyle/>
          <a:p>
            <a:pPr marL="0" marR="0" algn="l">
              <a:lnSpc>
                <a:spcPts val="1855"/>
              </a:lnSpc>
              <a:buNone/>
            </a:pPr>
            <a:r>
              <a:rPr lang="zh-CN" sz="14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指标筛选</a:t>
            </a:r>
            <a:endParaRPr lang="zh-CN" sz="1450"/>
          </a:p>
        </p:txBody>
      </p:sp>
      <p:sp>
        <p:nvSpPr>
          <p:cNvPr id="131" name="Candidate metrics label"/>
          <p:cNvSpPr txBox="1"/>
          <p:nvPr/>
        </p:nvSpPr>
        <p:spPr>
          <a:xfrm>
            <a:off x="8343900" y="4343400"/>
            <a:ext cx="1270000" cy="266700"/>
          </a:xfrm>
          <a:prstGeom prst="rect">
            <a:avLst/>
          </a:prstGeom>
          <a:noFill/>
          <a:ln w="10160">
            <a:noFill/>
          </a:ln>
        </p:spPr>
        <p:txBody>
          <a:bodyPr wrap="square" lIns="0" tIns="0" rIns="0" bIns="0" anchor="ctr">
            <a:noAutofit/>
          </a:bodyPr>
          <a:lstStyle/>
          <a:p>
            <a:pPr marL="0" marR="0" algn="l">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候选质量指标</a:t>
            </a:r>
            <a:endParaRPr lang="zh-CN" sz="1150"/>
          </a:p>
        </p:txBody>
      </p:sp>
      <p:sp>
        <p:nvSpPr>
          <p:cNvPr id="132" name="Retained metrics label"/>
          <p:cNvSpPr txBox="1"/>
          <p:nvPr/>
        </p:nvSpPr>
        <p:spPr>
          <a:xfrm>
            <a:off x="10553700" y="4343400"/>
            <a:ext cx="1282700" cy="266700"/>
          </a:xfrm>
          <a:prstGeom prst="rect">
            <a:avLst/>
          </a:prstGeom>
          <a:noFill/>
          <a:ln w="10160">
            <a:noFill/>
          </a:ln>
        </p:spPr>
        <p:txBody>
          <a:bodyPr wrap="square" lIns="0" tIns="0" rIns="0" bIns="0" anchor="ctr">
            <a:noAutofit/>
          </a:bodyPr>
          <a:lstStyle/>
          <a:p>
            <a:pPr marL="0" marR="0" algn="l">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精简质量指标</a:t>
            </a:r>
            <a:endParaRPr lang="zh-CN" sz="1150"/>
          </a:p>
        </p:txBody>
      </p:sp>
      <p:sp>
        <p:nvSpPr>
          <p:cNvPr id="134" name="Selection label"/>
          <p:cNvSpPr txBox="1"/>
          <p:nvPr/>
        </p:nvSpPr>
        <p:spPr>
          <a:xfrm>
            <a:off x="9715500" y="4457700"/>
            <a:ext cx="584200" cy="279400"/>
          </a:xfrm>
          <a:prstGeom prst="rect">
            <a:avLst/>
          </a:prstGeom>
          <a:noFill/>
          <a:ln w="10160">
            <a:noFill/>
          </a:ln>
        </p:spPr>
        <p:txBody>
          <a:bodyPr wrap="square" lIns="0" tIns="0" rIns="0" bIns="0" anchor="ctr">
            <a:noAutofit/>
          </a:bodyPr>
          <a:lstStyle/>
          <a:p>
            <a:pPr marL="0" marR="0" algn="ctr">
              <a:lnSpc>
                <a:spcPts val="1535"/>
              </a:lnSpc>
              <a:buNone/>
            </a:pPr>
            <a:r>
              <a:rPr lang="zh-CN" sz="1200" b="0"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sz="1200"/>
          </a:p>
        </p:txBody>
      </p:sp>
      <p:sp>
        <p:nvSpPr>
          <p:cNvPr id="135" name="Direction 1 mechanism"/>
          <p:cNvSpPr txBox="1"/>
          <p:nvPr/>
        </p:nvSpPr>
        <p:spPr>
          <a:xfrm>
            <a:off x="355600" y="5283200"/>
            <a:ext cx="3644900" cy="304800"/>
          </a:xfrm>
          <a:prstGeom prst="rect">
            <a:avLst/>
          </a:prstGeom>
          <a:noFill/>
          <a:ln w="10160">
            <a:noFill/>
          </a:ln>
        </p:spPr>
        <p:txBody>
          <a:bodyPr wrap="square" lIns="0" tIns="0" rIns="0" bIns="0" anchor="ctr">
            <a:noAutofit/>
          </a:bodyPr>
          <a:lstStyle/>
          <a:p>
            <a:pPr marL="0" marR="0" algn="ctr">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退化建模与指标筛选</a:t>
            </a:r>
            <a:endParaRPr lang="zh-CN" sz="1600"/>
          </a:p>
        </p:txBody>
      </p:sp>
      <p:sp>
        <p:nvSpPr>
          <p:cNvPr id="136" name="Direction 1 description"/>
          <p:cNvSpPr txBox="1"/>
          <p:nvPr/>
        </p:nvSpPr>
        <p:spPr>
          <a:xfrm>
            <a:off x="355600" y="5638800"/>
            <a:ext cx="3644900" cy="469900"/>
          </a:xfrm>
          <a:prstGeom prst="rect">
            <a:avLst/>
          </a:prstGeom>
          <a:noFill/>
          <a:ln w="10160">
            <a:noFill/>
          </a:ln>
        </p:spPr>
        <p:txBody>
          <a:bodyPr wrap="square" lIns="0" tIns="0" rIns="0" bIns="0" anchor="ctr">
            <a:noAutofit/>
          </a:bodyPr>
          <a:lstStyle/>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构造六类退化样本，分析数据特性</a:t>
            </a:r>
            <a:endParaRPr lang="zh-CN" sz="1210"/>
          </a:p>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筛选能够反映检测变化的质量指标</a:t>
            </a:r>
            <a:endParaRPr lang="zh-CN" sz="1210"/>
          </a:p>
        </p:txBody>
      </p:sp>
      <p:sp>
        <p:nvSpPr>
          <p:cNvPr id="137" name="Direction 2 mechanism"/>
          <p:cNvSpPr txBox="1"/>
          <p:nvPr/>
        </p:nvSpPr>
        <p:spPr>
          <a:xfrm>
            <a:off x="4292600" y="5283200"/>
            <a:ext cx="3644900" cy="304800"/>
          </a:xfrm>
          <a:prstGeom prst="rect">
            <a:avLst/>
          </a:prstGeom>
          <a:noFill/>
          <a:ln w="10160">
            <a:noFill/>
          </a:ln>
        </p:spPr>
        <p:txBody>
          <a:bodyPr wrap="square" lIns="0" tIns="0" rIns="0" bIns="0" anchor="ctr">
            <a:noAutofit/>
          </a:bodyPr>
          <a:lstStyle/>
          <a:p>
            <a:pPr marL="0" marR="0" algn="ctr">
              <a:lnSpc>
                <a:spcPts val="2050"/>
              </a:lnSpc>
              <a:buNone/>
            </a:pPr>
            <a:r>
              <a:rPr lang="zh-CN" sz="16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质量评估与权重调节</a:t>
            </a:r>
            <a:endParaRPr lang="zh-CN" sz="1600"/>
          </a:p>
        </p:txBody>
      </p:sp>
      <p:sp>
        <p:nvSpPr>
          <p:cNvPr id="138" name="Direction 2 description"/>
          <p:cNvSpPr txBox="1"/>
          <p:nvPr/>
        </p:nvSpPr>
        <p:spPr>
          <a:xfrm>
            <a:off x="4292600" y="5638800"/>
            <a:ext cx="3644900" cy="469900"/>
          </a:xfrm>
          <a:prstGeom prst="rect">
            <a:avLst/>
          </a:prstGeom>
          <a:noFill/>
          <a:ln w="10160">
            <a:noFill/>
          </a:ln>
        </p:spPr>
        <p:txBody>
          <a:bodyPr wrap="square" lIns="0" tIns="0" rIns="0" bIns="0" anchor="ctr">
            <a:noAutofit/>
          </a:bodyPr>
          <a:lstStyle/>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依据输入质量生成模态权重</a:t>
            </a:r>
            <a:endParaRPr lang="zh-CN" sz="1210"/>
          </a:p>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调节两类特征的融合贡献</a:t>
            </a:r>
            <a:endParaRPr lang="zh-CN" sz="1210"/>
          </a:p>
        </p:txBody>
      </p:sp>
      <p:sp>
        <p:nvSpPr>
          <p:cNvPr id="139" name="Direction 3 mechanism"/>
          <p:cNvSpPr txBox="1"/>
          <p:nvPr/>
        </p:nvSpPr>
        <p:spPr>
          <a:xfrm>
            <a:off x="8229600" y="5283200"/>
            <a:ext cx="3644900" cy="304800"/>
          </a:xfrm>
          <a:prstGeom prst="rect">
            <a:avLst/>
          </a:prstGeom>
          <a:noFill/>
          <a:ln w="10160">
            <a:noFill/>
          </a:ln>
        </p:spPr>
        <p:txBody>
          <a:bodyPr wrap="square" lIns="0" tIns="0" rIns="0" bIns="0" anchor="ctr">
            <a:noAutofit/>
          </a:bodyPr>
          <a:lstStyle/>
          <a:p>
            <a:pPr marL="0" marR="0" algn="ctr">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指标精简与成本控制</a:t>
            </a:r>
            <a:endParaRPr lang="zh-CN" sz="1600"/>
          </a:p>
        </p:txBody>
      </p:sp>
      <p:sp>
        <p:nvSpPr>
          <p:cNvPr id="140" name="Direction 3 description"/>
          <p:cNvSpPr txBox="1"/>
          <p:nvPr/>
        </p:nvSpPr>
        <p:spPr>
          <a:xfrm>
            <a:off x="8229600" y="5638800"/>
            <a:ext cx="3644900" cy="469900"/>
          </a:xfrm>
          <a:prstGeom prst="rect">
            <a:avLst/>
          </a:prstGeom>
          <a:noFill/>
          <a:ln w="10160">
            <a:noFill/>
          </a:ln>
        </p:spPr>
        <p:txBody>
          <a:bodyPr wrap="square" lIns="0" tIns="0" rIns="0" bIns="0" anchor="ctr">
            <a:noAutofit/>
          </a:bodyPr>
          <a:lstStyle/>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精简质量指标与权重模块</a:t>
            </a:r>
            <a:endParaRPr lang="zh-CN" sz="1210"/>
          </a:p>
          <a:p>
            <a:pPr marL="0" marR="0" algn="ctr">
              <a:lnSpc>
                <a:spcPts val="1550"/>
              </a:lnSpc>
              <a:buNone/>
            </a:pPr>
            <a:r>
              <a:rPr lang="zh-CN" sz="121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控制相对MVX-Net的新增开销</a:t>
            </a:r>
            <a:endParaRPr lang="zh-CN" sz="1210"/>
          </a:p>
        </p:txBody>
      </p:sp>
      <p:sp>
        <p:nvSpPr>
          <p:cNvPr id="141" name="Research linkage takeaway"/>
          <p:cNvSpPr txBox="1"/>
          <p:nvPr/>
        </p:nvSpPr>
        <p:spPr>
          <a:xfrm>
            <a:off x="355600" y="6210300"/>
            <a:ext cx="11480800" cy="368300"/>
          </a:xfrm>
          <a:prstGeom prst="rect">
            <a:avLst/>
          </a:prstGeom>
          <a:solidFill>
            <a:srgbClr val="EEF6FC"/>
          </a:solidFill>
          <a:ln w="10160">
            <a:noFill/>
          </a:ln>
        </p:spPr>
        <p:txBody>
          <a:bodyPr wrap="square" lIns="0" tIns="0" rIns="0" bIns="0" anchor="ctr">
            <a:noAutofit/>
          </a:bodyPr>
          <a:lstStyle/>
          <a:p>
            <a:pPr marL="0" marR="0" algn="ctr">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数据与指标支撑融合设计，轻量化保障方法应用</a:t>
            </a:r>
            <a:endParaRPr lang="zh-CN" sz="1600"/>
          </a:p>
        </p:txBody>
      </p:sp>
      <p:pic>
        <p:nvPicPr>
          <p:cNvPr id="142" name="Original illustration crop: image_input" descr="Exact crop from original image-based page 14; not detection evidence."/>
          <p:cNvPicPr>
            <a:picLocks noChangeAspect="1"/>
          </p:cNvPicPr>
          <p:nvPr/>
        </p:nvPicPr>
        <p:blipFill>
          <a:blip r:embed="rId1"/>
          <a:stretch>
            <a:fillRect/>
          </a:stretch>
        </p:blipFill>
        <p:spPr>
          <a:xfrm>
            <a:off x="444500" y="2629277"/>
            <a:ext cx="889000" cy="646946"/>
          </a:xfrm>
          <a:prstGeom prst="rect">
            <a:avLst/>
          </a:prstGeom>
          <a:noFill/>
          <a:ln>
            <a:noFill/>
          </a:ln>
        </p:spPr>
      </p:pic>
      <p:pic>
        <p:nvPicPr>
          <p:cNvPr id="143" name="Original illustration crop: point_cloud_schematic" descr="Exact crop from original image-based page 14; not detection evidence."/>
          <p:cNvPicPr>
            <a:picLocks noChangeAspect="1"/>
          </p:cNvPicPr>
          <p:nvPr/>
        </p:nvPicPr>
        <p:blipFill>
          <a:blip r:embed="rId2"/>
          <a:stretch>
            <a:fillRect/>
          </a:stretch>
        </p:blipFill>
        <p:spPr>
          <a:xfrm>
            <a:off x="431800" y="3859754"/>
            <a:ext cx="1028700" cy="471992"/>
          </a:xfrm>
          <a:prstGeom prst="rect">
            <a:avLst/>
          </a:prstGeom>
          <a:noFill/>
          <a:ln>
            <a:noFill/>
          </a:ln>
        </p:spPr>
      </p:pic>
      <p:pic>
        <p:nvPicPr>
          <p:cNvPr id="144" name="Original illustration crop: image_feature_stack" descr="Exact crop from original image-based page 14; not detection evidence."/>
          <p:cNvPicPr>
            <a:picLocks noChangeAspect="1"/>
          </p:cNvPicPr>
          <p:nvPr/>
        </p:nvPicPr>
        <p:blipFill>
          <a:blip r:embed="rId3"/>
          <a:stretch>
            <a:fillRect/>
          </a:stretch>
        </p:blipFill>
        <p:spPr>
          <a:xfrm>
            <a:off x="4508500" y="2690026"/>
            <a:ext cx="660400" cy="715948"/>
          </a:xfrm>
          <a:prstGeom prst="rect">
            <a:avLst/>
          </a:prstGeom>
          <a:noFill/>
          <a:ln>
            <a:noFill/>
          </a:ln>
        </p:spPr>
      </p:pic>
      <p:pic>
        <p:nvPicPr>
          <p:cNvPr id="145" name="Original illustration crop: lidar_feature_stack" descr="Exact crop from original image-based page 14; not detection evidence."/>
          <p:cNvPicPr>
            <a:picLocks noChangeAspect="1"/>
          </p:cNvPicPr>
          <p:nvPr/>
        </p:nvPicPr>
        <p:blipFill>
          <a:blip r:embed="rId4"/>
          <a:stretch>
            <a:fillRect/>
          </a:stretch>
        </p:blipFill>
        <p:spPr>
          <a:xfrm>
            <a:off x="4508500" y="4060736"/>
            <a:ext cx="660400" cy="654228"/>
          </a:xfrm>
          <a:prstGeom prst="rect">
            <a:avLst/>
          </a:prstGeom>
          <a:noFill/>
          <a:ln>
            <a:noFill/>
          </a:ln>
        </p:spPr>
      </p:pic>
      <p:pic>
        <p:nvPicPr>
          <p:cNvPr id="146" name="Original illustration crop: fusion_tensor" descr="Exact crop from original image-based page 14; not detection evidence."/>
          <p:cNvPicPr>
            <a:picLocks noChangeAspect="1"/>
          </p:cNvPicPr>
          <p:nvPr/>
        </p:nvPicPr>
        <p:blipFill>
          <a:blip r:embed="rId5"/>
          <a:stretch>
            <a:fillRect/>
          </a:stretch>
        </p:blipFill>
        <p:spPr>
          <a:xfrm>
            <a:off x="6438900" y="3131349"/>
            <a:ext cx="1016000" cy="874702"/>
          </a:xfrm>
          <a:prstGeom prst="rect">
            <a:avLst/>
          </a:prstGeom>
          <a:noFill/>
          <a:ln>
            <a:noFill/>
          </a:ln>
        </p:spPr>
      </p:pic>
      <p:pic>
        <p:nvPicPr>
          <p:cNvPr id="147" name="Original illustration crop: quality_vector" descr="Exact crop from original image-based page 14; not detection evidence."/>
          <p:cNvPicPr>
            <a:picLocks noChangeAspect="1"/>
          </p:cNvPicPr>
          <p:nvPr/>
        </p:nvPicPr>
        <p:blipFill>
          <a:blip r:embed="rId6"/>
          <a:stretch>
            <a:fillRect/>
          </a:stretch>
        </p:blipFill>
        <p:spPr>
          <a:xfrm>
            <a:off x="4724400" y="4908300"/>
            <a:ext cx="584200" cy="165600"/>
          </a:xfrm>
          <a:prstGeom prst="rect">
            <a:avLst/>
          </a:prstGeom>
          <a:noFill/>
          <a:ln>
            <a:noFill/>
          </a:ln>
        </p:spPr>
      </p:pic>
      <p:pic>
        <p:nvPicPr>
          <p:cNvPr id="148" name="Original illustration crop: compact_quality_vector" descr="Exact crop from original image-based page 14; not detection evidence."/>
          <p:cNvPicPr>
            <a:picLocks noChangeAspect="1"/>
          </p:cNvPicPr>
          <p:nvPr/>
        </p:nvPicPr>
        <p:blipFill>
          <a:blip r:embed="rId7"/>
          <a:stretch>
            <a:fillRect/>
          </a:stretch>
        </p:blipFill>
        <p:spPr>
          <a:xfrm>
            <a:off x="8394700" y="3182257"/>
            <a:ext cx="609600" cy="2013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1" name="Original crop 201" descr="生成设计的原图局部；所有插图、边框、图标与箭头均保持原样。"/>
          <p:cNvPicPr>
            <a:picLocks noChangeAspect="1"/>
          </p:cNvPicPr>
          <p:nvPr/>
        </p:nvPicPr>
        <p:blipFill>
          <a:blip r:embed="rId1"/>
          <a:srcRect b="97024"/>
          <a:stretch>
            <a:fillRect/>
          </a:stretch>
        </p:blipFill>
        <p:spPr>
          <a:xfrm>
            <a:off x="0" y="0"/>
            <a:ext cx="12192000" cy="204064"/>
          </a:xfrm>
          <a:prstGeom prst="rect">
            <a:avLst/>
          </a:prstGeom>
        </p:spPr>
      </p:pic>
      <p:pic>
        <p:nvPicPr>
          <p:cNvPr id="202" name="Original crop 202" descr="生成设计的原图局部；所有插图、边框、图标与箭头均保持原样。"/>
          <p:cNvPicPr>
            <a:picLocks noChangeAspect="1"/>
          </p:cNvPicPr>
          <p:nvPr/>
        </p:nvPicPr>
        <p:blipFill>
          <a:blip r:embed="rId1"/>
          <a:srcRect t="9139" b="87991"/>
          <a:stretch>
            <a:fillRect/>
          </a:stretch>
        </p:blipFill>
        <p:spPr>
          <a:xfrm>
            <a:off x="0" y="626767"/>
            <a:ext cx="12192000" cy="196776"/>
          </a:xfrm>
          <a:prstGeom prst="rect">
            <a:avLst/>
          </a:prstGeom>
        </p:spPr>
      </p:pic>
      <p:pic>
        <p:nvPicPr>
          <p:cNvPr id="203" name="Original crop 203" descr="生成设计的原图局部；所有插图、边框、图标与箭头均保持原样。"/>
          <p:cNvPicPr>
            <a:picLocks noChangeAspect="1"/>
          </p:cNvPicPr>
          <p:nvPr/>
        </p:nvPicPr>
        <p:blipFill>
          <a:blip r:embed="rId1"/>
          <a:srcRect t="15515" b="80446"/>
          <a:stretch>
            <a:fillRect/>
          </a:stretch>
        </p:blipFill>
        <p:spPr>
          <a:xfrm>
            <a:off x="0" y="1064047"/>
            <a:ext cx="12192000" cy="276944"/>
          </a:xfrm>
          <a:prstGeom prst="rect">
            <a:avLst/>
          </a:prstGeom>
        </p:spPr>
      </p:pic>
      <p:pic>
        <p:nvPicPr>
          <p:cNvPr id="204" name="Original crop 204" descr="生成设计的原图局部；所有插图、边框、图标与箭头均保持原样。"/>
          <p:cNvPicPr>
            <a:picLocks noChangeAspect="1"/>
          </p:cNvPicPr>
          <p:nvPr/>
        </p:nvPicPr>
        <p:blipFill>
          <a:blip r:embed="rId1"/>
          <a:srcRect t="24230" b="73539"/>
          <a:stretch>
            <a:fillRect/>
          </a:stretch>
        </p:blipFill>
        <p:spPr>
          <a:xfrm>
            <a:off x="0" y="1661662"/>
            <a:ext cx="12192000" cy="153048"/>
          </a:xfrm>
          <a:prstGeom prst="rect">
            <a:avLst/>
          </a:prstGeom>
        </p:spPr>
      </p:pic>
      <p:pic>
        <p:nvPicPr>
          <p:cNvPr id="205" name="Original crop 205" descr="生成设计的原图局部；所有插图、边框、图标与箭头均保持原样。"/>
          <p:cNvPicPr>
            <a:picLocks noChangeAspect="1"/>
          </p:cNvPicPr>
          <p:nvPr/>
        </p:nvPicPr>
        <p:blipFill>
          <a:blip r:embed="rId1"/>
          <a:srcRect t="29862" b="67588"/>
          <a:stretch>
            <a:fillRect/>
          </a:stretch>
        </p:blipFill>
        <p:spPr>
          <a:xfrm>
            <a:off x="0" y="2047926"/>
            <a:ext cx="12192000" cy="174912"/>
          </a:xfrm>
          <a:prstGeom prst="rect">
            <a:avLst/>
          </a:prstGeom>
        </p:spPr>
      </p:pic>
      <p:pic>
        <p:nvPicPr>
          <p:cNvPr id="206" name="Original crop 206" descr="生成设计的原图局部；所有插图、边框、图标与箭头均保持原样。"/>
          <p:cNvPicPr>
            <a:picLocks noChangeAspect="1"/>
          </p:cNvPicPr>
          <p:nvPr/>
        </p:nvPicPr>
        <p:blipFill>
          <a:blip r:embed="rId1"/>
          <a:srcRect t="36557" b="57917"/>
          <a:stretch>
            <a:fillRect/>
          </a:stretch>
        </p:blipFill>
        <p:spPr>
          <a:xfrm>
            <a:off x="0" y="2507069"/>
            <a:ext cx="12192000" cy="378976"/>
          </a:xfrm>
          <a:prstGeom prst="rect">
            <a:avLst/>
          </a:prstGeom>
        </p:spPr>
      </p:pic>
      <p:pic>
        <p:nvPicPr>
          <p:cNvPr id="207" name="Original crop 207" descr="生成设计的原图局部；所有插图、边框、图标与箭头均保持原样。"/>
          <p:cNvPicPr>
            <a:picLocks noChangeAspect="1"/>
          </p:cNvPicPr>
          <p:nvPr/>
        </p:nvPicPr>
        <p:blipFill>
          <a:blip r:embed="rId1"/>
          <a:srcRect t="46227" r="6938" b="51328"/>
          <a:stretch>
            <a:fillRect/>
          </a:stretch>
        </p:blipFill>
        <p:spPr>
          <a:xfrm>
            <a:off x="0" y="3170276"/>
            <a:ext cx="11346144" cy="167624"/>
          </a:xfrm>
          <a:prstGeom prst="rect">
            <a:avLst/>
          </a:prstGeom>
        </p:spPr>
      </p:pic>
      <p:pic>
        <p:nvPicPr>
          <p:cNvPr id="208" name="Original crop 208" descr="生成设计的原图局部；所有插图、边框、图标与箭头均保持原样。"/>
          <p:cNvPicPr>
            <a:picLocks noChangeAspect="1"/>
          </p:cNvPicPr>
          <p:nvPr/>
        </p:nvPicPr>
        <p:blipFill>
          <a:blip r:embed="rId1"/>
          <a:srcRect l="97787" t="46227" b="51328"/>
          <a:stretch>
            <a:fillRect/>
          </a:stretch>
        </p:blipFill>
        <p:spPr>
          <a:xfrm>
            <a:off x="11922201" y="3170276"/>
            <a:ext cx="269799" cy="167624"/>
          </a:xfrm>
          <a:prstGeom prst="rect">
            <a:avLst/>
          </a:prstGeom>
        </p:spPr>
      </p:pic>
      <p:pic>
        <p:nvPicPr>
          <p:cNvPr id="209" name="Original crop 209" descr="生成设计的原图局部；所有插图、边框、图标与箭头均保持原样。"/>
          <p:cNvPicPr>
            <a:picLocks noChangeAspect="1"/>
          </p:cNvPicPr>
          <p:nvPr/>
        </p:nvPicPr>
        <p:blipFill>
          <a:blip r:embed="rId1"/>
          <a:srcRect t="42083" r="23445" b="53773"/>
          <a:stretch>
            <a:fillRect/>
          </a:stretch>
        </p:blipFill>
        <p:spPr>
          <a:xfrm>
            <a:off x="0" y="2886045"/>
            <a:ext cx="9333589" cy="284232"/>
          </a:xfrm>
          <a:prstGeom prst="rect">
            <a:avLst/>
          </a:prstGeom>
        </p:spPr>
      </p:pic>
      <p:pic>
        <p:nvPicPr>
          <p:cNvPr id="210" name="Original crop 210" descr="生成设计的原图局部；所有插图、边框、图标与箭头均保持原样。"/>
          <p:cNvPicPr>
            <a:picLocks noChangeAspect="1"/>
          </p:cNvPicPr>
          <p:nvPr/>
        </p:nvPicPr>
        <p:blipFill>
          <a:blip r:embed="rId1"/>
          <a:srcRect l="88756" t="42083" b="54410"/>
          <a:stretch>
            <a:fillRect/>
          </a:stretch>
        </p:blipFill>
        <p:spPr>
          <a:xfrm>
            <a:off x="10821129" y="2886045"/>
            <a:ext cx="1370871" cy="240504"/>
          </a:xfrm>
          <a:prstGeom prst="rect">
            <a:avLst/>
          </a:prstGeom>
        </p:spPr>
      </p:pic>
      <p:pic>
        <p:nvPicPr>
          <p:cNvPr id="211" name="Original crop 211" descr="生成设计的原图局部；所有插图、边框、图标与箭头均保持原样。"/>
          <p:cNvPicPr>
            <a:picLocks noChangeAspect="1"/>
          </p:cNvPicPr>
          <p:nvPr/>
        </p:nvPicPr>
        <p:blipFill>
          <a:blip r:embed="rId1"/>
          <a:srcRect l="88756" t="45590" r="6938" b="53773"/>
          <a:stretch>
            <a:fillRect/>
          </a:stretch>
        </p:blipFill>
        <p:spPr>
          <a:xfrm>
            <a:off x="10821129" y="3126548"/>
            <a:ext cx="525014" cy="43728"/>
          </a:xfrm>
          <a:prstGeom prst="rect">
            <a:avLst/>
          </a:prstGeom>
        </p:spPr>
      </p:pic>
      <p:pic>
        <p:nvPicPr>
          <p:cNvPr id="212" name="Original crop 212" descr="生成设计的原图局部；所有插图、边框、图标与箭头均保持原样。"/>
          <p:cNvPicPr>
            <a:picLocks noChangeAspect="1"/>
          </p:cNvPicPr>
          <p:nvPr/>
        </p:nvPicPr>
        <p:blipFill>
          <a:blip r:embed="rId1"/>
          <a:srcRect l="97787" t="45590" b="53773"/>
          <a:stretch>
            <a:fillRect/>
          </a:stretch>
        </p:blipFill>
        <p:spPr>
          <a:xfrm>
            <a:off x="11922201" y="3126548"/>
            <a:ext cx="269799" cy="43728"/>
          </a:xfrm>
          <a:prstGeom prst="rect">
            <a:avLst/>
          </a:prstGeom>
        </p:spPr>
      </p:pic>
      <p:pic>
        <p:nvPicPr>
          <p:cNvPr id="213" name="Original crop 213" descr="生成设计的原图局部；所有插图、边框、图标与箭头均保持原样。"/>
          <p:cNvPicPr>
            <a:picLocks noChangeAspect="1"/>
          </p:cNvPicPr>
          <p:nvPr/>
        </p:nvPicPr>
        <p:blipFill>
          <a:blip r:embed="rId1"/>
          <a:srcRect t="32412" r="23385" b="63443"/>
          <a:stretch>
            <a:fillRect/>
          </a:stretch>
        </p:blipFill>
        <p:spPr>
          <a:xfrm>
            <a:off x="0" y="2222837"/>
            <a:ext cx="9340880" cy="284232"/>
          </a:xfrm>
          <a:prstGeom prst="rect">
            <a:avLst/>
          </a:prstGeom>
        </p:spPr>
      </p:pic>
      <p:pic>
        <p:nvPicPr>
          <p:cNvPr id="214" name="Original crop 214" descr="生成设计的原图局部；所有插图、边框、图标与箭头均保持原样。"/>
          <p:cNvPicPr>
            <a:picLocks noChangeAspect="1"/>
          </p:cNvPicPr>
          <p:nvPr/>
        </p:nvPicPr>
        <p:blipFill>
          <a:blip r:embed="rId1"/>
          <a:srcRect l="88756" t="32412" b="63443"/>
          <a:stretch>
            <a:fillRect/>
          </a:stretch>
        </p:blipFill>
        <p:spPr>
          <a:xfrm>
            <a:off x="10821129" y="2222837"/>
            <a:ext cx="1370871" cy="284232"/>
          </a:xfrm>
          <a:prstGeom prst="rect">
            <a:avLst/>
          </a:prstGeom>
        </p:spPr>
      </p:pic>
      <p:pic>
        <p:nvPicPr>
          <p:cNvPr id="215" name="Original crop 215" descr="生成设计的原图局部；所有插图、边框、图标与箭头均保持原样。"/>
          <p:cNvPicPr>
            <a:picLocks noChangeAspect="1"/>
          </p:cNvPicPr>
          <p:nvPr/>
        </p:nvPicPr>
        <p:blipFill>
          <a:blip r:embed="rId1"/>
          <a:srcRect t="26461" r="28170" b="70138"/>
          <a:stretch>
            <a:fillRect/>
          </a:stretch>
        </p:blipFill>
        <p:spPr>
          <a:xfrm>
            <a:off x="0" y="1814710"/>
            <a:ext cx="8757531" cy="233216"/>
          </a:xfrm>
          <a:prstGeom prst="rect">
            <a:avLst/>
          </a:prstGeom>
        </p:spPr>
      </p:pic>
      <p:pic>
        <p:nvPicPr>
          <p:cNvPr id="216" name="Original crop 216" descr="生成设计的原图局部；所有插图、边框、图标与箭头均保持原样。"/>
          <p:cNvPicPr>
            <a:picLocks noChangeAspect="1"/>
          </p:cNvPicPr>
          <p:nvPr/>
        </p:nvPicPr>
        <p:blipFill>
          <a:blip r:embed="rId1"/>
          <a:srcRect l="96352" t="26461" b="70138"/>
          <a:stretch>
            <a:fillRect/>
          </a:stretch>
        </p:blipFill>
        <p:spPr>
          <a:xfrm>
            <a:off x="11747196" y="1814710"/>
            <a:ext cx="444804" cy="233216"/>
          </a:xfrm>
          <a:prstGeom prst="rect">
            <a:avLst/>
          </a:prstGeom>
        </p:spPr>
      </p:pic>
      <p:pic>
        <p:nvPicPr>
          <p:cNvPr id="217" name="Original crop 217" descr="生成设计的原图局部；所有插图、边框、图标与箭头均保持原样。"/>
          <p:cNvPicPr>
            <a:picLocks noChangeAspect="1"/>
          </p:cNvPicPr>
          <p:nvPr/>
        </p:nvPicPr>
        <p:blipFill>
          <a:blip r:embed="rId1"/>
          <a:srcRect t="48672" r="44677" b="51222"/>
          <a:stretch>
            <a:fillRect/>
          </a:stretch>
        </p:blipFill>
        <p:spPr>
          <a:xfrm>
            <a:off x="0" y="3337900"/>
            <a:ext cx="6744976" cy="7288"/>
          </a:xfrm>
          <a:prstGeom prst="rect">
            <a:avLst/>
          </a:prstGeom>
        </p:spPr>
      </p:pic>
      <p:pic>
        <p:nvPicPr>
          <p:cNvPr id="218" name="Original crop 218" descr="生成设计的原图局部；所有插图、边框、图标与箭头均保持原样。"/>
          <p:cNvPicPr>
            <a:picLocks noChangeAspect="1"/>
          </p:cNvPicPr>
          <p:nvPr/>
        </p:nvPicPr>
        <p:blipFill>
          <a:blip r:embed="rId1"/>
          <a:srcRect l="66687" t="48672" r="6938" b="51222"/>
          <a:stretch>
            <a:fillRect/>
          </a:stretch>
        </p:blipFill>
        <p:spPr>
          <a:xfrm>
            <a:off x="8130431" y="3337900"/>
            <a:ext cx="3215713" cy="7288"/>
          </a:xfrm>
          <a:prstGeom prst="rect">
            <a:avLst/>
          </a:prstGeom>
        </p:spPr>
      </p:pic>
      <p:pic>
        <p:nvPicPr>
          <p:cNvPr id="219" name="Original crop 219" descr="生成设计的原图局部；所有插图、边框、图标与箭头均保持原样。"/>
          <p:cNvPicPr>
            <a:picLocks noChangeAspect="1"/>
          </p:cNvPicPr>
          <p:nvPr/>
        </p:nvPicPr>
        <p:blipFill>
          <a:blip r:embed="rId1"/>
          <a:srcRect l="97787" t="48672" b="51222"/>
          <a:stretch>
            <a:fillRect/>
          </a:stretch>
        </p:blipFill>
        <p:spPr>
          <a:xfrm>
            <a:off x="11922201" y="3337900"/>
            <a:ext cx="269799" cy="7288"/>
          </a:xfrm>
          <a:prstGeom prst="rect">
            <a:avLst/>
          </a:prstGeom>
        </p:spPr>
      </p:pic>
      <p:pic>
        <p:nvPicPr>
          <p:cNvPr id="220" name="Original crop 220" descr="生成设计的原图局部；所有插图、边框、图标与箭头均保持原样。"/>
          <p:cNvPicPr>
            <a:picLocks noChangeAspect="1"/>
          </p:cNvPicPr>
          <p:nvPr/>
        </p:nvPicPr>
        <p:blipFill>
          <a:blip r:embed="rId1"/>
          <a:srcRect t="55898" b="41339"/>
          <a:stretch>
            <a:fillRect/>
          </a:stretch>
        </p:blipFill>
        <p:spPr>
          <a:xfrm>
            <a:off x="0" y="3833484"/>
            <a:ext cx="12192000" cy="189488"/>
          </a:xfrm>
          <a:prstGeom prst="rect">
            <a:avLst/>
          </a:prstGeom>
        </p:spPr>
      </p:pic>
      <p:pic>
        <p:nvPicPr>
          <p:cNvPr id="221" name="Original crop 221" descr="生成设计的原图局部；所有插图、边框、图标与箭头均保持原样。"/>
          <p:cNvPicPr>
            <a:picLocks noChangeAspect="1"/>
          </p:cNvPicPr>
          <p:nvPr/>
        </p:nvPicPr>
        <p:blipFill>
          <a:blip r:embed="rId1"/>
          <a:srcRect t="55260" r="23385" b="44102"/>
          <a:stretch>
            <a:fillRect/>
          </a:stretch>
        </p:blipFill>
        <p:spPr>
          <a:xfrm>
            <a:off x="0" y="3789756"/>
            <a:ext cx="9340880" cy="43728"/>
          </a:xfrm>
          <a:prstGeom prst="rect">
            <a:avLst/>
          </a:prstGeom>
        </p:spPr>
      </p:pic>
      <p:pic>
        <p:nvPicPr>
          <p:cNvPr id="222" name="Original crop 222" descr="生成设计的原图局部；所有插图、边框、图标与箭头均保持原样。"/>
          <p:cNvPicPr>
            <a:picLocks noChangeAspect="1"/>
          </p:cNvPicPr>
          <p:nvPr/>
        </p:nvPicPr>
        <p:blipFill>
          <a:blip r:embed="rId1"/>
          <a:srcRect l="88756" t="55260" b="44102"/>
          <a:stretch>
            <a:fillRect/>
          </a:stretch>
        </p:blipFill>
        <p:spPr>
          <a:xfrm>
            <a:off x="10821129" y="3789756"/>
            <a:ext cx="1370871" cy="43728"/>
          </a:xfrm>
          <a:prstGeom prst="rect">
            <a:avLst/>
          </a:prstGeom>
        </p:spPr>
      </p:pic>
      <p:pic>
        <p:nvPicPr>
          <p:cNvPr id="223" name="Original crop 223" descr="生成设计的原图局部；所有插图、边框、图标与箭头均保持原样。"/>
          <p:cNvPicPr>
            <a:picLocks noChangeAspect="1"/>
          </p:cNvPicPr>
          <p:nvPr/>
        </p:nvPicPr>
        <p:blipFill>
          <a:blip r:embed="rId1"/>
          <a:srcRect t="54729" r="44677" b="44740"/>
          <a:stretch>
            <a:fillRect/>
          </a:stretch>
        </p:blipFill>
        <p:spPr>
          <a:xfrm>
            <a:off x="0" y="3753316"/>
            <a:ext cx="6744976" cy="36440"/>
          </a:xfrm>
          <a:prstGeom prst="rect">
            <a:avLst/>
          </a:prstGeom>
        </p:spPr>
      </p:pic>
      <p:pic>
        <p:nvPicPr>
          <p:cNvPr id="224" name="Original crop 224" descr="生成设计的原图局部；所有插图、边框、图标与箭头均保持原样。"/>
          <p:cNvPicPr>
            <a:picLocks noChangeAspect="1"/>
          </p:cNvPicPr>
          <p:nvPr/>
        </p:nvPicPr>
        <p:blipFill>
          <a:blip r:embed="rId1"/>
          <a:srcRect l="66687" t="54729" r="23385" b="44740"/>
          <a:stretch>
            <a:fillRect/>
          </a:stretch>
        </p:blipFill>
        <p:spPr>
          <a:xfrm>
            <a:off x="8130431" y="3753316"/>
            <a:ext cx="1210450" cy="36440"/>
          </a:xfrm>
          <a:prstGeom prst="rect">
            <a:avLst/>
          </a:prstGeom>
        </p:spPr>
      </p:pic>
      <p:pic>
        <p:nvPicPr>
          <p:cNvPr id="225" name="Original crop 225" descr="生成设计的原图局部；所有插图、边框、图标与箭头均保持原样。"/>
          <p:cNvPicPr>
            <a:picLocks noChangeAspect="1"/>
          </p:cNvPicPr>
          <p:nvPr/>
        </p:nvPicPr>
        <p:blipFill>
          <a:blip r:embed="rId1"/>
          <a:srcRect l="88756" t="54729" b="44740"/>
          <a:stretch>
            <a:fillRect/>
          </a:stretch>
        </p:blipFill>
        <p:spPr>
          <a:xfrm>
            <a:off x="10821129" y="3753316"/>
            <a:ext cx="1370871" cy="36440"/>
          </a:xfrm>
          <a:prstGeom prst="rect">
            <a:avLst/>
          </a:prstGeom>
        </p:spPr>
      </p:pic>
      <p:pic>
        <p:nvPicPr>
          <p:cNvPr id="226" name="Original crop 226" descr="生成设计的原图局部；所有插图、边框、图标与箭头均保持原样。"/>
          <p:cNvPicPr>
            <a:picLocks noChangeAspect="1"/>
          </p:cNvPicPr>
          <p:nvPr/>
        </p:nvPicPr>
        <p:blipFill>
          <a:blip r:embed="rId1"/>
          <a:srcRect t="54623" r="58433" b="45271"/>
          <a:stretch>
            <a:fillRect/>
          </a:stretch>
        </p:blipFill>
        <p:spPr>
          <a:xfrm>
            <a:off x="0" y="3746028"/>
            <a:ext cx="5067847" cy="7288"/>
          </a:xfrm>
          <a:prstGeom prst="rect">
            <a:avLst/>
          </a:prstGeom>
        </p:spPr>
      </p:pic>
      <p:pic>
        <p:nvPicPr>
          <p:cNvPr id="227" name="Original crop 227" descr="生成设计的原图局部；所有插图、边框、图标与箭头均保持原样。"/>
          <p:cNvPicPr>
            <a:picLocks noChangeAspect="1"/>
          </p:cNvPicPr>
          <p:nvPr/>
        </p:nvPicPr>
        <p:blipFill>
          <a:blip r:embed="rId1"/>
          <a:srcRect l="50658" t="54623" r="44677" b="45271"/>
          <a:stretch>
            <a:fillRect/>
          </a:stretch>
        </p:blipFill>
        <p:spPr>
          <a:xfrm>
            <a:off x="6176211" y="3746028"/>
            <a:ext cx="568766" cy="7288"/>
          </a:xfrm>
          <a:prstGeom prst="rect">
            <a:avLst/>
          </a:prstGeom>
        </p:spPr>
      </p:pic>
      <p:pic>
        <p:nvPicPr>
          <p:cNvPr id="228" name="Original crop 228" descr="生成设计的原图局部；所有插图、边框、图标与箭头均保持原样。"/>
          <p:cNvPicPr>
            <a:picLocks noChangeAspect="1"/>
          </p:cNvPicPr>
          <p:nvPr/>
        </p:nvPicPr>
        <p:blipFill>
          <a:blip r:embed="rId1"/>
          <a:srcRect l="66687" t="54623" r="23385" b="45271"/>
          <a:stretch>
            <a:fillRect/>
          </a:stretch>
        </p:blipFill>
        <p:spPr>
          <a:xfrm>
            <a:off x="8130431" y="3746028"/>
            <a:ext cx="1210450" cy="7288"/>
          </a:xfrm>
          <a:prstGeom prst="rect">
            <a:avLst/>
          </a:prstGeom>
        </p:spPr>
      </p:pic>
      <p:pic>
        <p:nvPicPr>
          <p:cNvPr id="229" name="Original crop 229" descr="生成设计的原图局部；所有插图、边框、图标与箭头均保持原样。"/>
          <p:cNvPicPr>
            <a:picLocks noChangeAspect="1"/>
          </p:cNvPicPr>
          <p:nvPr/>
        </p:nvPicPr>
        <p:blipFill>
          <a:blip r:embed="rId1"/>
          <a:srcRect l="88756" t="54623" b="45271"/>
          <a:stretch>
            <a:fillRect/>
          </a:stretch>
        </p:blipFill>
        <p:spPr>
          <a:xfrm>
            <a:off x="10821129" y="3746028"/>
            <a:ext cx="1370871" cy="7288"/>
          </a:xfrm>
          <a:prstGeom prst="rect">
            <a:avLst/>
          </a:prstGeom>
        </p:spPr>
      </p:pic>
      <p:pic>
        <p:nvPicPr>
          <p:cNvPr id="230" name="Original crop 230" descr="生成设计的原图局部；所有插图、边框、图标与箭头均保持原样。"/>
          <p:cNvPicPr>
            <a:picLocks noChangeAspect="1"/>
          </p:cNvPicPr>
          <p:nvPr/>
        </p:nvPicPr>
        <p:blipFill>
          <a:blip r:embed="rId1"/>
          <a:srcRect t="65781" b="31456"/>
          <a:stretch>
            <a:fillRect/>
          </a:stretch>
        </p:blipFill>
        <p:spPr>
          <a:xfrm>
            <a:off x="0" y="4511267"/>
            <a:ext cx="12192000" cy="189488"/>
          </a:xfrm>
          <a:prstGeom prst="rect">
            <a:avLst/>
          </a:prstGeom>
        </p:spPr>
      </p:pic>
      <p:pic>
        <p:nvPicPr>
          <p:cNvPr id="231" name="Original crop 231" descr="生成设计的原图局部；所有插图、边框、图标与箭头均保持原样。"/>
          <p:cNvPicPr>
            <a:picLocks noChangeAspect="1"/>
          </p:cNvPicPr>
          <p:nvPr/>
        </p:nvPicPr>
        <p:blipFill>
          <a:blip r:embed="rId1"/>
          <a:srcRect t="65143" r="23385" b="34219"/>
          <a:stretch>
            <a:fillRect/>
          </a:stretch>
        </p:blipFill>
        <p:spPr>
          <a:xfrm>
            <a:off x="0" y="4467539"/>
            <a:ext cx="9340880" cy="43728"/>
          </a:xfrm>
          <a:prstGeom prst="rect">
            <a:avLst/>
          </a:prstGeom>
        </p:spPr>
      </p:pic>
      <p:pic>
        <p:nvPicPr>
          <p:cNvPr id="232" name="Original crop 232" descr="生成设计的原图局部；所有插图、边框、图标与箭头均保持原样。"/>
          <p:cNvPicPr>
            <a:picLocks noChangeAspect="1"/>
          </p:cNvPicPr>
          <p:nvPr/>
        </p:nvPicPr>
        <p:blipFill>
          <a:blip r:embed="rId1"/>
          <a:srcRect l="88756" t="65143" b="34219"/>
          <a:stretch>
            <a:fillRect/>
          </a:stretch>
        </p:blipFill>
        <p:spPr>
          <a:xfrm>
            <a:off x="10821129" y="4467539"/>
            <a:ext cx="1370871" cy="43728"/>
          </a:xfrm>
          <a:prstGeom prst="rect">
            <a:avLst/>
          </a:prstGeom>
        </p:spPr>
      </p:pic>
      <p:pic>
        <p:nvPicPr>
          <p:cNvPr id="233" name="Original crop 233" descr="生成设计的原图局部；所有插图、边框、图标与箭头均保持原样。"/>
          <p:cNvPicPr>
            <a:picLocks noChangeAspect="1"/>
          </p:cNvPicPr>
          <p:nvPr/>
        </p:nvPicPr>
        <p:blipFill>
          <a:blip r:embed="rId1"/>
          <a:srcRect t="65037" r="44677" b="34857"/>
          <a:stretch>
            <a:fillRect/>
          </a:stretch>
        </p:blipFill>
        <p:spPr>
          <a:xfrm>
            <a:off x="0" y="4460251"/>
            <a:ext cx="6744976" cy="7288"/>
          </a:xfrm>
          <a:prstGeom prst="rect">
            <a:avLst/>
          </a:prstGeom>
        </p:spPr>
      </p:pic>
      <p:pic>
        <p:nvPicPr>
          <p:cNvPr id="234" name="Original crop 234" descr="生成设计的原图局部；所有插图、边框、图标与箭头均保持原样。"/>
          <p:cNvPicPr>
            <a:picLocks noChangeAspect="1"/>
          </p:cNvPicPr>
          <p:nvPr/>
        </p:nvPicPr>
        <p:blipFill>
          <a:blip r:embed="rId1"/>
          <a:srcRect l="66687" t="65037" r="23385" b="34857"/>
          <a:stretch>
            <a:fillRect/>
          </a:stretch>
        </p:blipFill>
        <p:spPr>
          <a:xfrm>
            <a:off x="8130431" y="4460251"/>
            <a:ext cx="1210450" cy="7288"/>
          </a:xfrm>
          <a:prstGeom prst="rect">
            <a:avLst/>
          </a:prstGeom>
        </p:spPr>
      </p:pic>
      <p:pic>
        <p:nvPicPr>
          <p:cNvPr id="235" name="Original crop 235" descr="生成设计的原图局部；所有插图、边框、图标与箭头均保持原样。"/>
          <p:cNvPicPr>
            <a:picLocks noChangeAspect="1"/>
          </p:cNvPicPr>
          <p:nvPr/>
        </p:nvPicPr>
        <p:blipFill>
          <a:blip r:embed="rId1"/>
          <a:srcRect l="88756" t="65037" b="34857"/>
          <a:stretch>
            <a:fillRect/>
          </a:stretch>
        </p:blipFill>
        <p:spPr>
          <a:xfrm>
            <a:off x="10821129" y="4460251"/>
            <a:ext cx="1370871" cy="7288"/>
          </a:xfrm>
          <a:prstGeom prst="rect">
            <a:avLst/>
          </a:prstGeom>
        </p:spPr>
      </p:pic>
      <p:pic>
        <p:nvPicPr>
          <p:cNvPr id="236" name="Original crop 236" descr="生成设计的原图局部；所有插图、边框、图标与箭头均保持原样。"/>
          <p:cNvPicPr>
            <a:picLocks noChangeAspect="1"/>
          </p:cNvPicPr>
          <p:nvPr/>
        </p:nvPicPr>
        <p:blipFill>
          <a:blip r:embed="rId1"/>
          <a:srcRect t="64506" r="58433" b="34963"/>
          <a:stretch>
            <a:fillRect/>
          </a:stretch>
        </p:blipFill>
        <p:spPr>
          <a:xfrm>
            <a:off x="0" y="4423811"/>
            <a:ext cx="5067847" cy="36440"/>
          </a:xfrm>
          <a:prstGeom prst="rect">
            <a:avLst/>
          </a:prstGeom>
        </p:spPr>
      </p:pic>
      <p:pic>
        <p:nvPicPr>
          <p:cNvPr id="237" name="Original crop 237" descr="生成设计的原图局部；所有插图、边框、图标与箭头均保持原样。"/>
          <p:cNvPicPr>
            <a:picLocks noChangeAspect="1"/>
          </p:cNvPicPr>
          <p:nvPr/>
        </p:nvPicPr>
        <p:blipFill>
          <a:blip r:embed="rId1"/>
          <a:srcRect l="50658" t="64506" r="44677" b="34963"/>
          <a:stretch>
            <a:fillRect/>
          </a:stretch>
        </p:blipFill>
        <p:spPr>
          <a:xfrm>
            <a:off x="6176211" y="4423811"/>
            <a:ext cx="568766" cy="36440"/>
          </a:xfrm>
          <a:prstGeom prst="rect">
            <a:avLst/>
          </a:prstGeom>
        </p:spPr>
      </p:pic>
      <p:pic>
        <p:nvPicPr>
          <p:cNvPr id="238" name="Original crop 238" descr="生成设计的原图局部；所有插图、边框、图标与箭头均保持原样。"/>
          <p:cNvPicPr>
            <a:picLocks noChangeAspect="1"/>
          </p:cNvPicPr>
          <p:nvPr/>
        </p:nvPicPr>
        <p:blipFill>
          <a:blip r:embed="rId1"/>
          <a:srcRect l="66687" t="64506" r="23385" b="34963"/>
          <a:stretch>
            <a:fillRect/>
          </a:stretch>
        </p:blipFill>
        <p:spPr>
          <a:xfrm>
            <a:off x="8130431" y="4423811"/>
            <a:ext cx="1210450" cy="36440"/>
          </a:xfrm>
          <a:prstGeom prst="rect">
            <a:avLst/>
          </a:prstGeom>
        </p:spPr>
      </p:pic>
      <p:pic>
        <p:nvPicPr>
          <p:cNvPr id="239" name="Original crop 239" descr="生成设计的原图局部；所有插图、边框、图标与箭头均保持原样。"/>
          <p:cNvPicPr>
            <a:picLocks noChangeAspect="1"/>
          </p:cNvPicPr>
          <p:nvPr/>
        </p:nvPicPr>
        <p:blipFill>
          <a:blip r:embed="rId1"/>
          <a:srcRect l="88756" t="64506" b="34963"/>
          <a:stretch>
            <a:fillRect/>
          </a:stretch>
        </p:blipFill>
        <p:spPr>
          <a:xfrm>
            <a:off x="10821129" y="4423811"/>
            <a:ext cx="1370871" cy="36440"/>
          </a:xfrm>
          <a:prstGeom prst="rect">
            <a:avLst/>
          </a:prstGeom>
        </p:spPr>
      </p:pic>
      <p:pic>
        <p:nvPicPr>
          <p:cNvPr id="240" name="Original crop 240" descr="生成设计的原图局部；所有插图、边框、图标与箭头均保持原样。"/>
          <p:cNvPicPr>
            <a:picLocks noChangeAspect="1"/>
          </p:cNvPicPr>
          <p:nvPr/>
        </p:nvPicPr>
        <p:blipFill>
          <a:blip r:embed="rId1"/>
          <a:srcRect t="77046" b="21041"/>
          <a:stretch>
            <a:fillRect/>
          </a:stretch>
        </p:blipFill>
        <p:spPr>
          <a:xfrm>
            <a:off x="0" y="5283794"/>
            <a:ext cx="12192000" cy="131184"/>
          </a:xfrm>
          <a:prstGeom prst="rect">
            <a:avLst/>
          </a:prstGeom>
        </p:spPr>
      </p:pic>
      <p:pic>
        <p:nvPicPr>
          <p:cNvPr id="241" name="Original crop 241" descr="生成设计的原图局部；所有插图、边框、图标与箭头均保持原样。"/>
          <p:cNvPicPr>
            <a:picLocks noChangeAspect="1"/>
          </p:cNvPicPr>
          <p:nvPr/>
        </p:nvPicPr>
        <p:blipFill>
          <a:blip r:embed="rId1"/>
          <a:srcRect t="74283" r="24761" b="22954"/>
          <a:stretch>
            <a:fillRect/>
          </a:stretch>
        </p:blipFill>
        <p:spPr>
          <a:xfrm>
            <a:off x="0" y="5094306"/>
            <a:ext cx="9173167" cy="189488"/>
          </a:xfrm>
          <a:prstGeom prst="rect">
            <a:avLst/>
          </a:prstGeom>
        </p:spPr>
      </p:pic>
      <p:pic>
        <p:nvPicPr>
          <p:cNvPr id="242" name="Original crop 242" descr="生成设计的原图局部；所有插图、边框、图标与箭头均保持原样。"/>
          <p:cNvPicPr>
            <a:picLocks noChangeAspect="1"/>
          </p:cNvPicPr>
          <p:nvPr/>
        </p:nvPicPr>
        <p:blipFill>
          <a:blip r:embed="rId1"/>
          <a:srcRect l="96112" t="74283" b="22954"/>
          <a:stretch>
            <a:fillRect/>
          </a:stretch>
        </p:blipFill>
        <p:spPr>
          <a:xfrm>
            <a:off x="11718029" y="5094306"/>
            <a:ext cx="473971" cy="189488"/>
          </a:xfrm>
          <a:prstGeom prst="rect">
            <a:avLst/>
          </a:prstGeom>
        </p:spPr>
      </p:pic>
      <p:pic>
        <p:nvPicPr>
          <p:cNvPr id="243" name="Original crop 243" descr="生成设计的原图局部；所有插图、边框、图标与箭头均保持原样。"/>
          <p:cNvPicPr>
            <a:picLocks noChangeAspect="1"/>
          </p:cNvPicPr>
          <p:nvPr/>
        </p:nvPicPr>
        <p:blipFill>
          <a:blip r:embed="rId1"/>
          <a:srcRect t="83316" b="9671"/>
          <a:stretch>
            <a:fillRect/>
          </a:stretch>
        </p:blipFill>
        <p:spPr>
          <a:xfrm>
            <a:off x="0" y="5713785"/>
            <a:ext cx="12192000" cy="481007"/>
          </a:xfrm>
          <a:prstGeom prst="rect">
            <a:avLst/>
          </a:prstGeom>
        </p:spPr>
      </p:pic>
      <p:pic>
        <p:nvPicPr>
          <p:cNvPr id="244" name="Original crop 244" descr="生成设计的原图局部；所有插图、边框、图标与箭头均保持原样。"/>
          <p:cNvPicPr>
            <a:picLocks noChangeAspect="1"/>
          </p:cNvPicPr>
          <p:nvPr/>
        </p:nvPicPr>
        <p:blipFill>
          <a:blip r:embed="rId1"/>
          <a:srcRect t="95537" b="3294"/>
          <a:stretch>
            <a:fillRect/>
          </a:stretch>
        </p:blipFill>
        <p:spPr>
          <a:xfrm>
            <a:off x="0" y="6551904"/>
            <a:ext cx="12192000" cy="80168"/>
          </a:xfrm>
          <a:prstGeom prst="rect">
            <a:avLst/>
          </a:prstGeom>
        </p:spPr>
      </p:pic>
      <p:pic>
        <p:nvPicPr>
          <p:cNvPr id="245" name="Original crop 245" descr="生成设计的原图局部；所有插图、边框、图标与箭头均保持原样。"/>
          <p:cNvPicPr>
            <a:picLocks noChangeAspect="1"/>
          </p:cNvPicPr>
          <p:nvPr/>
        </p:nvPicPr>
        <p:blipFill>
          <a:blip r:embed="rId1"/>
          <a:srcRect t="99469"/>
          <a:stretch>
            <a:fillRect/>
          </a:stretch>
        </p:blipFill>
        <p:spPr>
          <a:xfrm>
            <a:off x="0" y="6821560"/>
            <a:ext cx="12192000" cy="36440"/>
          </a:xfrm>
          <a:prstGeom prst="rect">
            <a:avLst/>
          </a:prstGeom>
        </p:spPr>
      </p:pic>
      <p:pic>
        <p:nvPicPr>
          <p:cNvPr id="246" name="Original crop 246" descr="生成设计的原图局部；所有插图、边框、图标与箭头均保持原样。"/>
          <p:cNvPicPr>
            <a:picLocks noChangeAspect="1"/>
          </p:cNvPicPr>
          <p:nvPr/>
        </p:nvPicPr>
        <p:blipFill>
          <a:blip r:embed="rId1"/>
          <a:srcRect t="96706" r="3110" b="531"/>
          <a:stretch>
            <a:fillRect/>
          </a:stretch>
        </p:blipFill>
        <p:spPr>
          <a:xfrm>
            <a:off x="0" y="6632072"/>
            <a:ext cx="11812823" cy="189488"/>
          </a:xfrm>
          <a:prstGeom prst="rect">
            <a:avLst/>
          </a:prstGeom>
        </p:spPr>
      </p:pic>
      <p:pic>
        <p:nvPicPr>
          <p:cNvPr id="247" name="Original crop 247" descr="生成设计的原图局部；所有插图、边框、图标与箭头均保持原样。"/>
          <p:cNvPicPr>
            <a:picLocks noChangeAspect="1"/>
          </p:cNvPicPr>
          <p:nvPr/>
        </p:nvPicPr>
        <p:blipFill>
          <a:blip r:embed="rId1"/>
          <a:srcRect l="98684" t="96706" b="531"/>
          <a:stretch>
            <a:fillRect/>
          </a:stretch>
        </p:blipFill>
        <p:spPr>
          <a:xfrm>
            <a:off x="12031579" y="6632072"/>
            <a:ext cx="160421" cy="189488"/>
          </a:xfrm>
          <a:prstGeom prst="rect">
            <a:avLst/>
          </a:prstGeom>
        </p:spPr>
      </p:pic>
      <p:pic>
        <p:nvPicPr>
          <p:cNvPr id="248" name="Original crop 248" descr="生成设计的原图局部；所有插图、边框、图标与箭头均保持原样。"/>
          <p:cNvPicPr>
            <a:picLocks noChangeAspect="1"/>
          </p:cNvPicPr>
          <p:nvPr/>
        </p:nvPicPr>
        <p:blipFill>
          <a:blip r:embed="rId1"/>
          <a:srcRect t="90329" r="93720" b="4463"/>
          <a:stretch>
            <a:fillRect/>
          </a:stretch>
        </p:blipFill>
        <p:spPr>
          <a:xfrm>
            <a:off x="0" y="6194793"/>
            <a:ext cx="765646" cy="357112"/>
          </a:xfrm>
          <a:prstGeom prst="rect">
            <a:avLst/>
          </a:prstGeom>
        </p:spPr>
      </p:pic>
      <p:pic>
        <p:nvPicPr>
          <p:cNvPr id="249" name="Original crop 249" descr="生成设计的原图局部；所有插图、边框、图标与箭头均保持原样。"/>
          <p:cNvPicPr>
            <a:picLocks noChangeAspect="1"/>
          </p:cNvPicPr>
          <p:nvPr/>
        </p:nvPicPr>
        <p:blipFill>
          <a:blip r:embed="rId1"/>
          <a:srcRect l="18062" t="90329" b="9139"/>
          <a:stretch>
            <a:fillRect/>
          </a:stretch>
        </p:blipFill>
        <p:spPr>
          <a:xfrm>
            <a:off x="2202144" y="6194793"/>
            <a:ext cx="9989856" cy="36440"/>
          </a:xfrm>
          <a:prstGeom prst="rect">
            <a:avLst/>
          </a:prstGeom>
        </p:spPr>
      </p:pic>
      <p:pic>
        <p:nvPicPr>
          <p:cNvPr id="250" name="Original crop 250" descr="生成设计的原图局部；所有插图、边框、图标与箭头均保持原样。"/>
          <p:cNvPicPr>
            <a:picLocks noChangeAspect="1"/>
          </p:cNvPicPr>
          <p:nvPr/>
        </p:nvPicPr>
        <p:blipFill>
          <a:blip r:embed="rId1"/>
          <a:srcRect l="18062" t="94899" b="4463"/>
          <a:stretch>
            <a:fillRect/>
          </a:stretch>
        </p:blipFill>
        <p:spPr>
          <a:xfrm>
            <a:off x="2202144" y="6508176"/>
            <a:ext cx="9989856" cy="43728"/>
          </a:xfrm>
          <a:prstGeom prst="rect">
            <a:avLst/>
          </a:prstGeom>
        </p:spPr>
      </p:pic>
      <p:pic>
        <p:nvPicPr>
          <p:cNvPr id="251" name="Original crop 251" descr="生成设计的原图局部；所有插图、边框、图标与箭头均保持原样。"/>
          <p:cNvPicPr>
            <a:picLocks noChangeAspect="1"/>
          </p:cNvPicPr>
          <p:nvPr/>
        </p:nvPicPr>
        <p:blipFill>
          <a:blip r:embed="rId1"/>
          <a:srcRect l="18062" t="90861" r="73206" b="5101"/>
          <a:stretch>
            <a:fillRect/>
          </a:stretch>
        </p:blipFill>
        <p:spPr>
          <a:xfrm>
            <a:off x="2202144" y="6231233"/>
            <a:ext cx="1064612" cy="276944"/>
          </a:xfrm>
          <a:prstGeom prst="rect">
            <a:avLst/>
          </a:prstGeom>
        </p:spPr>
      </p:pic>
      <p:pic>
        <p:nvPicPr>
          <p:cNvPr id="252" name="Original crop 252" descr="生成设计的原图局部；所有插图、边框、图标与箭头均保持原样。"/>
          <p:cNvPicPr>
            <a:picLocks noChangeAspect="1"/>
          </p:cNvPicPr>
          <p:nvPr/>
        </p:nvPicPr>
        <p:blipFill>
          <a:blip r:embed="rId1"/>
          <a:srcRect l="37799" t="90861" r="49581" b="5101"/>
          <a:stretch>
            <a:fillRect/>
          </a:stretch>
        </p:blipFill>
        <p:spPr>
          <a:xfrm>
            <a:off x="4608459" y="6231233"/>
            <a:ext cx="1538584" cy="276944"/>
          </a:xfrm>
          <a:prstGeom prst="rect">
            <a:avLst/>
          </a:prstGeom>
        </p:spPr>
      </p:pic>
      <p:pic>
        <p:nvPicPr>
          <p:cNvPr id="253" name="Original crop 253" descr="生成设计的原图局部；所有插图、边框、图标与箭头均保持原样。"/>
          <p:cNvPicPr>
            <a:picLocks noChangeAspect="1"/>
          </p:cNvPicPr>
          <p:nvPr/>
        </p:nvPicPr>
        <p:blipFill>
          <a:blip r:embed="rId1"/>
          <a:srcRect l="67105" t="90861" r="21711" b="5101"/>
          <a:stretch>
            <a:fillRect/>
          </a:stretch>
        </p:blipFill>
        <p:spPr>
          <a:xfrm>
            <a:off x="8181474" y="6231233"/>
            <a:ext cx="1363579" cy="276944"/>
          </a:xfrm>
          <a:prstGeom prst="rect">
            <a:avLst/>
          </a:prstGeom>
        </p:spPr>
      </p:pic>
      <p:pic>
        <p:nvPicPr>
          <p:cNvPr id="254" name="Original crop 254" descr="生成设计的原图局部；所有插图、边框、图标与箭头均保持原样。"/>
          <p:cNvPicPr>
            <a:picLocks noChangeAspect="1"/>
          </p:cNvPicPr>
          <p:nvPr/>
        </p:nvPicPr>
        <p:blipFill>
          <a:blip r:embed="rId1"/>
          <a:srcRect l="95156" t="90861" b="5101"/>
          <a:stretch>
            <a:fillRect/>
          </a:stretch>
        </p:blipFill>
        <p:spPr>
          <a:xfrm>
            <a:off x="11601359" y="6231233"/>
            <a:ext cx="590641" cy="276944"/>
          </a:xfrm>
          <a:prstGeom prst="rect">
            <a:avLst/>
          </a:prstGeom>
        </p:spPr>
      </p:pic>
      <p:pic>
        <p:nvPicPr>
          <p:cNvPr id="255" name="Original crop 255" descr="生成设计的原图局部；所有插图、边框、图标与箭头均保持原样。"/>
          <p:cNvPicPr>
            <a:picLocks noChangeAspect="1"/>
          </p:cNvPicPr>
          <p:nvPr/>
        </p:nvPicPr>
        <p:blipFill>
          <a:blip r:embed="rId1"/>
          <a:srcRect t="83209" r="79306" b="16684"/>
          <a:stretch>
            <a:fillRect/>
          </a:stretch>
        </p:blipFill>
        <p:spPr>
          <a:xfrm>
            <a:off x="0" y="5706497"/>
            <a:ext cx="2522986" cy="7288"/>
          </a:xfrm>
          <a:prstGeom prst="rect">
            <a:avLst/>
          </a:prstGeom>
        </p:spPr>
      </p:pic>
      <p:pic>
        <p:nvPicPr>
          <p:cNvPr id="256" name="Original crop 256" descr="生成设计的原图局部；所有插图、边框、图标与箭头均保持原样。"/>
          <p:cNvPicPr>
            <a:picLocks noChangeAspect="1"/>
          </p:cNvPicPr>
          <p:nvPr/>
        </p:nvPicPr>
        <p:blipFill>
          <a:blip r:embed="rId1"/>
          <a:srcRect l="37739" t="83209" b="16684"/>
          <a:stretch>
            <a:fillRect/>
          </a:stretch>
        </p:blipFill>
        <p:spPr>
          <a:xfrm>
            <a:off x="4601167" y="5706497"/>
            <a:ext cx="7590833" cy="7288"/>
          </a:xfrm>
          <a:prstGeom prst="rect">
            <a:avLst/>
          </a:prstGeom>
        </p:spPr>
      </p:pic>
      <p:pic>
        <p:nvPicPr>
          <p:cNvPr id="257" name="Original crop 257" descr="生成设计的原图局部；所有插图、边框、图标与箭头均保持原样。"/>
          <p:cNvPicPr>
            <a:picLocks noChangeAspect="1"/>
          </p:cNvPicPr>
          <p:nvPr/>
        </p:nvPicPr>
        <p:blipFill>
          <a:blip r:embed="rId1"/>
          <a:srcRect t="78959" r="96112" b="16791"/>
          <a:stretch>
            <a:fillRect/>
          </a:stretch>
        </p:blipFill>
        <p:spPr>
          <a:xfrm>
            <a:off x="0" y="5414978"/>
            <a:ext cx="473971" cy="291520"/>
          </a:xfrm>
          <a:prstGeom prst="rect">
            <a:avLst/>
          </a:prstGeom>
        </p:spPr>
      </p:pic>
      <p:pic>
        <p:nvPicPr>
          <p:cNvPr id="258" name="Original crop 258" descr="生成设计的原图局部；所有插图、边框、图标与箭头均保持原样。"/>
          <p:cNvPicPr>
            <a:picLocks noChangeAspect="1"/>
          </p:cNvPicPr>
          <p:nvPr/>
        </p:nvPicPr>
        <p:blipFill>
          <a:blip r:embed="rId1"/>
          <a:srcRect l="16926" t="78959" b="20935"/>
          <a:stretch>
            <a:fillRect/>
          </a:stretch>
        </p:blipFill>
        <p:spPr>
          <a:xfrm>
            <a:off x="2063598" y="5414978"/>
            <a:ext cx="10128402" cy="7288"/>
          </a:xfrm>
          <a:prstGeom prst="rect">
            <a:avLst/>
          </a:prstGeom>
        </p:spPr>
      </p:pic>
      <p:pic>
        <p:nvPicPr>
          <p:cNvPr id="259" name="Original crop 259" descr="生成设计的原图局部；所有插图、边框、图标与箭头均保持原样。"/>
          <p:cNvPicPr>
            <a:picLocks noChangeAspect="1"/>
          </p:cNvPicPr>
          <p:nvPr/>
        </p:nvPicPr>
        <p:blipFill>
          <a:blip r:embed="rId1"/>
          <a:srcRect l="16926" t="79065" r="79306" b="16791"/>
          <a:stretch>
            <a:fillRect/>
          </a:stretch>
        </p:blipFill>
        <p:spPr>
          <a:xfrm>
            <a:off x="2063598" y="5422266"/>
            <a:ext cx="459388" cy="284232"/>
          </a:xfrm>
          <a:prstGeom prst="rect">
            <a:avLst/>
          </a:prstGeom>
        </p:spPr>
      </p:pic>
      <p:pic>
        <p:nvPicPr>
          <p:cNvPr id="260" name="Original crop 260" descr="生成设计的原图局部；所有插图、边框、图标与箭头均保持原样。"/>
          <p:cNvPicPr>
            <a:picLocks noChangeAspect="1"/>
          </p:cNvPicPr>
          <p:nvPr/>
        </p:nvPicPr>
        <p:blipFill>
          <a:blip r:embed="rId1"/>
          <a:srcRect l="37739" t="82784" b="16791"/>
          <a:stretch>
            <a:fillRect/>
          </a:stretch>
        </p:blipFill>
        <p:spPr>
          <a:xfrm>
            <a:off x="4601167" y="5677345"/>
            <a:ext cx="7590833" cy="29152"/>
          </a:xfrm>
          <a:prstGeom prst="rect">
            <a:avLst/>
          </a:prstGeom>
        </p:spPr>
      </p:pic>
      <p:pic>
        <p:nvPicPr>
          <p:cNvPr id="261" name="Original crop 261" descr="生成设计的原图局部；所有插图、边框、图标与箭头均保持原样。"/>
          <p:cNvPicPr>
            <a:picLocks noChangeAspect="1"/>
          </p:cNvPicPr>
          <p:nvPr/>
        </p:nvPicPr>
        <p:blipFill>
          <a:blip r:embed="rId1"/>
          <a:srcRect l="37739" t="79065" r="24761" b="17216"/>
          <a:stretch>
            <a:fillRect/>
          </a:stretch>
        </p:blipFill>
        <p:spPr>
          <a:xfrm>
            <a:off x="4601167" y="5422266"/>
            <a:ext cx="4572000" cy="255080"/>
          </a:xfrm>
          <a:prstGeom prst="rect">
            <a:avLst/>
          </a:prstGeom>
        </p:spPr>
      </p:pic>
      <p:pic>
        <p:nvPicPr>
          <p:cNvPr id="262" name="Original crop 262" descr="生成设计的原图局部；所有插图、边框、图标与箭头均保持原样。"/>
          <p:cNvPicPr>
            <a:picLocks noChangeAspect="1"/>
          </p:cNvPicPr>
          <p:nvPr/>
        </p:nvPicPr>
        <p:blipFill>
          <a:blip r:embed="rId1"/>
          <a:srcRect l="96112" t="79065" b="17216"/>
          <a:stretch>
            <a:fillRect/>
          </a:stretch>
        </p:blipFill>
        <p:spPr>
          <a:xfrm>
            <a:off x="11718029" y="5422266"/>
            <a:ext cx="473971" cy="255080"/>
          </a:xfrm>
          <a:prstGeom prst="rect">
            <a:avLst/>
          </a:prstGeom>
        </p:spPr>
      </p:pic>
      <p:pic>
        <p:nvPicPr>
          <p:cNvPr id="263" name="Original crop 263" descr="生成设计的原图局部；所有插图、边框、图标与箭头均保持原样。"/>
          <p:cNvPicPr>
            <a:picLocks noChangeAspect="1"/>
          </p:cNvPicPr>
          <p:nvPr/>
        </p:nvPicPr>
        <p:blipFill>
          <a:blip r:embed="rId1"/>
          <a:srcRect t="68544" r="96112" b="25717"/>
          <a:stretch>
            <a:fillRect/>
          </a:stretch>
        </p:blipFill>
        <p:spPr>
          <a:xfrm>
            <a:off x="0" y="4700755"/>
            <a:ext cx="473971" cy="393552"/>
          </a:xfrm>
          <a:prstGeom prst="rect">
            <a:avLst/>
          </a:prstGeom>
        </p:spPr>
      </p:pic>
      <p:pic>
        <p:nvPicPr>
          <p:cNvPr id="264" name="Original crop 264" descr="生成设计的原图局部；所有插图、边框、图标与箭头均保持原样。"/>
          <p:cNvPicPr>
            <a:picLocks noChangeAspect="1"/>
          </p:cNvPicPr>
          <p:nvPr/>
        </p:nvPicPr>
        <p:blipFill>
          <a:blip r:embed="rId1"/>
          <a:srcRect l="16926" t="68544" b="30925"/>
          <a:stretch>
            <a:fillRect/>
          </a:stretch>
        </p:blipFill>
        <p:spPr>
          <a:xfrm>
            <a:off x="2063598" y="4700755"/>
            <a:ext cx="10128402" cy="36440"/>
          </a:xfrm>
          <a:prstGeom prst="rect">
            <a:avLst/>
          </a:prstGeom>
        </p:spPr>
      </p:pic>
      <p:pic>
        <p:nvPicPr>
          <p:cNvPr id="265" name="Original crop 265" descr="生成设计的原图局部；所有插图、边框、图标与箭头均保持原样。"/>
          <p:cNvPicPr>
            <a:picLocks noChangeAspect="1"/>
          </p:cNvPicPr>
          <p:nvPr/>
        </p:nvPicPr>
        <p:blipFill>
          <a:blip r:embed="rId1"/>
          <a:srcRect l="16926" t="73964" r="24761" b="25717"/>
          <a:stretch>
            <a:fillRect/>
          </a:stretch>
        </p:blipFill>
        <p:spPr>
          <a:xfrm>
            <a:off x="2063598" y="5072442"/>
            <a:ext cx="7109569" cy="21864"/>
          </a:xfrm>
          <a:prstGeom prst="rect">
            <a:avLst/>
          </a:prstGeom>
        </p:spPr>
      </p:pic>
      <p:pic>
        <p:nvPicPr>
          <p:cNvPr id="266" name="Original crop 266" descr="生成设计的原图局部；所有插图、边框、图标与箭头均保持原样。"/>
          <p:cNvPicPr>
            <a:picLocks noChangeAspect="1"/>
          </p:cNvPicPr>
          <p:nvPr/>
        </p:nvPicPr>
        <p:blipFill>
          <a:blip r:embed="rId1"/>
          <a:srcRect l="96112" t="73964" b="25717"/>
          <a:stretch>
            <a:fillRect/>
          </a:stretch>
        </p:blipFill>
        <p:spPr>
          <a:xfrm>
            <a:off x="11718029" y="5072442"/>
            <a:ext cx="473971" cy="21864"/>
          </a:xfrm>
          <a:prstGeom prst="rect">
            <a:avLst/>
          </a:prstGeom>
        </p:spPr>
      </p:pic>
      <p:pic>
        <p:nvPicPr>
          <p:cNvPr id="267" name="Original crop 267" descr="生成设计的原图局部；所有插图、边框、图标与箭头均保持原样。"/>
          <p:cNvPicPr>
            <a:picLocks noChangeAspect="1"/>
          </p:cNvPicPr>
          <p:nvPr/>
        </p:nvPicPr>
        <p:blipFill>
          <a:blip r:embed="rId1"/>
          <a:srcRect l="16926" t="69075" r="79306" b="26036"/>
          <a:stretch>
            <a:fillRect/>
          </a:stretch>
        </p:blipFill>
        <p:spPr>
          <a:xfrm>
            <a:off x="2063598" y="4737194"/>
            <a:ext cx="459388" cy="335248"/>
          </a:xfrm>
          <a:prstGeom prst="rect">
            <a:avLst/>
          </a:prstGeom>
        </p:spPr>
      </p:pic>
      <p:pic>
        <p:nvPicPr>
          <p:cNvPr id="268" name="Original crop 268" descr="生成设计的原图局部；所有插图、边框、图标与箭头均保持原样。"/>
          <p:cNvPicPr>
            <a:picLocks noChangeAspect="1"/>
          </p:cNvPicPr>
          <p:nvPr/>
        </p:nvPicPr>
        <p:blipFill>
          <a:blip r:embed="rId1"/>
          <a:srcRect l="37739" t="69075" b="26674"/>
          <a:stretch>
            <a:fillRect/>
          </a:stretch>
        </p:blipFill>
        <p:spPr>
          <a:xfrm>
            <a:off x="4601167" y="4737194"/>
            <a:ext cx="7590833" cy="291520"/>
          </a:xfrm>
          <a:prstGeom prst="rect">
            <a:avLst/>
          </a:prstGeom>
        </p:spPr>
      </p:pic>
      <p:pic>
        <p:nvPicPr>
          <p:cNvPr id="269" name="Original crop 269" descr="生成设计的原图局部；所有插图、边框、图标与箭头均保持原样。"/>
          <p:cNvPicPr>
            <a:picLocks noChangeAspect="1"/>
          </p:cNvPicPr>
          <p:nvPr/>
        </p:nvPicPr>
        <p:blipFill>
          <a:blip r:embed="rId1"/>
          <a:srcRect l="37739" t="73326" r="24761" b="26036"/>
          <a:stretch>
            <a:fillRect/>
          </a:stretch>
        </p:blipFill>
        <p:spPr>
          <a:xfrm>
            <a:off x="4601167" y="5028714"/>
            <a:ext cx="4572000" cy="43728"/>
          </a:xfrm>
          <a:prstGeom prst="rect">
            <a:avLst/>
          </a:prstGeom>
        </p:spPr>
      </p:pic>
      <p:pic>
        <p:nvPicPr>
          <p:cNvPr id="270" name="Original crop 270" descr="生成设计的原图局部；所有插图、边框、图标与箭头均保持原样。"/>
          <p:cNvPicPr>
            <a:picLocks noChangeAspect="1"/>
          </p:cNvPicPr>
          <p:nvPr/>
        </p:nvPicPr>
        <p:blipFill>
          <a:blip r:embed="rId1"/>
          <a:srcRect l="96112" t="73326" b="26036"/>
          <a:stretch>
            <a:fillRect/>
          </a:stretch>
        </p:blipFill>
        <p:spPr>
          <a:xfrm>
            <a:off x="11718029" y="5028714"/>
            <a:ext cx="473971" cy="43728"/>
          </a:xfrm>
          <a:prstGeom prst="rect">
            <a:avLst/>
          </a:prstGeom>
        </p:spPr>
      </p:pic>
      <p:pic>
        <p:nvPicPr>
          <p:cNvPr id="271" name="Original crop 271" descr="生成设计的原图局部；所有插图、边框、图标与箭头均保持原样。"/>
          <p:cNvPicPr>
            <a:picLocks noChangeAspect="1"/>
          </p:cNvPicPr>
          <p:nvPr/>
        </p:nvPicPr>
        <p:blipFill>
          <a:blip r:embed="rId1"/>
          <a:srcRect t="58661" r="96112" b="35494"/>
          <a:stretch>
            <a:fillRect/>
          </a:stretch>
        </p:blipFill>
        <p:spPr>
          <a:xfrm>
            <a:off x="0" y="4022971"/>
            <a:ext cx="473971" cy="400840"/>
          </a:xfrm>
          <a:prstGeom prst="rect">
            <a:avLst/>
          </a:prstGeom>
        </p:spPr>
      </p:pic>
      <p:pic>
        <p:nvPicPr>
          <p:cNvPr id="272" name="Original crop 272" descr="生成设计的原图局部；所有插图、边框、图标与箭头均保持原样。"/>
          <p:cNvPicPr>
            <a:picLocks noChangeAspect="1"/>
          </p:cNvPicPr>
          <p:nvPr/>
        </p:nvPicPr>
        <p:blipFill>
          <a:blip r:embed="rId1"/>
          <a:srcRect l="16866" t="58661" b="40808"/>
          <a:stretch>
            <a:fillRect/>
          </a:stretch>
        </p:blipFill>
        <p:spPr>
          <a:xfrm>
            <a:off x="2056306" y="4022971"/>
            <a:ext cx="10135694" cy="36440"/>
          </a:xfrm>
          <a:prstGeom prst="rect">
            <a:avLst/>
          </a:prstGeom>
        </p:spPr>
      </p:pic>
      <p:pic>
        <p:nvPicPr>
          <p:cNvPr id="273" name="Original crop 273" descr="生成设计的原图局部；所有插图、边框、图标与箭头均保持原样。"/>
          <p:cNvPicPr>
            <a:picLocks noChangeAspect="1"/>
          </p:cNvPicPr>
          <p:nvPr/>
        </p:nvPicPr>
        <p:blipFill>
          <a:blip r:embed="rId1"/>
          <a:srcRect l="16866" t="59192" r="58433" b="40595"/>
          <a:stretch>
            <a:fillRect/>
          </a:stretch>
        </p:blipFill>
        <p:spPr>
          <a:xfrm>
            <a:off x="2056306" y="4059411"/>
            <a:ext cx="3011541" cy="14576"/>
          </a:xfrm>
          <a:prstGeom prst="rect">
            <a:avLst/>
          </a:prstGeom>
        </p:spPr>
      </p:pic>
      <p:pic>
        <p:nvPicPr>
          <p:cNvPr id="274" name="Original crop 274" descr="生成设计的原图局部；所有插图、边框、图标与箭头均保持原样。"/>
          <p:cNvPicPr>
            <a:picLocks noChangeAspect="1"/>
          </p:cNvPicPr>
          <p:nvPr/>
        </p:nvPicPr>
        <p:blipFill>
          <a:blip r:embed="rId1"/>
          <a:srcRect l="50658" t="59192" r="44677" b="40595"/>
          <a:stretch>
            <a:fillRect/>
          </a:stretch>
        </p:blipFill>
        <p:spPr>
          <a:xfrm>
            <a:off x="6176211" y="4059411"/>
            <a:ext cx="568766" cy="14576"/>
          </a:xfrm>
          <a:prstGeom prst="rect">
            <a:avLst/>
          </a:prstGeom>
        </p:spPr>
      </p:pic>
      <p:pic>
        <p:nvPicPr>
          <p:cNvPr id="275" name="Original crop 275" descr="生成设计的原图局部；所有插图、边框、图标与箭头均保持原样。"/>
          <p:cNvPicPr>
            <a:picLocks noChangeAspect="1"/>
          </p:cNvPicPr>
          <p:nvPr/>
        </p:nvPicPr>
        <p:blipFill>
          <a:blip r:embed="rId1"/>
          <a:srcRect l="66687" t="59192" b="40595"/>
          <a:stretch>
            <a:fillRect/>
          </a:stretch>
        </p:blipFill>
        <p:spPr>
          <a:xfrm>
            <a:off x="8130431" y="4059411"/>
            <a:ext cx="4061569" cy="14576"/>
          </a:xfrm>
          <a:prstGeom prst="rect">
            <a:avLst/>
          </a:prstGeom>
        </p:spPr>
      </p:pic>
      <p:pic>
        <p:nvPicPr>
          <p:cNvPr id="276" name="Original crop 276" descr="生成设计的原图局部；所有插图、边框、图标与箭头均保持原样。"/>
          <p:cNvPicPr>
            <a:picLocks noChangeAspect="1"/>
          </p:cNvPicPr>
          <p:nvPr/>
        </p:nvPicPr>
        <p:blipFill>
          <a:blip r:embed="rId1"/>
          <a:srcRect l="16866" t="63868" r="58433" b="35494"/>
          <a:stretch>
            <a:fillRect/>
          </a:stretch>
        </p:blipFill>
        <p:spPr>
          <a:xfrm>
            <a:off x="2056306" y="4380083"/>
            <a:ext cx="3011541" cy="43728"/>
          </a:xfrm>
          <a:prstGeom prst="rect">
            <a:avLst/>
          </a:prstGeom>
        </p:spPr>
      </p:pic>
      <p:pic>
        <p:nvPicPr>
          <p:cNvPr id="277" name="Original crop 277" descr="生成设计的原图局部；所有插图、边框、图标与箭头均保持原样。"/>
          <p:cNvPicPr>
            <a:picLocks noChangeAspect="1"/>
          </p:cNvPicPr>
          <p:nvPr/>
        </p:nvPicPr>
        <p:blipFill>
          <a:blip r:embed="rId1"/>
          <a:srcRect l="50658" t="63868" r="44677" b="35494"/>
          <a:stretch>
            <a:fillRect/>
          </a:stretch>
        </p:blipFill>
        <p:spPr>
          <a:xfrm>
            <a:off x="6176211" y="4380083"/>
            <a:ext cx="568766" cy="43728"/>
          </a:xfrm>
          <a:prstGeom prst="rect">
            <a:avLst/>
          </a:prstGeom>
        </p:spPr>
      </p:pic>
      <p:pic>
        <p:nvPicPr>
          <p:cNvPr id="278" name="Original crop 278" descr="生成设计的原图局部；所有插图、边框、图标与箭头均保持原样。"/>
          <p:cNvPicPr>
            <a:picLocks noChangeAspect="1"/>
          </p:cNvPicPr>
          <p:nvPr/>
        </p:nvPicPr>
        <p:blipFill>
          <a:blip r:embed="rId1"/>
          <a:srcRect l="66687" t="63868" r="23385" b="35494"/>
          <a:stretch>
            <a:fillRect/>
          </a:stretch>
        </p:blipFill>
        <p:spPr>
          <a:xfrm>
            <a:off x="8130431" y="4380083"/>
            <a:ext cx="1210450" cy="43728"/>
          </a:xfrm>
          <a:prstGeom prst="rect">
            <a:avLst/>
          </a:prstGeom>
        </p:spPr>
      </p:pic>
      <p:pic>
        <p:nvPicPr>
          <p:cNvPr id="279" name="Original crop 279" descr="生成设计的原图局部；所有插图、边框、图标与箭头均保持原样。"/>
          <p:cNvPicPr>
            <a:picLocks noChangeAspect="1"/>
          </p:cNvPicPr>
          <p:nvPr/>
        </p:nvPicPr>
        <p:blipFill>
          <a:blip r:embed="rId1"/>
          <a:srcRect l="88756" t="63868" b="35494"/>
          <a:stretch>
            <a:fillRect/>
          </a:stretch>
        </p:blipFill>
        <p:spPr>
          <a:xfrm>
            <a:off x="10821129" y="4380083"/>
            <a:ext cx="1370871" cy="43728"/>
          </a:xfrm>
          <a:prstGeom prst="rect">
            <a:avLst/>
          </a:prstGeom>
        </p:spPr>
      </p:pic>
      <p:pic>
        <p:nvPicPr>
          <p:cNvPr id="280" name="Original crop 280" descr="生成设计的原图局部；所有插图、边框、图标与箭头均保持原样。"/>
          <p:cNvPicPr>
            <a:picLocks noChangeAspect="1"/>
          </p:cNvPicPr>
          <p:nvPr/>
        </p:nvPicPr>
        <p:blipFill>
          <a:blip r:embed="rId1"/>
          <a:srcRect l="16866" t="59405" r="79306" b="36132"/>
          <a:stretch>
            <a:fillRect/>
          </a:stretch>
        </p:blipFill>
        <p:spPr>
          <a:xfrm>
            <a:off x="2056306" y="4073987"/>
            <a:ext cx="466679" cy="306096"/>
          </a:xfrm>
          <a:prstGeom prst="rect">
            <a:avLst/>
          </a:prstGeom>
        </p:spPr>
      </p:pic>
      <p:pic>
        <p:nvPicPr>
          <p:cNvPr id="281" name="Original crop 281" descr="生成设计的原图局部；所有插图、边框、图标与箭头均保持原样。"/>
          <p:cNvPicPr>
            <a:picLocks noChangeAspect="1"/>
          </p:cNvPicPr>
          <p:nvPr/>
        </p:nvPicPr>
        <p:blipFill>
          <a:blip r:embed="rId1"/>
          <a:srcRect l="37739" t="59405" r="58433" b="36132"/>
          <a:stretch>
            <a:fillRect/>
          </a:stretch>
        </p:blipFill>
        <p:spPr>
          <a:xfrm>
            <a:off x="4601167" y="4073987"/>
            <a:ext cx="466679" cy="306096"/>
          </a:xfrm>
          <a:prstGeom prst="rect">
            <a:avLst/>
          </a:prstGeom>
        </p:spPr>
      </p:pic>
      <p:pic>
        <p:nvPicPr>
          <p:cNvPr id="282" name="Original crop 282" descr="生成设计的原图局部；所有插图、边框、图标与箭头均保持原样。"/>
          <p:cNvPicPr>
            <a:picLocks noChangeAspect="1"/>
          </p:cNvPicPr>
          <p:nvPr/>
        </p:nvPicPr>
        <p:blipFill>
          <a:blip r:embed="rId1"/>
          <a:srcRect l="50658" t="59405" r="44677" b="36132"/>
          <a:stretch>
            <a:fillRect/>
          </a:stretch>
        </p:blipFill>
        <p:spPr>
          <a:xfrm>
            <a:off x="6176211" y="4073987"/>
            <a:ext cx="568766" cy="306096"/>
          </a:xfrm>
          <a:prstGeom prst="rect">
            <a:avLst/>
          </a:prstGeom>
        </p:spPr>
      </p:pic>
      <p:pic>
        <p:nvPicPr>
          <p:cNvPr id="283" name="Original crop 283" descr="生成设计的原图局部；所有插图、边框、图标与箭头均保持原样。"/>
          <p:cNvPicPr>
            <a:picLocks noChangeAspect="1"/>
          </p:cNvPicPr>
          <p:nvPr/>
        </p:nvPicPr>
        <p:blipFill>
          <a:blip r:embed="rId1"/>
          <a:srcRect l="66687" t="59405" b="38576"/>
          <a:stretch>
            <a:fillRect/>
          </a:stretch>
        </p:blipFill>
        <p:spPr>
          <a:xfrm>
            <a:off x="8130431" y="4073987"/>
            <a:ext cx="4061569" cy="138472"/>
          </a:xfrm>
          <a:prstGeom prst="rect">
            <a:avLst/>
          </a:prstGeom>
        </p:spPr>
      </p:pic>
      <p:pic>
        <p:nvPicPr>
          <p:cNvPr id="284" name="Original crop 284" descr="生成设计的原图局部；所有插图、边框、图标与箭头均保持原样。"/>
          <p:cNvPicPr>
            <a:picLocks noChangeAspect="1"/>
          </p:cNvPicPr>
          <p:nvPr/>
        </p:nvPicPr>
        <p:blipFill>
          <a:blip r:embed="rId1"/>
          <a:srcRect l="66687" t="61424" r="23385" b="36132"/>
          <a:stretch>
            <a:fillRect/>
          </a:stretch>
        </p:blipFill>
        <p:spPr>
          <a:xfrm>
            <a:off x="8130431" y="4212459"/>
            <a:ext cx="1210450" cy="167624"/>
          </a:xfrm>
          <a:prstGeom prst="rect">
            <a:avLst/>
          </a:prstGeom>
        </p:spPr>
      </p:pic>
      <p:pic>
        <p:nvPicPr>
          <p:cNvPr id="285" name="Original crop 285" descr="生成设计的原图局部；所有插图、边框、图标与箭头均保持原样。"/>
          <p:cNvPicPr>
            <a:picLocks noChangeAspect="1"/>
          </p:cNvPicPr>
          <p:nvPr/>
        </p:nvPicPr>
        <p:blipFill>
          <a:blip r:embed="rId1"/>
          <a:srcRect l="88756" t="61424" b="36132"/>
          <a:stretch>
            <a:fillRect/>
          </a:stretch>
        </p:blipFill>
        <p:spPr>
          <a:xfrm>
            <a:off x="10821129" y="4212459"/>
            <a:ext cx="1370871" cy="167624"/>
          </a:xfrm>
          <a:prstGeom prst="rect">
            <a:avLst/>
          </a:prstGeom>
        </p:spPr>
      </p:pic>
      <p:pic>
        <p:nvPicPr>
          <p:cNvPr id="286" name="Original crop 286" descr="生成设计的原图局部；所有插图、边框、图标与箭头均保持原样。"/>
          <p:cNvPicPr>
            <a:picLocks noChangeAspect="1"/>
          </p:cNvPicPr>
          <p:nvPr/>
        </p:nvPicPr>
        <p:blipFill>
          <a:blip r:embed="rId1"/>
          <a:srcRect t="48778" r="96112" b="45377"/>
          <a:stretch>
            <a:fillRect/>
          </a:stretch>
        </p:blipFill>
        <p:spPr>
          <a:xfrm>
            <a:off x="0" y="3345188"/>
            <a:ext cx="473971" cy="400840"/>
          </a:xfrm>
          <a:prstGeom prst="rect">
            <a:avLst/>
          </a:prstGeom>
        </p:spPr>
      </p:pic>
      <p:pic>
        <p:nvPicPr>
          <p:cNvPr id="287" name="Original crop 287" descr="生成设计的原图局部；所有插图、边框、图标与箭头均保持原样。"/>
          <p:cNvPicPr>
            <a:picLocks noChangeAspect="1"/>
          </p:cNvPicPr>
          <p:nvPr/>
        </p:nvPicPr>
        <p:blipFill>
          <a:blip r:embed="rId1"/>
          <a:srcRect l="16926" t="48778" r="58433" b="50478"/>
          <a:stretch>
            <a:fillRect/>
          </a:stretch>
        </p:blipFill>
        <p:spPr>
          <a:xfrm>
            <a:off x="2063598" y="3345188"/>
            <a:ext cx="3004249" cy="51016"/>
          </a:xfrm>
          <a:prstGeom prst="rect">
            <a:avLst/>
          </a:prstGeom>
        </p:spPr>
      </p:pic>
      <p:pic>
        <p:nvPicPr>
          <p:cNvPr id="288" name="Original crop 288" descr="生成设计的原图局部；所有插图、边框、图标与箭头均保持原样。"/>
          <p:cNvPicPr>
            <a:picLocks noChangeAspect="1"/>
          </p:cNvPicPr>
          <p:nvPr/>
        </p:nvPicPr>
        <p:blipFill>
          <a:blip r:embed="rId1"/>
          <a:srcRect l="50658" t="48778" r="44677" b="50478"/>
          <a:stretch>
            <a:fillRect/>
          </a:stretch>
        </p:blipFill>
        <p:spPr>
          <a:xfrm>
            <a:off x="6176211" y="3345188"/>
            <a:ext cx="568766" cy="51016"/>
          </a:xfrm>
          <a:prstGeom prst="rect">
            <a:avLst/>
          </a:prstGeom>
        </p:spPr>
      </p:pic>
      <p:pic>
        <p:nvPicPr>
          <p:cNvPr id="289" name="Original crop 289" descr="生成设计的原图局部；所有插图、边框、图标与箭头均保持原样。"/>
          <p:cNvPicPr>
            <a:picLocks noChangeAspect="1"/>
          </p:cNvPicPr>
          <p:nvPr/>
        </p:nvPicPr>
        <p:blipFill>
          <a:blip r:embed="rId1"/>
          <a:srcRect l="66687" t="48778" r="6938" b="50478"/>
          <a:stretch>
            <a:fillRect/>
          </a:stretch>
        </p:blipFill>
        <p:spPr>
          <a:xfrm>
            <a:off x="8130431" y="3345188"/>
            <a:ext cx="3215713" cy="51016"/>
          </a:xfrm>
          <a:prstGeom prst="rect">
            <a:avLst/>
          </a:prstGeom>
        </p:spPr>
      </p:pic>
      <p:pic>
        <p:nvPicPr>
          <p:cNvPr id="290" name="Original crop 290" descr="生成设计的原图局部；所有插图、边框、图标与箭头均保持原样。"/>
          <p:cNvPicPr>
            <a:picLocks noChangeAspect="1"/>
          </p:cNvPicPr>
          <p:nvPr/>
        </p:nvPicPr>
        <p:blipFill>
          <a:blip r:embed="rId1"/>
          <a:srcRect l="97787" t="48778" b="50478"/>
          <a:stretch>
            <a:fillRect/>
          </a:stretch>
        </p:blipFill>
        <p:spPr>
          <a:xfrm>
            <a:off x="11922201" y="3345188"/>
            <a:ext cx="269799" cy="51016"/>
          </a:xfrm>
          <a:prstGeom prst="rect">
            <a:avLst/>
          </a:prstGeom>
        </p:spPr>
      </p:pic>
      <p:pic>
        <p:nvPicPr>
          <p:cNvPr id="291" name="Original crop 291" descr="生成设计的原图局部；所有插图、边框、图标与箭头均保持原样。"/>
          <p:cNvPicPr>
            <a:picLocks noChangeAspect="1"/>
          </p:cNvPicPr>
          <p:nvPr/>
        </p:nvPicPr>
        <p:blipFill>
          <a:blip r:embed="rId1"/>
          <a:srcRect l="16926" t="53773" r="58433" b="45377"/>
          <a:stretch>
            <a:fillRect/>
          </a:stretch>
        </p:blipFill>
        <p:spPr>
          <a:xfrm>
            <a:off x="2063598" y="3687724"/>
            <a:ext cx="3004249" cy="58304"/>
          </a:xfrm>
          <a:prstGeom prst="rect">
            <a:avLst/>
          </a:prstGeom>
        </p:spPr>
      </p:pic>
      <p:pic>
        <p:nvPicPr>
          <p:cNvPr id="292" name="Original crop 292" descr="生成设计的原图局部；所有插图、边框、图标与箭头均保持原样。"/>
          <p:cNvPicPr>
            <a:picLocks noChangeAspect="1"/>
          </p:cNvPicPr>
          <p:nvPr/>
        </p:nvPicPr>
        <p:blipFill>
          <a:blip r:embed="rId1"/>
          <a:srcRect l="50658" t="53773" r="44677" b="45377"/>
          <a:stretch>
            <a:fillRect/>
          </a:stretch>
        </p:blipFill>
        <p:spPr>
          <a:xfrm>
            <a:off x="6176211" y="3687724"/>
            <a:ext cx="568766" cy="58304"/>
          </a:xfrm>
          <a:prstGeom prst="rect">
            <a:avLst/>
          </a:prstGeom>
        </p:spPr>
      </p:pic>
      <p:pic>
        <p:nvPicPr>
          <p:cNvPr id="293" name="Original crop 293" descr="生成设计的原图局部；所有插图、边框、图标与箭头均保持原样。"/>
          <p:cNvPicPr>
            <a:picLocks noChangeAspect="1"/>
          </p:cNvPicPr>
          <p:nvPr/>
        </p:nvPicPr>
        <p:blipFill>
          <a:blip r:embed="rId1"/>
          <a:srcRect l="66687" t="53773" r="23385" b="45377"/>
          <a:stretch>
            <a:fillRect/>
          </a:stretch>
        </p:blipFill>
        <p:spPr>
          <a:xfrm>
            <a:off x="8130431" y="3687724"/>
            <a:ext cx="1210450" cy="58304"/>
          </a:xfrm>
          <a:prstGeom prst="rect">
            <a:avLst/>
          </a:prstGeom>
        </p:spPr>
      </p:pic>
      <p:pic>
        <p:nvPicPr>
          <p:cNvPr id="294" name="Original crop 294" descr="生成设计的原图局部；所有插图、边框、图标与箭头均保持原样。"/>
          <p:cNvPicPr>
            <a:picLocks noChangeAspect="1"/>
          </p:cNvPicPr>
          <p:nvPr/>
        </p:nvPicPr>
        <p:blipFill>
          <a:blip r:embed="rId1"/>
          <a:srcRect l="88756" t="53773" b="45377"/>
          <a:stretch>
            <a:fillRect/>
          </a:stretch>
        </p:blipFill>
        <p:spPr>
          <a:xfrm>
            <a:off x="10821129" y="3687724"/>
            <a:ext cx="1370871" cy="58304"/>
          </a:xfrm>
          <a:prstGeom prst="rect">
            <a:avLst/>
          </a:prstGeom>
        </p:spPr>
      </p:pic>
      <p:pic>
        <p:nvPicPr>
          <p:cNvPr id="295" name="Original crop 295" descr="生成设计的原图局部；所有插图、边框、图标与箭头均保持原样。"/>
          <p:cNvPicPr>
            <a:picLocks noChangeAspect="1"/>
          </p:cNvPicPr>
          <p:nvPr/>
        </p:nvPicPr>
        <p:blipFill>
          <a:blip r:embed="rId1"/>
          <a:srcRect l="16926" t="49522" r="79306" b="46227"/>
          <a:stretch>
            <a:fillRect/>
          </a:stretch>
        </p:blipFill>
        <p:spPr>
          <a:xfrm>
            <a:off x="2063598" y="3396204"/>
            <a:ext cx="459388" cy="291520"/>
          </a:xfrm>
          <a:prstGeom prst="rect">
            <a:avLst/>
          </a:prstGeom>
        </p:spPr>
      </p:pic>
      <p:pic>
        <p:nvPicPr>
          <p:cNvPr id="296" name="Original crop 296" descr="生成设计的原图局部；所有插图、边框、图标与箭头均保持原样。"/>
          <p:cNvPicPr>
            <a:picLocks noChangeAspect="1"/>
          </p:cNvPicPr>
          <p:nvPr/>
        </p:nvPicPr>
        <p:blipFill>
          <a:blip r:embed="rId1"/>
          <a:srcRect l="37739" t="49522" r="58433" b="46227"/>
          <a:stretch>
            <a:fillRect/>
          </a:stretch>
        </p:blipFill>
        <p:spPr>
          <a:xfrm>
            <a:off x="4601167" y="3396204"/>
            <a:ext cx="466679" cy="291520"/>
          </a:xfrm>
          <a:prstGeom prst="rect">
            <a:avLst/>
          </a:prstGeom>
        </p:spPr>
      </p:pic>
      <p:pic>
        <p:nvPicPr>
          <p:cNvPr id="297" name="Original crop 297" descr="生成设计的原图局部；所有插图、边框、图标与箭头均保持原样。"/>
          <p:cNvPicPr>
            <a:picLocks noChangeAspect="1"/>
          </p:cNvPicPr>
          <p:nvPr/>
        </p:nvPicPr>
        <p:blipFill>
          <a:blip r:embed="rId1"/>
          <a:srcRect l="50658" t="49522" r="44677" b="46227"/>
          <a:stretch>
            <a:fillRect/>
          </a:stretch>
        </p:blipFill>
        <p:spPr>
          <a:xfrm>
            <a:off x="6176211" y="3396204"/>
            <a:ext cx="568766" cy="291520"/>
          </a:xfrm>
          <a:prstGeom prst="rect">
            <a:avLst/>
          </a:prstGeom>
        </p:spPr>
      </p:pic>
      <p:pic>
        <p:nvPicPr>
          <p:cNvPr id="298" name="Original crop 298" descr="生成设计的原图局部；所有插图、边框、图标与箭头均保持原样。"/>
          <p:cNvPicPr>
            <a:picLocks noChangeAspect="1"/>
          </p:cNvPicPr>
          <p:nvPr/>
        </p:nvPicPr>
        <p:blipFill>
          <a:blip r:embed="rId1"/>
          <a:srcRect l="66687" t="50903" b="48247"/>
          <a:stretch>
            <a:fillRect/>
          </a:stretch>
        </p:blipFill>
        <p:spPr>
          <a:xfrm>
            <a:off x="8130431" y="3490948"/>
            <a:ext cx="4061569" cy="58304"/>
          </a:xfrm>
          <a:prstGeom prst="rect">
            <a:avLst/>
          </a:prstGeom>
        </p:spPr>
      </p:pic>
      <p:pic>
        <p:nvPicPr>
          <p:cNvPr id="299" name="Original crop 299" descr="生成设计的原图局部；所有插图、边框、图标与箭头均保持原样。"/>
          <p:cNvPicPr>
            <a:picLocks noChangeAspect="1"/>
          </p:cNvPicPr>
          <p:nvPr/>
        </p:nvPicPr>
        <p:blipFill>
          <a:blip r:embed="rId1"/>
          <a:srcRect l="66687" t="49522" r="6938" b="49097"/>
          <a:stretch>
            <a:fillRect/>
          </a:stretch>
        </p:blipFill>
        <p:spPr>
          <a:xfrm>
            <a:off x="8130431" y="3396204"/>
            <a:ext cx="3215713" cy="94744"/>
          </a:xfrm>
          <a:prstGeom prst="rect">
            <a:avLst/>
          </a:prstGeom>
        </p:spPr>
      </p:pic>
      <p:pic>
        <p:nvPicPr>
          <p:cNvPr id="300" name="Original crop 300" descr="生成设计的原图局部；所有插图、边框、图标与箭头均保持原样。"/>
          <p:cNvPicPr>
            <a:picLocks noChangeAspect="1"/>
          </p:cNvPicPr>
          <p:nvPr/>
        </p:nvPicPr>
        <p:blipFill>
          <a:blip r:embed="rId1"/>
          <a:srcRect l="97787" t="49522" b="49097"/>
          <a:stretch>
            <a:fillRect/>
          </a:stretch>
        </p:blipFill>
        <p:spPr>
          <a:xfrm>
            <a:off x="11922201" y="3396204"/>
            <a:ext cx="269799" cy="94744"/>
          </a:xfrm>
          <a:prstGeom prst="rect">
            <a:avLst/>
          </a:prstGeom>
        </p:spPr>
      </p:pic>
      <p:pic>
        <p:nvPicPr>
          <p:cNvPr id="301" name="Original crop 301" descr="生成设计的原图局部；所有插图、边框、图标与箭头均保持原样。"/>
          <p:cNvPicPr>
            <a:picLocks noChangeAspect="1"/>
          </p:cNvPicPr>
          <p:nvPr/>
        </p:nvPicPr>
        <p:blipFill>
          <a:blip r:embed="rId1"/>
          <a:srcRect l="66687" t="51753" r="23385" b="46227"/>
          <a:stretch>
            <a:fillRect/>
          </a:stretch>
        </p:blipFill>
        <p:spPr>
          <a:xfrm>
            <a:off x="8130431" y="3549252"/>
            <a:ext cx="1210450" cy="138472"/>
          </a:xfrm>
          <a:prstGeom prst="rect">
            <a:avLst/>
          </a:prstGeom>
        </p:spPr>
      </p:pic>
      <p:pic>
        <p:nvPicPr>
          <p:cNvPr id="302" name="Original crop 302" descr="生成设计的原图局部；所有插图、边框、图标与箭头均保持原样。"/>
          <p:cNvPicPr>
            <a:picLocks noChangeAspect="1"/>
          </p:cNvPicPr>
          <p:nvPr/>
        </p:nvPicPr>
        <p:blipFill>
          <a:blip r:embed="rId1"/>
          <a:srcRect l="88756" t="51753" b="46227"/>
          <a:stretch>
            <a:fillRect/>
          </a:stretch>
        </p:blipFill>
        <p:spPr>
          <a:xfrm>
            <a:off x="10821129" y="3549252"/>
            <a:ext cx="1370871" cy="138472"/>
          </a:xfrm>
          <a:prstGeom prst="rect">
            <a:avLst/>
          </a:prstGeom>
        </p:spPr>
      </p:pic>
      <p:pic>
        <p:nvPicPr>
          <p:cNvPr id="303" name="Original crop 303" descr="生成设计的原图局部；所有插图、边框、图标与箭头均保持原样。"/>
          <p:cNvPicPr>
            <a:picLocks noChangeAspect="1"/>
          </p:cNvPicPr>
          <p:nvPr/>
        </p:nvPicPr>
        <p:blipFill>
          <a:blip r:embed="rId1"/>
          <a:srcRect t="19554" r="92225" b="75770"/>
          <a:stretch>
            <a:fillRect/>
          </a:stretch>
        </p:blipFill>
        <p:spPr>
          <a:xfrm>
            <a:off x="0" y="1340990"/>
            <a:ext cx="947943" cy="320672"/>
          </a:xfrm>
          <a:prstGeom prst="rect">
            <a:avLst/>
          </a:prstGeom>
        </p:spPr>
      </p:pic>
      <p:pic>
        <p:nvPicPr>
          <p:cNvPr id="304" name="Original crop 304" descr="生成设计的原图局部；所有插图、边框、图标与箭头均保持原样。"/>
          <p:cNvPicPr>
            <a:picLocks noChangeAspect="1"/>
          </p:cNvPicPr>
          <p:nvPr/>
        </p:nvPicPr>
        <p:blipFill>
          <a:blip r:embed="rId1"/>
          <a:srcRect l="37380" t="19554" r="54785" b="75770"/>
          <a:stretch>
            <a:fillRect/>
          </a:stretch>
        </p:blipFill>
        <p:spPr>
          <a:xfrm>
            <a:off x="4557416" y="1340990"/>
            <a:ext cx="955234" cy="320672"/>
          </a:xfrm>
          <a:prstGeom prst="rect">
            <a:avLst/>
          </a:prstGeom>
        </p:spPr>
      </p:pic>
      <p:pic>
        <p:nvPicPr>
          <p:cNvPr id="305" name="Original crop 305" descr="生成设计的原图局部；所有插图、边框、图标与箭头均保持原样。"/>
          <p:cNvPicPr>
            <a:picLocks noChangeAspect="1"/>
          </p:cNvPicPr>
          <p:nvPr/>
        </p:nvPicPr>
        <p:blipFill>
          <a:blip r:embed="rId1"/>
          <a:srcRect l="66388" t="19554" r="26435" b="75770"/>
          <a:stretch>
            <a:fillRect/>
          </a:stretch>
        </p:blipFill>
        <p:spPr>
          <a:xfrm>
            <a:off x="8093971" y="1340990"/>
            <a:ext cx="875024" cy="320672"/>
          </a:xfrm>
          <a:prstGeom prst="rect">
            <a:avLst/>
          </a:prstGeom>
        </p:spPr>
      </p:pic>
      <p:pic>
        <p:nvPicPr>
          <p:cNvPr id="306" name="Original crop 306" descr="生成设计的原图局部；所有插图、边框、图标与箭头均保持原样。"/>
          <p:cNvPicPr>
            <a:picLocks noChangeAspect="1"/>
          </p:cNvPicPr>
          <p:nvPr/>
        </p:nvPicPr>
        <p:blipFill>
          <a:blip r:embed="rId1"/>
          <a:srcRect l="97667" t="19554" b="75770"/>
          <a:stretch>
            <a:fillRect/>
          </a:stretch>
        </p:blipFill>
        <p:spPr>
          <a:xfrm>
            <a:off x="11907617" y="1340990"/>
            <a:ext cx="284383" cy="320672"/>
          </a:xfrm>
          <a:prstGeom prst="rect">
            <a:avLst/>
          </a:prstGeom>
        </p:spPr>
      </p:pic>
      <p:pic>
        <p:nvPicPr>
          <p:cNvPr id="307" name="Original crop 307" descr="生成设计的原图局部；所有插图、边框、图标与箭头均保持原样。"/>
          <p:cNvPicPr>
            <a:picLocks noChangeAspect="1"/>
          </p:cNvPicPr>
          <p:nvPr/>
        </p:nvPicPr>
        <p:blipFill>
          <a:blip r:embed="rId1"/>
          <a:srcRect t="12009" r="97189" b="84485"/>
          <a:stretch>
            <a:fillRect/>
          </a:stretch>
        </p:blipFill>
        <p:spPr>
          <a:xfrm>
            <a:off x="0" y="823543"/>
            <a:ext cx="342718" cy="240504"/>
          </a:xfrm>
          <a:prstGeom prst="rect">
            <a:avLst/>
          </a:prstGeom>
        </p:spPr>
      </p:pic>
      <p:pic>
        <p:nvPicPr>
          <p:cNvPr id="308" name="Original crop 308" descr="生成设计的原图局部；所有插图、边框、图标与箭头均保持原样。"/>
          <p:cNvPicPr>
            <a:picLocks noChangeAspect="1"/>
          </p:cNvPicPr>
          <p:nvPr/>
        </p:nvPicPr>
        <p:blipFill>
          <a:blip r:embed="rId1"/>
          <a:srcRect l="95096" t="12009" b="84485"/>
          <a:stretch>
            <a:fillRect/>
          </a:stretch>
        </p:blipFill>
        <p:spPr>
          <a:xfrm>
            <a:off x="11594067" y="823543"/>
            <a:ext cx="597933" cy="240504"/>
          </a:xfrm>
          <a:prstGeom prst="rect">
            <a:avLst/>
          </a:prstGeom>
        </p:spPr>
      </p:pic>
      <p:pic>
        <p:nvPicPr>
          <p:cNvPr id="309" name="Original crop 309" descr="生成设计的原图局部；所有插图、边框、图标与箭头均保持原样。"/>
          <p:cNvPicPr>
            <a:picLocks noChangeAspect="1"/>
          </p:cNvPicPr>
          <p:nvPr/>
        </p:nvPicPr>
        <p:blipFill>
          <a:blip r:embed="rId1"/>
          <a:srcRect t="2976" r="97608" b="90861"/>
          <a:stretch>
            <a:fillRect/>
          </a:stretch>
        </p:blipFill>
        <p:spPr>
          <a:xfrm>
            <a:off x="0" y="204064"/>
            <a:ext cx="291675" cy="422704"/>
          </a:xfrm>
          <a:prstGeom prst="rect">
            <a:avLst/>
          </a:prstGeom>
        </p:spPr>
      </p:pic>
      <p:pic>
        <p:nvPicPr>
          <p:cNvPr id="310" name="Original crop 310" descr="生成设计的原图局部；所有插图、边框、图标与箭头均保持原样。"/>
          <p:cNvPicPr>
            <a:picLocks noChangeAspect="1"/>
          </p:cNvPicPr>
          <p:nvPr/>
        </p:nvPicPr>
        <p:blipFill>
          <a:blip r:embed="rId1"/>
          <a:srcRect l="7297" t="2976" r="89234" b="90861"/>
          <a:stretch>
            <a:fillRect/>
          </a:stretch>
        </p:blipFill>
        <p:spPr>
          <a:xfrm>
            <a:off x="889608" y="204064"/>
            <a:ext cx="422928" cy="422704"/>
          </a:xfrm>
          <a:prstGeom prst="rect">
            <a:avLst/>
          </a:prstGeom>
        </p:spPr>
      </p:pic>
      <p:pic>
        <p:nvPicPr>
          <p:cNvPr id="311" name="Original crop 311" descr="生成设计的原图局部；所有插图、边框、图标与箭头均保持原样。"/>
          <p:cNvPicPr>
            <a:picLocks noChangeAspect="1"/>
          </p:cNvPicPr>
          <p:nvPr/>
        </p:nvPicPr>
        <p:blipFill>
          <a:blip r:embed="rId1"/>
          <a:srcRect l="95694" t="2976" b="90861"/>
          <a:stretch>
            <a:fillRect/>
          </a:stretch>
        </p:blipFill>
        <p:spPr>
          <a:xfrm>
            <a:off x="11666986" y="204064"/>
            <a:ext cx="525014" cy="422704"/>
          </a:xfrm>
          <a:prstGeom prst="rect">
            <a:avLst/>
          </a:prstGeom>
        </p:spPr>
      </p:pic>
      <p:pic>
        <p:nvPicPr>
          <p:cNvPr id="312" name="Original crop 312" descr="原图相邻空白背景条裁剪，用于放置可编辑文字。"/>
          <p:cNvPicPr>
            <a:picLocks noChangeAspect="1"/>
          </p:cNvPicPr>
          <p:nvPr/>
        </p:nvPicPr>
        <p:blipFill>
          <a:blip r:embed="rId1"/>
          <a:srcRect l="2990" t="11265" r="94019" b="88204"/>
          <a:stretch>
            <a:fillRect/>
          </a:stretch>
        </p:blipFill>
        <p:spPr>
          <a:xfrm>
            <a:off x="291675" y="204064"/>
            <a:ext cx="597933" cy="422704"/>
          </a:xfrm>
          <a:prstGeom prst="rect">
            <a:avLst/>
          </a:prstGeom>
        </p:spPr>
      </p:pic>
      <p:sp>
        <p:nvSpPr>
          <p:cNvPr id="313" name="Problem mapping 313"/>
          <p:cNvSpPr txBox="1"/>
          <p:nvPr/>
        </p:nvSpPr>
        <p:spPr>
          <a:xfrm>
            <a:off x="291675" y="204064"/>
            <a:ext cx="597933" cy="422704"/>
          </a:xfrm>
          <a:prstGeom prst="rect">
            <a:avLst/>
          </a:prstGeom>
          <a:noFill/>
          <a:ln w="9525">
            <a:noFill/>
          </a:ln>
        </p:spPr>
        <p:txBody>
          <a:bodyPr wrap="square" lIns="0" tIns="0" rIns="0" bIns="0" anchor="ctr">
            <a:noAutofit/>
          </a:bodyPr>
          <a:lstStyle/>
          <a:p>
            <a:pPr algn="l">
              <a:lnSpc>
                <a:spcPct val="112000"/>
              </a:lnSpc>
              <a:buNone/>
            </a:pPr>
            <a:r>
              <a:rPr lang="zh-CN" sz="2800" b="1">
                <a:solidFill>
                  <a:srgbClr val="004A9F"/>
                </a:solidFill>
                <a:latin typeface="微软雅黑" panose="020B0503020204020204" pitchFamily="34" charset="-122"/>
                <a:ea typeface="微软雅黑" panose="020B0503020204020204" pitchFamily="34" charset="-122"/>
              </a:rPr>
              <a:t>03</a:t>
            </a:r>
            <a:endParaRPr lang="zh-CN" sz="2800" b="1">
              <a:solidFill>
                <a:srgbClr val="004A9F"/>
              </a:solidFill>
              <a:latin typeface="微软雅黑" panose="020B0503020204020204" pitchFamily="34" charset="-122"/>
              <a:ea typeface="微软雅黑" panose="020B0503020204020204" pitchFamily="34" charset="-122"/>
            </a:endParaRPr>
          </a:p>
        </p:txBody>
      </p:sp>
      <p:pic>
        <p:nvPicPr>
          <p:cNvPr id="314" name="Original crop 314" descr="原图相邻空白背景条裁剪，用于放置可编辑文字。"/>
          <p:cNvPicPr>
            <a:picLocks noChangeAspect="1"/>
          </p:cNvPicPr>
          <p:nvPr/>
        </p:nvPicPr>
        <p:blipFill>
          <a:blip r:embed="rId1"/>
          <a:srcRect l="2990" t="11265" r="94019" b="88204"/>
          <a:stretch>
            <a:fillRect/>
          </a:stretch>
        </p:blipFill>
        <p:spPr>
          <a:xfrm>
            <a:off x="1312536" y="204064"/>
            <a:ext cx="10354450" cy="422704"/>
          </a:xfrm>
          <a:prstGeom prst="rect">
            <a:avLst/>
          </a:prstGeom>
        </p:spPr>
      </p:pic>
      <p:sp>
        <p:nvSpPr>
          <p:cNvPr id="315" name="Problem mapping 315"/>
          <p:cNvSpPr txBox="1"/>
          <p:nvPr/>
        </p:nvSpPr>
        <p:spPr>
          <a:xfrm>
            <a:off x="1312536" y="204064"/>
            <a:ext cx="10354450" cy="422704"/>
          </a:xfrm>
          <a:prstGeom prst="rect">
            <a:avLst/>
          </a:prstGeom>
          <a:noFill/>
          <a:ln w="9525">
            <a:noFill/>
          </a:ln>
        </p:spPr>
        <p:txBody>
          <a:bodyPr wrap="square" lIns="0" tIns="0" rIns="0" bIns="0" anchor="ctr">
            <a:noAutofit/>
          </a:bodyPr>
          <a:lstStyle/>
          <a:p>
            <a:pPr algn="l">
              <a:lnSpc>
                <a:spcPct val="112000"/>
              </a:lnSpc>
              <a:buNone/>
            </a:pPr>
            <a:r>
              <a:rPr lang="zh-CN" sz="2500" b="1">
                <a:solidFill>
                  <a:srgbClr val="18222D"/>
                </a:solidFill>
                <a:latin typeface="微软雅黑" panose="020B0503020204020204" pitchFamily="34" charset="-122"/>
                <a:ea typeface="微软雅黑" panose="020B0503020204020204" pitchFamily="34" charset="-122"/>
              </a:rPr>
              <a:t>技术路线一：面向融合研究的退化数据构建</a:t>
            </a:r>
            <a:endParaRPr lang="zh-CN" sz="2500" b="1">
              <a:solidFill>
                <a:srgbClr val="18222D"/>
              </a:solidFill>
              <a:latin typeface="微软雅黑" panose="020B0503020204020204" pitchFamily="34" charset="-122"/>
              <a:ea typeface="微软雅黑" panose="020B0503020204020204" pitchFamily="34" charset="-122"/>
            </a:endParaRPr>
          </a:p>
        </p:txBody>
      </p:sp>
      <p:pic>
        <p:nvPicPr>
          <p:cNvPr id="316" name="Original crop 316" descr="原图相邻空白背景条裁剪，用于放置可编辑文字。"/>
          <p:cNvPicPr>
            <a:picLocks noChangeAspect="1"/>
          </p:cNvPicPr>
          <p:nvPr/>
        </p:nvPicPr>
        <p:blipFill>
          <a:blip r:embed="rId1"/>
          <a:srcRect l="2990" t="11265" r="94019" b="88204"/>
          <a:stretch>
            <a:fillRect/>
          </a:stretch>
        </p:blipFill>
        <p:spPr>
          <a:xfrm>
            <a:off x="342718" y="823543"/>
            <a:ext cx="11251349" cy="240504"/>
          </a:xfrm>
          <a:prstGeom prst="rect">
            <a:avLst/>
          </a:prstGeom>
        </p:spPr>
      </p:pic>
      <p:sp>
        <p:nvSpPr>
          <p:cNvPr id="317" name="Problem mapping 317"/>
          <p:cNvSpPr txBox="1"/>
          <p:nvPr/>
        </p:nvSpPr>
        <p:spPr>
          <a:xfrm>
            <a:off x="342718" y="823543"/>
            <a:ext cx="11251349" cy="240504"/>
          </a:xfrm>
          <a:prstGeom prst="rect">
            <a:avLst/>
          </a:prstGeom>
          <a:noFill/>
          <a:ln w="9525">
            <a:noFill/>
          </a:ln>
        </p:spPr>
        <p:txBody>
          <a:bodyPr wrap="square" lIns="0" tIns="0" rIns="0" bIns="0" anchor="ctr">
            <a:noAutofit/>
          </a:bodyPr>
          <a:lstStyle/>
          <a:p>
            <a:pPr algn="l">
              <a:lnSpc>
                <a:spcPct val="112000"/>
              </a:lnSpc>
              <a:buNone/>
            </a:pPr>
            <a:r>
              <a:rPr lang="zh-CN" sz="1400" b="0">
                <a:solidFill>
                  <a:srgbClr val="596B7C"/>
                </a:solidFill>
                <a:latin typeface="微软雅黑" panose="020B0503020204020204" pitchFamily="34" charset="-122"/>
                <a:ea typeface="微软雅黑" panose="020B0503020204020204" pitchFamily="34" charset="-122"/>
              </a:rPr>
              <a:t>由模态质量变化需求确定退化方式，再通过质量反馈调节样本强度</a:t>
            </a:r>
            <a:endParaRPr lang="zh-CN" sz="1400" b="0">
              <a:solidFill>
                <a:srgbClr val="596B7C"/>
              </a:solidFill>
              <a:latin typeface="微软雅黑" panose="020B0503020204020204" pitchFamily="34" charset="-122"/>
              <a:ea typeface="微软雅黑" panose="020B0503020204020204" pitchFamily="34" charset="-122"/>
            </a:endParaRPr>
          </a:p>
        </p:txBody>
      </p:sp>
      <p:pic>
        <p:nvPicPr>
          <p:cNvPr id="318" name="Original crop 318" descr="原图相邻空白背景条裁剪，用于放置可编辑文字。"/>
          <p:cNvPicPr>
            <a:picLocks noChangeAspect="1"/>
          </p:cNvPicPr>
          <p:nvPr/>
        </p:nvPicPr>
        <p:blipFill>
          <a:blip r:embed="rId1"/>
          <a:srcRect l="34689" t="18704" r="62620" b="80765"/>
          <a:stretch>
            <a:fillRect/>
          </a:stretch>
        </p:blipFill>
        <p:spPr>
          <a:xfrm>
            <a:off x="947943" y="1340990"/>
            <a:ext cx="3609474" cy="320672"/>
          </a:xfrm>
          <a:prstGeom prst="rect">
            <a:avLst/>
          </a:prstGeom>
        </p:spPr>
      </p:pic>
      <p:sp>
        <p:nvSpPr>
          <p:cNvPr id="319" name="Problem mapping 319"/>
          <p:cNvSpPr txBox="1"/>
          <p:nvPr/>
        </p:nvSpPr>
        <p:spPr>
          <a:xfrm>
            <a:off x="947943" y="1340990"/>
            <a:ext cx="3609474" cy="320672"/>
          </a:xfrm>
          <a:prstGeom prst="rect">
            <a:avLst/>
          </a:prstGeom>
          <a:noFill/>
          <a:ln w="9525">
            <a:noFill/>
          </a:ln>
        </p:spPr>
        <p:txBody>
          <a:bodyPr wrap="square" lIns="0" tIns="0" rIns="0" bIns="0" anchor="ctr">
            <a:noAutofit/>
          </a:bodyPr>
          <a:lstStyle/>
          <a:p>
            <a:pPr algn="l">
              <a:lnSpc>
                <a:spcPct val="112000"/>
              </a:lnSpc>
              <a:buNone/>
            </a:pPr>
            <a:r>
              <a:rPr lang="zh-CN" sz="2000" b="1">
                <a:solidFill>
                  <a:srgbClr val="004A9F"/>
                </a:solidFill>
                <a:latin typeface="微软雅黑" panose="020B0503020204020204" pitchFamily="34" charset="-122"/>
                <a:ea typeface="微软雅黑" panose="020B0503020204020204" pitchFamily="34" charset="-122"/>
              </a:rPr>
              <a:t>图像侧：语义退化</a:t>
            </a:r>
            <a:endParaRPr lang="zh-CN" sz="2000" b="1">
              <a:solidFill>
                <a:srgbClr val="004A9F"/>
              </a:solidFill>
              <a:latin typeface="微软雅黑" panose="020B0503020204020204" pitchFamily="34" charset="-122"/>
              <a:ea typeface="微软雅黑" panose="020B0503020204020204" pitchFamily="34" charset="-122"/>
            </a:endParaRPr>
          </a:p>
        </p:txBody>
      </p:sp>
      <p:pic>
        <p:nvPicPr>
          <p:cNvPr id="320" name="Original crop 320" descr="原图相邻空白背景条裁剪，用于放置可编辑文字。"/>
          <p:cNvPicPr>
            <a:picLocks noChangeAspect="1"/>
          </p:cNvPicPr>
          <p:nvPr/>
        </p:nvPicPr>
        <p:blipFill>
          <a:blip r:embed="rId1"/>
          <a:srcRect l="64593" t="18704" r="33313" b="80765"/>
          <a:stretch>
            <a:fillRect/>
          </a:stretch>
        </p:blipFill>
        <p:spPr>
          <a:xfrm>
            <a:off x="5512651" y="1340990"/>
            <a:ext cx="2581321" cy="320672"/>
          </a:xfrm>
          <a:prstGeom prst="rect">
            <a:avLst/>
          </a:prstGeom>
        </p:spPr>
      </p:pic>
      <p:sp>
        <p:nvSpPr>
          <p:cNvPr id="321" name="Problem mapping 321"/>
          <p:cNvSpPr txBox="1"/>
          <p:nvPr/>
        </p:nvSpPr>
        <p:spPr>
          <a:xfrm>
            <a:off x="5512651" y="1340990"/>
            <a:ext cx="2581321" cy="320672"/>
          </a:xfrm>
          <a:prstGeom prst="rect">
            <a:avLst/>
          </a:prstGeom>
          <a:noFill/>
          <a:ln w="9525">
            <a:noFill/>
          </a:ln>
        </p:spPr>
        <p:txBody>
          <a:bodyPr wrap="square" lIns="0" tIns="0" rIns="0" bIns="0" anchor="ctr">
            <a:noAutofit/>
          </a:bodyPr>
          <a:lstStyle/>
          <a:p>
            <a:pPr algn="l">
              <a:lnSpc>
                <a:spcPct val="112000"/>
              </a:lnSpc>
              <a:buNone/>
            </a:pPr>
            <a:r>
              <a:rPr lang="zh-CN" sz="2000" b="1">
                <a:solidFill>
                  <a:srgbClr val="008C89"/>
                </a:solidFill>
                <a:latin typeface="微软雅黑" panose="020B0503020204020204" pitchFamily="34" charset="-122"/>
                <a:ea typeface="微软雅黑" panose="020B0503020204020204" pitchFamily="34" charset="-122"/>
              </a:rPr>
              <a:t>点云侧：几何退化</a:t>
            </a:r>
            <a:endParaRPr lang="zh-CN" sz="2000" b="1">
              <a:solidFill>
                <a:srgbClr val="008C89"/>
              </a:solidFill>
              <a:latin typeface="微软雅黑" panose="020B0503020204020204" pitchFamily="34" charset="-122"/>
              <a:ea typeface="微软雅黑" panose="020B0503020204020204" pitchFamily="34" charset="-122"/>
            </a:endParaRPr>
          </a:p>
        </p:txBody>
      </p:sp>
      <p:pic>
        <p:nvPicPr>
          <p:cNvPr id="322" name="Original crop 322" descr="原图相邻空白背景条裁剪，用于放置可编辑文字。"/>
          <p:cNvPicPr>
            <a:picLocks noChangeAspect="1"/>
          </p:cNvPicPr>
          <p:nvPr/>
        </p:nvPicPr>
        <p:blipFill>
          <a:blip r:embed="rId1"/>
          <a:srcRect l="94498" t="18704" r="3110" b="80765"/>
          <a:stretch>
            <a:fillRect/>
          </a:stretch>
        </p:blipFill>
        <p:spPr>
          <a:xfrm>
            <a:off x="8968995" y="1340990"/>
            <a:ext cx="2938622" cy="320672"/>
          </a:xfrm>
          <a:prstGeom prst="rect">
            <a:avLst/>
          </a:prstGeom>
        </p:spPr>
      </p:pic>
      <p:sp>
        <p:nvSpPr>
          <p:cNvPr id="323" name="Problem mapping 323"/>
          <p:cNvSpPr txBox="1"/>
          <p:nvPr/>
        </p:nvSpPr>
        <p:spPr>
          <a:xfrm>
            <a:off x="8968995" y="1340990"/>
            <a:ext cx="2938622" cy="320672"/>
          </a:xfrm>
          <a:prstGeom prst="rect">
            <a:avLst/>
          </a:prstGeom>
          <a:noFill/>
          <a:ln w="9525">
            <a:noFill/>
          </a:ln>
        </p:spPr>
        <p:txBody>
          <a:bodyPr wrap="square" lIns="0" tIns="0" rIns="0" bIns="0" anchor="ctr">
            <a:noAutofit/>
          </a:bodyPr>
          <a:lstStyle/>
          <a:p>
            <a:pPr algn="l">
              <a:lnSpc>
                <a:spcPct val="112000"/>
              </a:lnSpc>
              <a:buNone/>
            </a:pPr>
            <a:r>
              <a:rPr lang="zh-CN" sz="1800" b="1">
                <a:solidFill>
                  <a:srgbClr val="D77B13"/>
                </a:solidFill>
                <a:latin typeface="微软雅黑" panose="020B0503020204020204" pitchFamily="34" charset="-122"/>
                <a:ea typeface="微软雅黑" panose="020B0503020204020204" pitchFamily="34" charset="-122"/>
              </a:rPr>
              <a:t>质量反馈调节</a:t>
            </a:r>
            <a:endParaRPr lang="zh-CN" sz="1800" b="1">
              <a:solidFill>
                <a:srgbClr val="D77B13"/>
              </a:solidFill>
              <a:latin typeface="微软雅黑" panose="020B0503020204020204" pitchFamily="34" charset="-122"/>
              <a:ea typeface="微软雅黑" panose="020B0503020204020204" pitchFamily="34" charset="-122"/>
            </a:endParaRPr>
          </a:p>
        </p:txBody>
      </p:sp>
      <p:pic>
        <p:nvPicPr>
          <p:cNvPr id="324" name="Original crop 324" descr="原图相邻空白背景条裁剪，用于放置可编辑文字。"/>
          <p:cNvPicPr>
            <a:picLocks noChangeAspect="1"/>
          </p:cNvPicPr>
          <p:nvPr/>
        </p:nvPicPr>
        <p:blipFill>
          <a:blip r:embed="rId1"/>
          <a:srcRect l="3888" t="48140" r="83074" b="51435"/>
          <a:stretch>
            <a:fillRect/>
          </a:stretch>
        </p:blipFill>
        <p:spPr>
          <a:xfrm>
            <a:off x="473971" y="3345188"/>
            <a:ext cx="1589627" cy="400840"/>
          </a:xfrm>
          <a:prstGeom prst="rect">
            <a:avLst/>
          </a:prstGeom>
        </p:spPr>
      </p:pic>
      <p:sp>
        <p:nvSpPr>
          <p:cNvPr id="325" name="Problem mapping 325"/>
          <p:cNvSpPr txBox="1"/>
          <p:nvPr/>
        </p:nvSpPr>
        <p:spPr>
          <a:xfrm>
            <a:off x="473971" y="3345188"/>
            <a:ext cx="1589627" cy="400840"/>
          </a:xfrm>
          <a:prstGeom prst="rect">
            <a:avLst/>
          </a:prstGeom>
          <a:noFill/>
          <a:ln w="9525">
            <a:noFill/>
          </a:ln>
        </p:spPr>
        <p:txBody>
          <a:bodyPr wrap="square" lIns="0" tIns="0" rIns="0" bIns="0" anchor="ctr">
            <a:noAutofit/>
          </a:bodyPr>
          <a:lstStyle/>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光照不足，信号与噪声</a:t>
            </a:r>
            <a:endParaRPr lang="zh-CN" sz="120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关系改变</a:t>
            </a:r>
            <a:endParaRPr lang="zh-CN" sz="1200" b="0">
              <a:solidFill>
                <a:srgbClr val="596B7C"/>
              </a:solidFill>
              <a:latin typeface="微软雅黑" panose="020B0503020204020204" pitchFamily="34" charset="-122"/>
              <a:ea typeface="微软雅黑" panose="020B0503020204020204" pitchFamily="34" charset="-122"/>
            </a:endParaRPr>
          </a:p>
        </p:txBody>
      </p:sp>
      <p:pic>
        <p:nvPicPr>
          <p:cNvPr id="326" name="Original crop 326" descr="原图相邻空白背景条裁剪，用于放置可编辑文字。"/>
          <p:cNvPicPr>
            <a:picLocks noChangeAspect="1"/>
          </p:cNvPicPr>
          <p:nvPr/>
        </p:nvPicPr>
        <p:blipFill>
          <a:blip r:embed="rId1"/>
          <a:srcRect l="20694" t="48884" r="62261" b="50691"/>
          <a:stretch>
            <a:fillRect/>
          </a:stretch>
        </p:blipFill>
        <p:spPr>
          <a:xfrm>
            <a:off x="2522986" y="3396204"/>
            <a:ext cx="2078182" cy="291520"/>
          </a:xfrm>
          <a:prstGeom prst="rect">
            <a:avLst/>
          </a:prstGeom>
        </p:spPr>
      </p:pic>
      <p:sp>
        <p:nvSpPr>
          <p:cNvPr id="327" name="Problem mapping 327"/>
          <p:cNvSpPr txBox="1"/>
          <p:nvPr/>
        </p:nvSpPr>
        <p:spPr>
          <a:xfrm>
            <a:off x="2522986" y="3396204"/>
            <a:ext cx="2078182" cy="291520"/>
          </a:xfrm>
          <a:prstGeom prst="rect">
            <a:avLst/>
          </a:prstGeom>
          <a:noFill/>
          <a:ln w="9525">
            <a:noFill/>
          </a:ln>
        </p:spPr>
        <p:txBody>
          <a:bodyPr wrap="square" lIns="0" tIns="0" rIns="0" bIns="0" anchor="ctr">
            <a:noAutofit/>
          </a:bodyPr>
          <a:lstStyle/>
          <a:p>
            <a:pPr algn="l">
              <a:lnSpc>
                <a:spcPct val="112000"/>
              </a:lnSpc>
              <a:buNone/>
            </a:pPr>
            <a:r>
              <a:rPr lang="zh-CN" sz="1200" b="1">
                <a:solidFill>
                  <a:srgbClr val="004A9F"/>
                </a:solidFill>
                <a:latin typeface="微软雅黑" panose="020B0503020204020204" pitchFamily="34" charset="-122"/>
                <a:ea typeface="微软雅黑" panose="020B0503020204020204" pitchFamily="34" charset="-122"/>
              </a:rPr>
              <a:t>弱光：亮度衰减 + 混合噪声</a:t>
            </a:r>
            <a:endParaRPr lang="zh-CN" sz="1200" b="1">
              <a:solidFill>
                <a:srgbClr val="004A9F"/>
              </a:solidFill>
              <a:latin typeface="微软雅黑" panose="020B0503020204020204" pitchFamily="34" charset="-122"/>
              <a:ea typeface="微软雅黑" panose="020B0503020204020204" pitchFamily="34" charset="-122"/>
            </a:endParaRPr>
          </a:p>
        </p:txBody>
      </p:sp>
      <p:pic>
        <p:nvPicPr>
          <p:cNvPr id="328" name="Original crop 328" descr="原图相邻空白背景条裁剪，用于放置可编辑文字。"/>
          <p:cNvPicPr>
            <a:picLocks noChangeAspect="1"/>
          </p:cNvPicPr>
          <p:nvPr/>
        </p:nvPicPr>
        <p:blipFill>
          <a:blip r:embed="rId1"/>
          <a:srcRect l="3888" t="58023" r="83134" b="41552"/>
          <a:stretch>
            <a:fillRect/>
          </a:stretch>
        </p:blipFill>
        <p:spPr>
          <a:xfrm>
            <a:off x="473971" y="4022971"/>
            <a:ext cx="1582335" cy="400840"/>
          </a:xfrm>
          <a:prstGeom prst="rect">
            <a:avLst/>
          </a:prstGeom>
        </p:spPr>
      </p:pic>
      <p:sp>
        <p:nvSpPr>
          <p:cNvPr id="329" name="Problem mapping 329"/>
          <p:cNvSpPr txBox="1"/>
          <p:nvPr/>
        </p:nvSpPr>
        <p:spPr>
          <a:xfrm>
            <a:off x="473971" y="4022971"/>
            <a:ext cx="1582335" cy="400840"/>
          </a:xfrm>
          <a:prstGeom prst="rect">
            <a:avLst/>
          </a:prstGeom>
          <a:noFill/>
          <a:ln w="9525">
            <a:noFill/>
          </a:ln>
        </p:spPr>
        <p:txBody>
          <a:bodyPr wrap="square" lIns="0" tIns="0" rIns="0" bIns="0" anchor="ctr">
            <a:noAutofit/>
          </a:bodyPr>
          <a:lstStyle/>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距离不同，能见度</a:t>
            </a:r>
            <a:endParaRPr lang="zh-CN" sz="120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衰减不同</a:t>
            </a:r>
            <a:endParaRPr lang="zh-CN" sz="1200" b="0">
              <a:solidFill>
                <a:srgbClr val="596B7C"/>
              </a:solidFill>
              <a:latin typeface="微软雅黑" panose="020B0503020204020204" pitchFamily="34" charset="-122"/>
              <a:ea typeface="微软雅黑" panose="020B0503020204020204" pitchFamily="34" charset="-122"/>
            </a:endParaRPr>
          </a:p>
        </p:txBody>
      </p:sp>
      <p:pic>
        <p:nvPicPr>
          <p:cNvPr id="330" name="Original crop 330" descr="原图相邻空白背景条裁剪，用于放置可编辑文字。"/>
          <p:cNvPicPr>
            <a:picLocks noChangeAspect="1"/>
          </p:cNvPicPr>
          <p:nvPr/>
        </p:nvPicPr>
        <p:blipFill>
          <a:blip r:embed="rId1"/>
          <a:srcRect l="20694" t="58767" r="62261" b="40808"/>
          <a:stretch>
            <a:fillRect/>
          </a:stretch>
        </p:blipFill>
        <p:spPr>
          <a:xfrm>
            <a:off x="2522986" y="4073987"/>
            <a:ext cx="2078182" cy="306096"/>
          </a:xfrm>
          <a:prstGeom prst="rect">
            <a:avLst/>
          </a:prstGeom>
        </p:spPr>
      </p:pic>
      <p:sp>
        <p:nvSpPr>
          <p:cNvPr id="331" name="Problem mapping 331"/>
          <p:cNvSpPr txBox="1"/>
          <p:nvPr/>
        </p:nvSpPr>
        <p:spPr>
          <a:xfrm>
            <a:off x="2522986" y="4073987"/>
            <a:ext cx="2078182" cy="306096"/>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4A9F"/>
                </a:solidFill>
                <a:latin typeface="微软雅黑" panose="020B0503020204020204" pitchFamily="34" charset="-122"/>
                <a:ea typeface="微软雅黑" panose="020B0503020204020204" pitchFamily="34" charset="-122"/>
              </a:rPr>
              <a:t>雾化：深度相关散射</a:t>
            </a:r>
            <a:endParaRPr lang="zh-CN" sz="1300" b="1">
              <a:solidFill>
                <a:srgbClr val="004A9F"/>
              </a:solidFill>
              <a:latin typeface="微软雅黑" panose="020B0503020204020204" pitchFamily="34" charset="-122"/>
              <a:ea typeface="微软雅黑" panose="020B0503020204020204" pitchFamily="34" charset="-122"/>
            </a:endParaRPr>
          </a:p>
        </p:txBody>
      </p:sp>
      <p:pic>
        <p:nvPicPr>
          <p:cNvPr id="332" name="Original crop 332" descr="原图相邻空白背景条裁剪，用于放置可编辑文字。"/>
          <p:cNvPicPr>
            <a:picLocks noChangeAspect="1"/>
          </p:cNvPicPr>
          <p:nvPr/>
        </p:nvPicPr>
        <p:blipFill>
          <a:blip r:embed="rId1"/>
          <a:srcRect l="3888" t="67906" r="83074" b="31668"/>
          <a:stretch>
            <a:fillRect/>
          </a:stretch>
        </p:blipFill>
        <p:spPr>
          <a:xfrm>
            <a:off x="473971" y="4700755"/>
            <a:ext cx="1589627" cy="393552"/>
          </a:xfrm>
          <a:prstGeom prst="rect">
            <a:avLst/>
          </a:prstGeom>
        </p:spPr>
      </p:pic>
      <p:sp>
        <p:nvSpPr>
          <p:cNvPr id="333" name="Problem mapping 333"/>
          <p:cNvSpPr txBox="1"/>
          <p:nvPr/>
        </p:nvSpPr>
        <p:spPr>
          <a:xfrm>
            <a:off x="473971" y="4700755"/>
            <a:ext cx="1589627" cy="393552"/>
          </a:xfrm>
          <a:prstGeom prst="rect">
            <a:avLst/>
          </a:prstGeom>
          <a:noFill/>
          <a:ln w="9525">
            <a:noFill/>
          </a:ln>
        </p:spPr>
        <p:txBody>
          <a:bodyPr wrap="square" lIns="0" tIns="0" rIns="0" bIns="0" anchor="ctr">
            <a:noAutofit/>
          </a:bodyPr>
          <a:lstStyle/>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曝光运动产生不同</a:t>
            </a:r>
            <a:endParaRPr lang="zh-CN" sz="120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程度拖影</a:t>
            </a:r>
            <a:endParaRPr lang="zh-CN" sz="1200" b="0">
              <a:solidFill>
                <a:srgbClr val="596B7C"/>
              </a:solidFill>
              <a:latin typeface="微软雅黑" panose="020B0503020204020204" pitchFamily="34" charset="-122"/>
              <a:ea typeface="微软雅黑" panose="020B0503020204020204" pitchFamily="34" charset="-122"/>
            </a:endParaRPr>
          </a:p>
        </p:txBody>
      </p:sp>
      <p:pic>
        <p:nvPicPr>
          <p:cNvPr id="334" name="Original crop 334" descr="原图相邻空白背景条裁剪，用于放置可编辑文字。"/>
          <p:cNvPicPr>
            <a:picLocks noChangeAspect="1"/>
          </p:cNvPicPr>
          <p:nvPr/>
        </p:nvPicPr>
        <p:blipFill>
          <a:blip r:embed="rId1"/>
          <a:srcRect l="20694" t="68438" r="62261" b="31137"/>
          <a:stretch>
            <a:fillRect/>
          </a:stretch>
        </p:blipFill>
        <p:spPr>
          <a:xfrm>
            <a:off x="2522986" y="4737194"/>
            <a:ext cx="2078182" cy="335248"/>
          </a:xfrm>
          <a:prstGeom prst="rect">
            <a:avLst/>
          </a:prstGeom>
        </p:spPr>
      </p:pic>
      <p:sp>
        <p:nvSpPr>
          <p:cNvPr id="335" name="Problem mapping 335"/>
          <p:cNvSpPr txBox="1"/>
          <p:nvPr/>
        </p:nvSpPr>
        <p:spPr>
          <a:xfrm>
            <a:off x="2522986" y="4737194"/>
            <a:ext cx="2078182" cy="335248"/>
          </a:xfrm>
          <a:prstGeom prst="rect">
            <a:avLst/>
          </a:prstGeom>
          <a:noFill/>
          <a:ln w="9525">
            <a:noFill/>
          </a:ln>
        </p:spPr>
        <p:txBody>
          <a:bodyPr wrap="square" lIns="0" tIns="0" rIns="0" bIns="0" anchor="ctr">
            <a:noAutofit/>
          </a:bodyPr>
          <a:lstStyle/>
          <a:p>
            <a:pPr algn="l">
              <a:lnSpc>
                <a:spcPct val="112000"/>
              </a:lnSpc>
              <a:buNone/>
            </a:pPr>
            <a:r>
              <a:rPr lang="zh-CN" sz="1150" b="1">
                <a:solidFill>
                  <a:srgbClr val="004A9F"/>
                </a:solidFill>
                <a:latin typeface="微软雅黑" panose="020B0503020204020204" pitchFamily="34" charset="-122"/>
                <a:ea typeface="微软雅黑" panose="020B0503020204020204" pitchFamily="34" charset="-122"/>
              </a:rPr>
              <a:t>运动模糊：深度与运动联合模拟</a:t>
            </a:r>
            <a:endParaRPr lang="zh-CN" sz="1150" b="1">
              <a:solidFill>
                <a:srgbClr val="004A9F"/>
              </a:solidFill>
              <a:latin typeface="微软雅黑" panose="020B0503020204020204" pitchFamily="34" charset="-122"/>
              <a:ea typeface="微软雅黑" panose="020B0503020204020204" pitchFamily="34" charset="-122"/>
            </a:endParaRPr>
          </a:p>
        </p:txBody>
      </p:sp>
      <p:pic>
        <p:nvPicPr>
          <p:cNvPr id="336" name="Original crop 336" descr="原图相邻空白背景条裁剪，用于放置可编辑文字。"/>
          <p:cNvPicPr>
            <a:picLocks noChangeAspect="1"/>
          </p:cNvPicPr>
          <p:nvPr/>
        </p:nvPicPr>
        <p:blipFill>
          <a:blip r:embed="rId1"/>
          <a:srcRect l="3888" t="78321" r="83074" b="21254"/>
          <a:stretch>
            <a:fillRect/>
          </a:stretch>
        </p:blipFill>
        <p:spPr>
          <a:xfrm>
            <a:off x="473971" y="5414978"/>
            <a:ext cx="1589627" cy="291520"/>
          </a:xfrm>
          <a:prstGeom prst="rect">
            <a:avLst/>
          </a:prstGeom>
        </p:spPr>
      </p:pic>
      <p:sp>
        <p:nvSpPr>
          <p:cNvPr id="337" name="Problem mapping 337"/>
          <p:cNvSpPr txBox="1"/>
          <p:nvPr/>
        </p:nvSpPr>
        <p:spPr>
          <a:xfrm>
            <a:off x="473971" y="5414978"/>
            <a:ext cx="1589627" cy="291520"/>
          </a:xfrm>
          <a:prstGeom prst="rect">
            <a:avLst/>
          </a:prstGeom>
          <a:noFill/>
          <a:ln w="9525">
            <a:noFill/>
          </a:ln>
        </p:spPr>
        <p:txBody>
          <a:bodyPr wrap="square" lIns="0" tIns="0" rIns="0" bIns="0" anchor="ctr">
            <a:noAutofit/>
          </a:bodyPr>
          <a:lstStyle/>
          <a:p>
            <a:pPr algn="l">
              <a:lnSpc>
                <a:spcPct val="112000"/>
              </a:lnSpc>
              <a:buNone/>
            </a:pPr>
            <a:r>
              <a:rPr lang="zh-CN" sz="1150" b="0">
                <a:solidFill>
                  <a:srgbClr val="596B7C"/>
                </a:solidFill>
                <a:latin typeface="微软雅黑" panose="020B0503020204020204" pitchFamily="34" charset="-122"/>
                <a:ea typeface="微软雅黑" panose="020B0503020204020204" pitchFamily="34" charset="-122"/>
              </a:rPr>
              <a:t>成像噪声受</a:t>
            </a:r>
            <a:endParaRPr lang="zh-CN" sz="115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150" b="0">
                <a:solidFill>
                  <a:srgbClr val="596B7C"/>
                </a:solidFill>
                <a:latin typeface="微软雅黑" panose="020B0503020204020204" pitchFamily="34" charset="-122"/>
                <a:ea typeface="微软雅黑" panose="020B0503020204020204" pitchFamily="34" charset="-122"/>
              </a:rPr>
              <a:t>信号强度影响</a:t>
            </a:r>
            <a:endParaRPr lang="zh-CN" sz="1150" b="0">
              <a:solidFill>
                <a:srgbClr val="596B7C"/>
              </a:solidFill>
              <a:latin typeface="微软雅黑" panose="020B0503020204020204" pitchFamily="34" charset="-122"/>
              <a:ea typeface="微软雅黑" panose="020B0503020204020204" pitchFamily="34" charset="-122"/>
            </a:endParaRPr>
          </a:p>
        </p:txBody>
      </p:sp>
      <p:pic>
        <p:nvPicPr>
          <p:cNvPr id="338" name="Original crop 338" descr="原图相邻空白背景条裁剪，用于放置可编辑文字。"/>
          <p:cNvPicPr>
            <a:picLocks noChangeAspect="1"/>
          </p:cNvPicPr>
          <p:nvPr/>
        </p:nvPicPr>
        <p:blipFill>
          <a:blip r:embed="rId1"/>
          <a:srcRect l="20694" t="78427" r="62261" b="21148"/>
          <a:stretch>
            <a:fillRect/>
          </a:stretch>
        </p:blipFill>
        <p:spPr>
          <a:xfrm>
            <a:off x="2522986" y="5422266"/>
            <a:ext cx="2078182" cy="291520"/>
          </a:xfrm>
          <a:prstGeom prst="rect">
            <a:avLst/>
          </a:prstGeom>
        </p:spPr>
      </p:pic>
      <p:sp>
        <p:nvSpPr>
          <p:cNvPr id="339" name="Problem mapping 339"/>
          <p:cNvSpPr txBox="1"/>
          <p:nvPr/>
        </p:nvSpPr>
        <p:spPr>
          <a:xfrm>
            <a:off x="2522986" y="5422266"/>
            <a:ext cx="2078182" cy="291520"/>
          </a:xfrm>
          <a:prstGeom prst="rect">
            <a:avLst/>
          </a:prstGeom>
          <a:noFill/>
          <a:ln w="9525">
            <a:noFill/>
          </a:ln>
        </p:spPr>
        <p:txBody>
          <a:bodyPr wrap="square" lIns="0" tIns="0" rIns="0" bIns="0" anchor="ctr">
            <a:noAutofit/>
          </a:bodyPr>
          <a:lstStyle/>
          <a:p>
            <a:pPr algn="l">
              <a:lnSpc>
                <a:spcPct val="112000"/>
              </a:lnSpc>
              <a:buNone/>
            </a:pPr>
            <a:r>
              <a:rPr lang="zh-CN" sz="1200" b="1">
                <a:solidFill>
                  <a:srgbClr val="004A9F"/>
                </a:solidFill>
                <a:latin typeface="微软雅黑" panose="020B0503020204020204" pitchFamily="34" charset="-122"/>
                <a:ea typeface="微软雅黑" panose="020B0503020204020204" pitchFamily="34" charset="-122"/>
              </a:rPr>
              <a:t>图像噪声：泊松—高斯模型</a:t>
            </a:r>
            <a:endParaRPr lang="zh-CN" sz="1200" b="1">
              <a:solidFill>
                <a:srgbClr val="004A9F"/>
              </a:solidFill>
              <a:latin typeface="微软雅黑" panose="020B0503020204020204" pitchFamily="34" charset="-122"/>
              <a:ea typeface="微软雅黑" panose="020B0503020204020204" pitchFamily="34" charset="-122"/>
            </a:endParaRPr>
          </a:p>
        </p:txBody>
      </p:sp>
      <p:pic>
        <p:nvPicPr>
          <p:cNvPr id="340" name="Original crop 340" descr="原图相邻空白背景条裁剪，用于放置可编辑文字。"/>
          <p:cNvPicPr>
            <a:picLocks noChangeAspect="1"/>
          </p:cNvPicPr>
          <p:nvPr/>
        </p:nvPicPr>
        <p:blipFill>
          <a:blip r:embed="rId1"/>
          <a:srcRect l="41567" t="48140" r="49342" b="51435"/>
          <a:stretch>
            <a:fillRect/>
          </a:stretch>
        </p:blipFill>
        <p:spPr>
          <a:xfrm>
            <a:off x="5067847" y="3345188"/>
            <a:ext cx="1108364" cy="408128"/>
          </a:xfrm>
          <a:prstGeom prst="rect">
            <a:avLst/>
          </a:prstGeom>
        </p:spPr>
      </p:pic>
      <p:sp>
        <p:nvSpPr>
          <p:cNvPr id="341" name="Problem mapping 341"/>
          <p:cNvSpPr txBox="1"/>
          <p:nvPr/>
        </p:nvSpPr>
        <p:spPr>
          <a:xfrm>
            <a:off x="5067847" y="3345188"/>
            <a:ext cx="1108364" cy="408128"/>
          </a:xfrm>
          <a:prstGeom prst="rect">
            <a:avLst/>
          </a:prstGeom>
          <a:noFill/>
          <a:ln w="9525">
            <a:noFill/>
          </a:ln>
        </p:spPr>
        <p:txBody>
          <a:bodyPr wrap="square" lIns="0" tIns="0" rIns="0" bIns="0" anchor="ctr">
            <a:noAutofit/>
          </a:bodyPr>
          <a:lstStyle/>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扫描结构缺失，</a:t>
            </a:r>
            <a:endParaRPr lang="zh-CN" sz="120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目标采样不完整</a:t>
            </a:r>
            <a:endParaRPr lang="zh-CN" sz="1200" b="0">
              <a:solidFill>
                <a:srgbClr val="596B7C"/>
              </a:solidFill>
              <a:latin typeface="微软雅黑" panose="020B0503020204020204" pitchFamily="34" charset="-122"/>
              <a:ea typeface="微软雅黑" panose="020B0503020204020204" pitchFamily="34" charset="-122"/>
            </a:endParaRPr>
          </a:p>
        </p:txBody>
      </p:sp>
      <p:pic>
        <p:nvPicPr>
          <p:cNvPr id="342" name="Original crop 342" descr="原图相邻空白背景条裁剪，用于放置可编辑文字。"/>
          <p:cNvPicPr>
            <a:picLocks noChangeAspect="1"/>
          </p:cNvPicPr>
          <p:nvPr/>
        </p:nvPicPr>
        <p:blipFill>
          <a:blip r:embed="rId1"/>
          <a:srcRect l="55323" t="48034" r="33313" b="51541"/>
          <a:stretch>
            <a:fillRect/>
          </a:stretch>
        </p:blipFill>
        <p:spPr>
          <a:xfrm>
            <a:off x="6744976" y="3337900"/>
            <a:ext cx="1385455" cy="451855"/>
          </a:xfrm>
          <a:prstGeom prst="rect">
            <a:avLst/>
          </a:prstGeom>
        </p:spPr>
      </p:pic>
      <p:sp>
        <p:nvSpPr>
          <p:cNvPr id="343" name="Problem mapping 343"/>
          <p:cNvSpPr txBox="1"/>
          <p:nvPr/>
        </p:nvSpPr>
        <p:spPr>
          <a:xfrm>
            <a:off x="6744976" y="3337900"/>
            <a:ext cx="1385455" cy="451855"/>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8C89"/>
                </a:solidFill>
                <a:latin typeface="微软雅黑" panose="020B0503020204020204" pitchFamily="34" charset="-122"/>
                <a:ea typeface="微软雅黑" panose="020B0503020204020204" pitchFamily="34" charset="-122"/>
              </a:rPr>
              <a:t>点云稀疏：</a:t>
            </a:r>
            <a:endParaRPr lang="zh-CN" sz="1300" b="1">
              <a:solidFill>
                <a:srgbClr val="008C89"/>
              </a:solidFill>
              <a:latin typeface="微软雅黑" panose="020B0503020204020204" pitchFamily="34" charset="-122"/>
              <a:ea typeface="微软雅黑" panose="020B0503020204020204" pitchFamily="34" charset="-122"/>
            </a:endParaRPr>
          </a:p>
          <a:p>
            <a:pPr algn="l">
              <a:lnSpc>
                <a:spcPct val="112000"/>
              </a:lnSpc>
              <a:buNone/>
            </a:pPr>
            <a:r>
              <a:rPr lang="zh-CN" sz="1300" b="1">
                <a:solidFill>
                  <a:srgbClr val="008C89"/>
                </a:solidFill>
                <a:latin typeface="微软雅黑" panose="020B0503020204020204" pitchFamily="34" charset="-122"/>
                <a:ea typeface="微软雅黑" panose="020B0503020204020204" pitchFamily="34" charset="-122"/>
              </a:rPr>
              <a:t>扫描线级删减</a:t>
            </a:r>
            <a:endParaRPr lang="zh-CN" sz="1300" b="1">
              <a:solidFill>
                <a:srgbClr val="008C89"/>
              </a:solidFill>
              <a:latin typeface="微软雅黑" panose="020B0503020204020204" pitchFamily="34" charset="-122"/>
              <a:ea typeface="微软雅黑" panose="020B0503020204020204" pitchFamily="34" charset="-122"/>
            </a:endParaRPr>
          </a:p>
        </p:txBody>
      </p:sp>
      <p:pic>
        <p:nvPicPr>
          <p:cNvPr id="344" name="Original crop 344" descr="原图相邻空白背景条裁剪，用于放置可编辑文字。"/>
          <p:cNvPicPr>
            <a:picLocks noChangeAspect="1"/>
          </p:cNvPicPr>
          <p:nvPr/>
        </p:nvPicPr>
        <p:blipFill>
          <a:blip r:embed="rId1"/>
          <a:srcRect l="41567" t="58555" r="49342" b="41020"/>
          <a:stretch>
            <a:fillRect/>
          </a:stretch>
        </p:blipFill>
        <p:spPr>
          <a:xfrm>
            <a:off x="5067847" y="4059411"/>
            <a:ext cx="1108364" cy="400840"/>
          </a:xfrm>
          <a:prstGeom prst="rect">
            <a:avLst/>
          </a:prstGeom>
        </p:spPr>
      </p:pic>
      <p:sp>
        <p:nvSpPr>
          <p:cNvPr id="345" name="Problem mapping 345"/>
          <p:cNvSpPr txBox="1"/>
          <p:nvPr/>
        </p:nvSpPr>
        <p:spPr>
          <a:xfrm>
            <a:off x="5067847" y="4059411"/>
            <a:ext cx="1108364" cy="400840"/>
          </a:xfrm>
          <a:prstGeom prst="rect">
            <a:avLst/>
          </a:prstGeom>
          <a:noFill/>
          <a:ln w="9525">
            <a:noFill/>
          </a:ln>
        </p:spPr>
        <p:txBody>
          <a:bodyPr wrap="square" lIns="0" tIns="0" rIns="0" bIns="0" anchor="ctr">
            <a:noAutofit/>
          </a:bodyPr>
          <a:lstStyle/>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测量位置波动，</a:t>
            </a:r>
            <a:endParaRPr lang="zh-CN" sz="1200" b="0">
              <a:solidFill>
                <a:srgbClr val="596B7C"/>
              </a:solidFill>
              <a:latin typeface="微软雅黑" panose="020B0503020204020204" pitchFamily="34" charset="-122"/>
              <a:ea typeface="微软雅黑" panose="020B0503020204020204" pitchFamily="34" charset="-122"/>
            </a:endParaRPr>
          </a:p>
          <a:p>
            <a:pPr algn="l">
              <a:lnSpc>
                <a:spcPct val="112000"/>
              </a:lnSpc>
              <a:buNone/>
            </a:pPr>
            <a:r>
              <a:rPr lang="zh-CN" sz="1200" b="0">
                <a:solidFill>
                  <a:srgbClr val="596B7C"/>
                </a:solidFill>
                <a:latin typeface="微软雅黑" panose="020B0503020204020204" pitchFamily="34" charset="-122"/>
                <a:ea typeface="微软雅黑" panose="020B0503020204020204" pitchFamily="34" charset="-122"/>
              </a:rPr>
              <a:t>局部结构不稳定</a:t>
            </a:r>
            <a:endParaRPr lang="zh-CN" sz="1200" b="0">
              <a:solidFill>
                <a:srgbClr val="596B7C"/>
              </a:solidFill>
              <a:latin typeface="微软雅黑" panose="020B0503020204020204" pitchFamily="34" charset="-122"/>
              <a:ea typeface="微软雅黑" panose="020B0503020204020204" pitchFamily="34" charset="-122"/>
            </a:endParaRPr>
          </a:p>
        </p:txBody>
      </p:sp>
      <p:pic>
        <p:nvPicPr>
          <p:cNvPr id="346" name="Original crop 346" descr="原图相邻空白背景条裁剪，用于放置可编辑文字。"/>
          <p:cNvPicPr>
            <a:picLocks noChangeAspect="1"/>
          </p:cNvPicPr>
          <p:nvPr/>
        </p:nvPicPr>
        <p:blipFill>
          <a:blip r:embed="rId1"/>
          <a:srcRect l="55323" t="58555" r="33313" b="41020"/>
          <a:stretch>
            <a:fillRect/>
          </a:stretch>
        </p:blipFill>
        <p:spPr>
          <a:xfrm>
            <a:off x="6744976" y="4059411"/>
            <a:ext cx="1385455" cy="408128"/>
          </a:xfrm>
          <a:prstGeom prst="rect">
            <a:avLst/>
          </a:prstGeom>
        </p:spPr>
      </p:pic>
      <p:sp>
        <p:nvSpPr>
          <p:cNvPr id="347" name="Problem mapping 347"/>
          <p:cNvSpPr txBox="1"/>
          <p:nvPr/>
        </p:nvSpPr>
        <p:spPr>
          <a:xfrm>
            <a:off x="6744976" y="4059411"/>
            <a:ext cx="1385455" cy="408128"/>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8C89"/>
                </a:solidFill>
                <a:latin typeface="微软雅黑" panose="020B0503020204020204" pitchFamily="34" charset="-122"/>
                <a:ea typeface="微软雅黑" panose="020B0503020204020204" pitchFamily="34" charset="-122"/>
              </a:rPr>
              <a:t>点云扰动：</a:t>
            </a:r>
            <a:endParaRPr lang="zh-CN" sz="1300" b="1">
              <a:solidFill>
                <a:srgbClr val="008C89"/>
              </a:solidFill>
              <a:latin typeface="微软雅黑" panose="020B0503020204020204" pitchFamily="34" charset="-122"/>
              <a:ea typeface="微软雅黑" panose="020B0503020204020204" pitchFamily="34" charset="-122"/>
            </a:endParaRPr>
          </a:p>
          <a:p>
            <a:pPr algn="l">
              <a:lnSpc>
                <a:spcPct val="112000"/>
              </a:lnSpc>
              <a:buNone/>
            </a:pPr>
            <a:r>
              <a:rPr lang="zh-CN" sz="1300" b="1">
                <a:solidFill>
                  <a:srgbClr val="008C89"/>
                </a:solidFill>
                <a:latin typeface="微软雅黑" panose="020B0503020204020204" pitchFamily="34" charset="-122"/>
                <a:ea typeface="微软雅黑" panose="020B0503020204020204" pitchFamily="34" charset="-122"/>
              </a:rPr>
              <a:t>分级坐标噪声</a:t>
            </a:r>
            <a:endParaRPr lang="zh-CN" sz="1300" b="1">
              <a:solidFill>
                <a:srgbClr val="008C89"/>
              </a:solidFill>
              <a:latin typeface="微软雅黑" panose="020B0503020204020204" pitchFamily="34" charset="-122"/>
              <a:ea typeface="微软雅黑" panose="020B0503020204020204" pitchFamily="34" charset="-122"/>
            </a:endParaRPr>
          </a:p>
        </p:txBody>
      </p:sp>
      <p:pic>
        <p:nvPicPr>
          <p:cNvPr id="348" name="Original crop 348" descr="原图相邻空白背景条裁剪，用于放置可编辑文字。"/>
          <p:cNvPicPr>
            <a:picLocks noChangeAspect="1"/>
          </p:cNvPicPr>
          <p:nvPr/>
        </p:nvPicPr>
        <p:blipFill>
          <a:blip r:embed="rId1"/>
          <a:srcRect l="71830" t="25824" r="3648" b="73751"/>
          <a:stretch>
            <a:fillRect/>
          </a:stretch>
        </p:blipFill>
        <p:spPr>
          <a:xfrm>
            <a:off x="8757531" y="1814710"/>
            <a:ext cx="2989665" cy="233216"/>
          </a:xfrm>
          <a:prstGeom prst="rect">
            <a:avLst/>
          </a:prstGeom>
        </p:spPr>
      </p:pic>
      <p:sp>
        <p:nvSpPr>
          <p:cNvPr id="349" name="Problem mapping 349"/>
          <p:cNvSpPr txBox="1"/>
          <p:nvPr/>
        </p:nvSpPr>
        <p:spPr>
          <a:xfrm>
            <a:off x="8757531" y="1814710"/>
            <a:ext cx="2989665" cy="233216"/>
          </a:xfrm>
          <a:prstGeom prst="rect">
            <a:avLst/>
          </a:prstGeom>
          <a:noFill/>
          <a:ln w="9525">
            <a:noFill/>
          </a:ln>
        </p:spPr>
        <p:txBody>
          <a:bodyPr wrap="square" lIns="0" tIns="0" rIns="0" bIns="0" anchor="ctr">
            <a:noAutofit/>
          </a:bodyPr>
          <a:lstStyle/>
          <a:p>
            <a:pPr algn="l">
              <a:lnSpc>
                <a:spcPct val="112000"/>
              </a:lnSpc>
              <a:buNone/>
            </a:pPr>
            <a:r>
              <a:rPr lang="zh-CN" sz="1200" b="0">
                <a:solidFill>
                  <a:srgbClr val="26313D"/>
                </a:solidFill>
                <a:latin typeface="微软雅黑" panose="020B0503020204020204" pitchFamily="34" charset="-122"/>
                <a:ea typeface="微软雅黑" panose="020B0503020204020204" pitchFamily="34" charset="-122"/>
              </a:rPr>
              <a:t>相同退化参数，不同场景的质量变化不同</a:t>
            </a:r>
            <a:endParaRPr lang="zh-CN" sz="1200" b="0">
              <a:solidFill>
                <a:srgbClr val="26313D"/>
              </a:solidFill>
              <a:latin typeface="微软雅黑" panose="020B0503020204020204" pitchFamily="34" charset="-122"/>
              <a:ea typeface="微软雅黑" panose="020B0503020204020204" pitchFamily="34" charset="-122"/>
            </a:endParaRPr>
          </a:p>
        </p:txBody>
      </p:sp>
      <p:pic>
        <p:nvPicPr>
          <p:cNvPr id="350" name="Original crop 350" descr="原图相邻空白背景条裁剪，用于放置可编辑文字。"/>
          <p:cNvPicPr>
            <a:picLocks noChangeAspect="1"/>
          </p:cNvPicPr>
          <p:nvPr/>
        </p:nvPicPr>
        <p:blipFill>
          <a:blip r:embed="rId1"/>
          <a:srcRect l="76615" t="31775" r="11244" b="67800"/>
          <a:stretch>
            <a:fillRect/>
          </a:stretch>
        </p:blipFill>
        <p:spPr>
          <a:xfrm>
            <a:off x="9340880" y="2222837"/>
            <a:ext cx="1480249" cy="284232"/>
          </a:xfrm>
          <a:prstGeom prst="rect">
            <a:avLst/>
          </a:prstGeom>
        </p:spPr>
      </p:pic>
      <p:sp>
        <p:nvSpPr>
          <p:cNvPr id="351" name="Problem mapping 351"/>
          <p:cNvSpPr txBox="1"/>
          <p:nvPr/>
        </p:nvSpPr>
        <p:spPr>
          <a:xfrm>
            <a:off x="9340880" y="2222837"/>
            <a:ext cx="1480249" cy="284232"/>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4A9F"/>
                </a:solidFill>
                <a:latin typeface="微软雅黑" panose="020B0503020204020204" pitchFamily="34" charset="-122"/>
                <a:ea typeface="微软雅黑" panose="020B0503020204020204" pitchFamily="34" charset="-122"/>
              </a:rPr>
              <a:t>原始质量统计</a:t>
            </a:r>
            <a:endParaRPr lang="zh-CN" sz="1300" b="1">
              <a:solidFill>
                <a:srgbClr val="004A9F"/>
              </a:solidFill>
              <a:latin typeface="微软雅黑" panose="020B0503020204020204" pitchFamily="34" charset="-122"/>
              <a:ea typeface="微软雅黑" panose="020B0503020204020204" pitchFamily="34" charset="-122"/>
            </a:endParaRPr>
          </a:p>
        </p:txBody>
      </p:sp>
      <p:pic>
        <p:nvPicPr>
          <p:cNvPr id="352" name="Original crop 352" descr="原图相邻空白背景条裁剪，用于放置可编辑文字。"/>
          <p:cNvPicPr>
            <a:picLocks noChangeAspect="1"/>
          </p:cNvPicPr>
          <p:nvPr/>
        </p:nvPicPr>
        <p:blipFill>
          <a:blip r:embed="rId1"/>
          <a:srcRect l="76555" t="41445" r="11244" b="58130"/>
          <a:stretch>
            <a:fillRect/>
          </a:stretch>
        </p:blipFill>
        <p:spPr>
          <a:xfrm>
            <a:off x="9333589" y="2886045"/>
            <a:ext cx="1487541" cy="284232"/>
          </a:xfrm>
          <a:prstGeom prst="rect">
            <a:avLst/>
          </a:prstGeom>
        </p:spPr>
      </p:pic>
      <p:sp>
        <p:nvSpPr>
          <p:cNvPr id="353" name="Problem mapping 353"/>
          <p:cNvSpPr txBox="1"/>
          <p:nvPr/>
        </p:nvSpPr>
        <p:spPr>
          <a:xfrm>
            <a:off x="9333589" y="2886045"/>
            <a:ext cx="1487541" cy="284232"/>
          </a:xfrm>
          <a:prstGeom prst="rect">
            <a:avLst/>
          </a:prstGeom>
          <a:noFill/>
          <a:ln w="9525">
            <a:noFill/>
          </a:ln>
        </p:spPr>
        <p:txBody>
          <a:bodyPr wrap="square" lIns="0" tIns="0" rIns="0" bIns="0" anchor="ctr">
            <a:noAutofit/>
          </a:bodyPr>
          <a:lstStyle/>
          <a:p>
            <a:pPr algn="l">
              <a:lnSpc>
                <a:spcPct val="112000"/>
              </a:lnSpc>
              <a:buNone/>
            </a:pPr>
            <a:r>
              <a:rPr lang="zh-CN" sz="1250" b="1">
                <a:solidFill>
                  <a:srgbClr val="004A9F"/>
                </a:solidFill>
                <a:latin typeface="微软雅黑" panose="020B0503020204020204" pitchFamily="34" charset="-122"/>
                <a:ea typeface="微软雅黑" panose="020B0503020204020204" pitchFamily="34" charset="-122"/>
              </a:rPr>
              <a:t>按目标等级初始退化</a:t>
            </a:r>
            <a:endParaRPr lang="zh-CN" sz="1250" b="1">
              <a:solidFill>
                <a:srgbClr val="004A9F"/>
              </a:solidFill>
              <a:latin typeface="微软雅黑" panose="020B0503020204020204" pitchFamily="34" charset="-122"/>
              <a:ea typeface="微软雅黑" panose="020B0503020204020204" pitchFamily="34" charset="-122"/>
            </a:endParaRPr>
          </a:p>
        </p:txBody>
      </p:sp>
      <p:pic>
        <p:nvPicPr>
          <p:cNvPr id="354" name="Original crop 354" descr="原图相邻空白背景条裁剪，用于放置可编辑文字。"/>
          <p:cNvPicPr>
            <a:picLocks noChangeAspect="1"/>
          </p:cNvPicPr>
          <p:nvPr/>
        </p:nvPicPr>
        <p:blipFill>
          <a:blip r:embed="rId1"/>
          <a:srcRect l="76615" t="51116" r="11244" b="48459"/>
          <a:stretch>
            <a:fillRect/>
          </a:stretch>
        </p:blipFill>
        <p:spPr>
          <a:xfrm>
            <a:off x="9340880" y="3549252"/>
            <a:ext cx="1480249" cy="284232"/>
          </a:xfrm>
          <a:prstGeom prst="rect">
            <a:avLst/>
          </a:prstGeom>
        </p:spPr>
      </p:pic>
      <p:sp>
        <p:nvSpPr>
          <p:cNvPr id="355" name="Problem mapping 355"/>
          <p:cNvSpPr txBox="1"/>
          <p:nvPr/>
        </p:nvSpPr>
        <p:spPr>
          <a:xfrm>
            <a:off x="9340880" y="3549252"/>
            <a:ext cx="1480249" cy="284232"/>
          </a:xfrm>
          <a:prstGeom prst="rect">
            <a:avLst/>
          </a:prstGeom>
          <a:noFill/>
          <a:ln w="9525">
            <a:noFill/>
          </a:ln>
        </p:spPr>
        <p:txBody>
          <a:bodyPr wrap="square" lIns="0" tIns="0" rIns="0" bIns="0" anchor="ctr">
            <a:noAutofit/>
          </a:bodyPr>
          <a:lstStyle/>
          <a:p>
            <a:pPr algn="l">
              <a:lnSpc>
                <a:spcPct val="112000"/>
              </a:lnSpc>
              <a:buNone/>
            </a:pPr>
            <a:r>
              <a:rPr lang="zh-CN" sz="1250" b="1">
                <a:solidFill>
                  <a:srgbClr val="004A9F"/>
                </a:solidFill>
                <a:latin typeface="微软雅黑" panose="020B0503020204020204" pitchFamily="34" charset="-122"/>
                <a:ea typeface="微软雅黑" panose="020B0503020204020204" pitchFamily="34" charset="-122"/>
              </a:rPr>
              <a:t>检查实际质量变化</a:t>
            </a:r>
            <a:endParaRPr lang="zh-CN" sz="1250" b="1">
              <a:solidFill>
                <a:srgbClr val="004A9F"/>
              </a:solidFill>
              <a:latin typeface="微软雅黑" panose="020B0503020204020204" pitchFamily="34" charset="-122"/>
              <a:ea typeface="微软雅黑" panose="020B0503020204020204" pitchFamily="34" charset="-122"/>
            </a:endParaRPr>
          </a:p>
        </p:txBody>
      </p:sp>
      <p:pic>
        <p:nvPicPr>
          <p:cNvPr id="356" name="Original crop 356" descr="原图相邻空白背景条裁剪，用于放置可编辑文字。"/>
          <p:cNvPicPr>
            <a:picLocks noChangeAspect="1"/>
          </p:cNvPicPr>
          <p:nvPr/>
        </p:nvPicPr>
        <p:blipFill>
          <a:blip r:embed="rId1"/>
          <a:srcRect l="76615" t="60786" r="11244" b="38789"/>
          <a:stretch>
            <a:fillRect/>
          </a:stretch>
        </p:blipFill>
        <p:spPr>
          <a:xfrm>
            <a:off x="9340880" y="4212459"/>
            <a:ext cx="1480249" cy="298808"/>
          </a:xfrm>
          <a:prstGeom prst="rect">
            <a:avLst/>
          </a:prstGeom>
        </p:spPr>
      </p:pic>
      <p:sp>
        <p:nvSpPr>
          <p:cNvPr id="357" name="Problem mapping 357"/>
          <p:cNvSpPr txBox="1"/>
          <p:nvPr/>
        </p:nvSpPr>
        <p:spPr>
          <a:xfrm>
            <a:off x="9340880" y="4212459"/>
            <a:ext cx="1480249" cy="298808"/>
          </a:xfrm>
          <a:prstGeom prst="rect">
            <a:avLst/>
          </a:prstGeom>
          <a:noFill/>
          <a:ln w="9525">
            <a:noFill/>
          </a:ln>
        </p:spPr>
        <p:txBody>
          <a:bodyPr wrap="square" lIns="0" tIns="0" rIns="0" bIns="0" anchor="ctr">
            <a:noAutofit/>
          </a:bodyPr>
          <a:lstStyle/>
          <a:p>
            <a:pPr algn="l">
              <a:lnSpc>
                <a:spcPct val="112000"/>
              </a:lnSpc>
              <a:buNone/>
            </a:pPr>
            <a:r>
              <a:rPr lang="zh-CN" sz="1200" b="1">
                <a:solidFill>
                  <a:srgbClr val="B8690A"/>
                </a:solidFill>
                <a:latin typeface="微软雅黑" panose="020B0503020204020204" pitchFamily="34" charset="-122"/>
                <a:ea typeface="微软雅黑" panose="020B0503020204020204" pitchFamily="34" charset="-122"/>
              </a:rPr>
              <a:t>达标样本成对保存</a:t>
            </a:r>
            <a:endParaRPr lang="zh-CN" sz="1200" b="1">
              <a:solidFill>
                <a:srgbClr val="B8690A"/>
              </a:solidFill>
              <a:latin typeface="微软雅黑" panose="020B0503020204020204" pitchFamily="34" charset="-122"/>
              <a:ea typeface="微软雅黑" panose="020B0503020204020204" pitchFamily="34" charset="-122"/>
            </a:endParaRPr>
          </a:p>
        </p:txBody>
      </p:sp>
      <p:pic>
        <p:nvPicPr>
          <p:cNvPr id="358" name="Original crop 358" descr="原图相邻空白背景条裁剪，用于放置可编辑文字。"/>
          <p:cNvPicPr>
            <a:picLocks noChangeAspect="1"/>
          </p:cNvPicPr>
          <p:nvPr/>
        </p:nvPicPr>
        <p:blipFill>
          <a:blip r:embed="rId1"/>
          <a:srcRect l="93900" t="51966" r="3409" b="47290"/>
          <a:stretch>
            <a:fillRect/>
          </a:stretch>
        </p:blipFill>
        <p:spPr>
          <a:xfrm>
            <a:off x="11346144" y="3126548"/>
            <a:ext cx="576057" cy="364400"/>
          </a:xfrm>
          <a:prstGeom prst="rect">
            <a:avLst/>
          </a:prstGeom>
        </p:spPr>
      </p:pic>
      <p:sp>
        <p:nvSpPr>
          <p:cNvPr id="359" name="Problem mapping 359"/>
          <p:cNvSpPr txBox="1"/>
          <p:nvPr/>
        </p:nvSpPr>
        <p:spPr>
          <a:xfrm>
            <a:off x="11346144" y="3126548"/>
            <a:ext cx="576057" cy="364400"/>
          </a:xfrm>
          <a:prstGeom prst="rect">
            <a:avLst/>
          </a:prstGeom>
          <a:noFill/>
          <a:ln w="9525">
            <a:noFill/>
          </a:ln>
        </p:spPr>
        <p:txBody>
          <a:bodyPr wrap="square" lIns="0" tIns="0" rIns="0" bIns="0" anchor="ctr">
            <a:noAutofit/>
          </a:bodyPr>
          <a:lstStyle/>
          <a:p>
            <a:pPr algn="l">
              <a:lnSpc>
                <a:spcPct val="112000"/>
              </a:lnSpc>
              <a:buNone/>
            </a:pPr>
            <a:r>
              <a:rPr lang="zh-CN" sz="1100" b="1">
                <a:solidFill>
                  <a:srgbClr val="D77B13"/>
                </a:solidFill>
                <a:latin typeface="微软雅黑" panose="020B0503020204020204" pitchFamily="34" charset="-122"/>
                <a:ea typeface="微软雅黑" panose="020B0503020204020204" pitchFamily="34" charset="-122"/>
              </a:rPr>
              <a:t>未达标：</a:t>
            </a:r>
            <a:endParaRPr lang="zh-CN" sz="1100" b="1">
              <a:solidFill>
                <a:srgbClr val="D77B13"/>
              </a:solidFill>
              <a:latin typeface="微软雅黑" panose="020B0503020204020204" pitchFamily="34" charset="-122"/>
              <a:ea typeface="微软雅黑" panose="020B0503020204020204" pitchFamily="34" charset="-122"/>
            </a:endParaRPr>
          </a:p>
          <a:p>
            <a:pPr algn="l">
              <a:lnSpc>
                <a:spcPct val="112000"/>
              </a:lnSpc>
              <a:buNone/>
            </a:pPr>
            <a:r>
              <a:rPr lang="zh-CN" sz="1100" b="1">
                <a:solidFill>
                  <a:srgbClr val="D77B13"/>
                </a:solidFill>
                <a:latin typeface="微软雅黑" panose="020B0503020204020204" pitchFamily="34" charset="-122"/>
                <a:ea typeface="微软雅黑" panose="020B0503020204020204" pitchFamily="34" charset="-122"/>
              </a:rPr>
              <a:t>调整参数</a:t>
            </a:r>
            <a:endParaRPr lang="zh-CN" sz="1100" b="1">
              <a:solidFill>
                <a:srgbClr val="D77B13"/>
              </a:solidFill>
              <a:latin typeface="微软雅黑" panose="020B0503020204020204" pitchFamily="34" charset="-122"/>
              <a:ea typeface="微软雅黑" panose="020B0503020204020204" pitchFamily="34" charset="-122"/>
            </a:endParaRPr>
          </a:p>
        </p:txBody>
      </p:sp>
      <p:pic>
        <p:nvPicPr>
          <p:cNvPr id="360" name="Original crop 360" descr="原图相邻空白背景条裁剪，用于放置可编辑文字。"/>
          <p:cNvPicPr>
            <a:picLocks noChangeAspect="1"/>
          </p:cNvPicPr>
          <p:nvPr/>
        </p:nvPicPr>
        <p:blipFill>
          <a:blip r:embed="rId1"/>
          <a:srcRect l="75239" t="72689" r="3888" b="26886"/>
          <a:stretch>
            <a:fillRect/>
          </a:stretch>
        </p:blipFill>
        <p:spPr>
          <a:xfrm>
            <a:off x="9173167" y="5028714"/>
            <a:ext cx="2544861" cy="255080"/>
          </a:xfrm>
          <a:prstGeom prst="rect">
            <a:avLst/>
          </a:prstGeom>
        </p:spPr>
      </p:pic>
      <p:sp>
        <p:nvSpPr>
          <p:cNvPr id="361" name="Problem mapping 361"/>
          <p:cNvSpPr txBox="1"/>
          <p:nvPr/>
        </p:nvSpPr>
        <p:spPr>
          <a:xfrm>
            <a:off x="9173167" y="5028714"/>
            <a:ext cx="2544861" cy="255080"/>
          </a:xfrm>
          <a:prstGeom prst="rect">
            <a:avLst/>
          </a:prstGeom>
          <a:noFill/>
          <a:ln w="9525">
            <a:noFill/>
          </a:ln>
        </p:spPr>
        <p:txBody>
          <a:bodyPr wrap="square" lIns="0" tIns="0" rIns="0" bIns="0" anchor="ctr">
            <a:noAutofit/>
          </a:bodyPr>
          <a:lstStyle/>
          <a:p>
            <a:pPr algn="l">
              <a:lnSpc>
                <a:spcPct val="112000"/>
              </a:lnSpc>
              <a:buNone/>
            </a:pPr>
            <a:r>
              <a:rPr lang="zh-CN" sz="1200" b="0">
                <a:solidFill>
                  <a:srgbClr val="26313D"/>
                </a:solidFill>
                <a:latin typeface="微软雅黑" panose="020B0503020204020204" pitchFamily="34" charset="-122"/>
                <a:ea typeface="微软雅黑" panose="020B0503020204020204" pitchFamily="34" charset="-122"/>
              </a:rPr>
              <a:t>按退化类型选择质量指标</a:t>
            </a:r>
            <a:endParaRPr lang="zh-CN" sz="1200" b="0">
              <a:solidFill>
                <a:srgbClr val="26313D"/>
              </a:solidFill>
              <a:latin typeface="微软雅黑" panose="020B0503020204020204" pitchFamily="34" charset="-122"/>
              <a:ea typeface="微软雅黑" panose="020B0503020204020204" pitchFamily="34" charset="-122"/>
            </a:endParaRPr>
          </a:p>
        </p:txBody>
      </p:sp>
      <p:pic>
        <p:nvPicPr>
          <p:cNvPr id="362" name="Original crop 362" descr="原图相邻空白背景条裁剪，用于放置可编辑文字。"/>
          <p:cNvPicPr>
            <a:picLocks noChangeAspect="1"/>
          </p:cNvPicPr>
          <p:nvPr/>
        </p:nvPicPr>
        <p:blipFill>
          <a:blip r:embed="rId1"/>
          <a:srcRect l="75239" t="78427" r="3888" b="21148"/>
          <a:stretch>
            <a:fillRect/>
          </a:stretch>
        </p:blipFill>
        <p:spPr>
          <a:xfrm>
            <a:off x="9173167" y="5422266"/>
            <a:ext cx="2544861" cy="255080"/>
          </a:xfrm>
          <a:prstGeom prst="rect">
            <a:avLst/>
          </a:prstGeom>
        </p:spPr>
      </p:pic>
      <p:sp>
        <p:nvSpPr>
          <p:cNvPr id="363" name="Problem mapping 363"/>
          <p:cNvSpPr txBox="1"/>
          <p:nvPr/>
        </p:nvSpPr>
        <p:spPr>
          <a:xfrm>
            <a:off x="9173167" y="5422266"/>
            <a:ext cx="2544861" cy="255080"/>
          </a:xfrm>
          <a:prstGeom prst="rect">
            <a:avLst/>
          </a:prstGeom>
          <a:noFill/>
          <a:ln w="9525">
            <a:noFill/>
          </a:ln>
        </p:spPr>
        <p:txBody>
          <a:bodyPr wrap="square" lIns="0" tIns="0" rIns="0" bIns="0" anchor="ctr">
            <a:noAutofit/>
          </a:bodyPr>
          <a:lstStyle/>
          <a:p>
            <a:pPr algn="l">
              <a:lnSpc>
                <a:spcPct val="112000"/>
              </a:lnSpc>
              <a:buNone/>
            </a:pPr>
            <a:r>
              <a:rPr lang="zh-CN" sz="1200" b="0">
                <a:solidFill>
                  <a:srgbClr val="26313D"/>
                </a:solidFill>
                <a:latin typeface="微软雅黑" panose="020B0503020204020204" pitchFamily="34" charset="-122"/>
                <a:ea typeface="微软雅黑" panose="020B0503020204020204" pitchFamily="34" charset="-122"/>
              </a:rPr>
              <a:t>离线构建，不增加检测端负担</a:t>
            </a:r>
            <a:endParaRPr lang="zh-CN" sz="1200" b="0">
              <a:solidFill>
                <a:srgbClr val="26313D"/>
              </a:solidFill>
              <a:latin typeface="微软雅黑" panose="020B0503020204020204" pitchFamily="34" charset="-122"/>
              <a:ea typeface="微软雅黑" panose="020B0503020204020204" pitchFamily="34" charset="-122"/>
            </a:endParaRPr>
          </a:p>
        </p:txBody>
      </p:sp>
      <p:pic>
        <p:nvPicPr>
          <p:cNvPr id="364" name="Original crop 364" descr="原图相邻空白背景条裁剪，用于放置可编辑文字。"/>
          <p:cNvPicPr>
            <a:picLocks noChangeAspect="1"/>
          </p:cNvPicPr>
          <p:nvPr/>
        </p:nvPicPr>
        <p:blipFill>
          <a:blip r:embed="rId1"/>
          <a:srcRect l="6280" t="89692" r="81938" b="9883"/>
          <a:stretch>
            <a:fillRect/>
          </a:stretch>
        </p:blipFill>
        <p:spPr>
          <a:xfrm>
            <a:off x="765646" y="6194793"/>
            <a:ext cx="1436498" cy="357112"/>
          </a:xfrm>
          <a:prstGeom prst="rect">
            <a:avLst/>
          </a:prstGeom>
        </p:spPr>
      </p:pic>
      <p:sp>
        <p:nvSpPr>
          <p:cNvPr id="365" name="Problem mapping 365"/>
          <p:cNvSpPr txBox="1"/>
          <p:nvPr/>
        </p:nvSpPr>
        <p:spPr>
          <a:xfrm>
            <a:off x="765646" y="6194793"/>
            <a:ext cx="1436498" cy="357112"/>
          </a:xfrm>
          <a:prstGeom prst="rect">
            <a:avLst/>
          </a:prstGeom>
          <a:noFill/>
          <a:ln w="9525">
            <a:noFill/>
          </a:ln>
        </p:spPr>
        <p:txBody>
          <a:bodyPr wrap="square" lIns="0" tIns="0" rIns="0" bIns="0" anchor="ctr">
            <a:noAutofit/>
          </a:bodyPr>
          <a:lstStyle/>
          <a:p>
            <a:pPr algn="l">
              <a:lnSpc>
                <a:spcPct val="112000"/>
              </a:lnSpc>
              <a:buNone/>
            </a:pPr>
            <a:r>
              <a:rPr lang="zh-CN" sz="1400" b="1">
                <a:solidFill>
                  <a:srgbClr val="004A9F"/>
                </a:solidFill>
                <a:latin typeface="微软雅黑" panose="020B0503020204020204" pitchFamily="34" charset="-122"/>
                <a:ea typeface="微软雅黑" panose="020B0503020204020204" pitchFamily="34" charset="-122"/>
              </a:rPr>
              <a:t>后续分析路线</a:t>
            </a:r>
            <a:endParaRPr lang="zh-CN" sz="1400" b="1">
              <a:solidFill>
                <a:srgbClr val="004A9F"/>
              </a:solidFill>
              <a:latin typeface="微软雅黑" panose="020B0503020204020204" pitchFamily="34" charset="-122"/>
              <a:ea typeface="微软雅黑" panose="020B0503020204020204" pitchFamily="34" charset="-122"/>
            </a:endParaRPr>
          </a:p>
        </p:txBody>
      </p:sp>
      <p:pic>
        <p:nvPicPr>
          <p:cNvPr id="366" name="Original crop 366" descr="原图相邻空白背景条裁剪，用于放置可编辑文字。"/>
          <p:cNvPicPr>
            <a:picLocks noChangeAspect="1"/>
          </p:cNvPicPr>
          <p:nvPr/>
        </p:nvPicPr>
        <p:blipFill>
          <a:blip r:embed="rId1"/>
          <a:srcRect l="26794" t="90223" r="62201" b="9352"/>
          <a:stretch>
            <a:fillRect/>
          </a:stretch>
        </p:blipFill>
        <p:spPr>
          <a:xfrm>
            <a:off x="3266756" y="6231233"/>
            <a:ext cx="1341703" cy="276944"/>
          </a:xfrm>
          <a:prstGeom prst="rect">
            <a:avLst/>
          </a:prstGeom>
        </p:spPr>
      </p:pic>
      <p:sp>
        <p:nvSpPr>
          <p:cNvPr id="367" name="Problem mapping 367"/>
          <p:cNvSpPr txBox="1"/>
          <p:nvPr/>
        </p:nvSpPr>
        <p:spPr>
          <a:xfrm>
            <a:off x="3266756" y="6231233"/>
            <a:ext cx="1341703" cy="276944"/>
          </a:xfrm>
          <a:prstGeom prst="rect">
            <a:avLst/>
          </a:prstGeom>
          <a:noFill/>
          <a:ln w="9525">
            <a:noFill/>
          </a:ln>
        </p:spPr>
        <p:txBody>
          <a:bodyPr wrap="square" lIns="0" tIns="0" rIns="0" bIns="0" anchor="ctr">
            <a:noAutofit/>
          </a:bodyPr>
          <a:lstStyle/>
          <a:p>
            <a:pPr algn="l">
              <a:lnSpc>
                <a:spcPct val="112000"/>
              </a:lnSpc>
              <a:buNone/>
            </a:pPr>
            <a:r>
              <a:rPr lang="zh-CN" sz="1400" b="1">
                <a:solidFill>
                  <a:srgbClr val="004A9F"/>
                </a:solidFill>
                <a:latin typeface="微软雅黑" panose="020B0503020204020204" pitchFamily="34" charset="-122"/>
                <a:ea typeface="微软雅黑" panose="020B0503020204020204" pitchFamily="34" charset="-122"/>
              </a:rPr>
              <a:t>成对数据</a:t>
            </a:r>
            <a:endParaRPr lang="zh-CN" sz="1400" b="1">
              <a:solidFill>
                <a:srgbClr val="004A9F"/>
              </a:solidFill>
              <a:latin typeface="微软雅黑" panose="020B0503020204020204" pitchFamily="34" charset="-122"/>
              <a:ea typeface="微软雅黑" panose="020B0503020204020204" pitchFamily="34" charset="-122"/>
            </a:endParaRPr>
          </a:p>
        </p:txBody>
      </p:sp>
      <p:pic>
        <p:nvPicPr>
          <p:cNvPr id="368" name="Original crop 368" descr="原图相邻空白背景条裁剪，用于放置可编辑文字。"/>
          <p:cNvPicPr>
            <a:picLocks noChangeAspect="1"/>
          </p:cNvPicPr>
          <p:nvPr/>
        </p:nvPicPr>
        <p:blipFill>
          <a:blip r:embed="rId1"/>
          <a:srcRect l="50419" t="90223" r="32895" b="9352"/>
          <a:stretch>
            <a:fillRect/>
          </a:stretch>
        </p:blipFill>
        <p:spPr>
          <a:xfrm>
            <a:off x="6147043" y="6231233"/>
            <a:ext cx="2034431" cy="276944"/>
          </a:xfrm>
          <a:prstGeom prst="rect">
            <a:avLst/>
          </a:prstGeom>
        </p:spPr>
      </p:pic>
      <p:sp>
        <p:nvSpPr>
          <p:cNvPr id="369" name="Problem mapping 369"/>
          <p:cNvSpPr txBox="1"/>
          <p:nvPr/>
        </p:nvSpPr>
        <p:spPr>
          <a:xfrm>
            <a:off x="6147043" y="6231233"/>
            <a:ext cx="2034431" cy="276944"/>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4A9F"/>
                </a:solidFill>
                <a:latin typeface="微软雅黑" panose="020B0503020204020204" pitchFamily="34" charset="-122"/>
                <a:ea typeface="微软雅黑" panose="020B0503020204020204" pitchFamily="34" charset="-122"/>
              </a:rPr>
              <a:t>质量变化与检测性能关联</a:t>
            </a:r>
            <a:endParaRPr lang="zh-CN" sz="1300" b="1">
              <a:solidFill>
                <a:srgbClr val="004A9F"/>
              </a:solidFill>
              <a:latin typeface="微软雅黑" panose="020B0503020204020204" pitchFamily="34" charset="-122"/>
              <a:ea typeface="微软雅黑" panose="020B0503020204020204" pitchFamily="34" charset="-122"/>
            </a:endParaRPr>
          </a:p>
        </p:txBody>
      </p:sp>
      <p:pic>
        <p:nvPicPr>
          <p:cNvPr id="370" name="Original crop 370" descr="原图相邻空白背景条裁剪，用于放置可编辑文字。"/>
          <p:cNvPicPr>
            <a:picLocks noChangeAspect="1"/>
          </p:cNvPicPr>
          <p:nvPr/>
        </p:nvPicPr>
        <p:blipFill>
          <a:blip r:embed="rId1"/>
          <a:srcRect l="78289" t="90223" r="4844" b="9352"/>
          <a:stretch>
            <a:fillRect/>
          </a:stretch>
        </p:blipFill>
        <p:spPr>
          <a:xfrm>
            <a:off x="9545053" y="6231233"/>
            <a:ext cx="2056306" cy="276944"/>
          </a:xfrm>
          <a:prstGeom prst="rect">
            <a:avLst/>
          </a:prstGeom>
        </p:spPr>
      </p:pic>
      <p:sp>
        <p:nvSpPr>
          <p:cNvPr id="371" name="Problem mapping 371"/>
          <p:cNvSpPr txBox="1"/>
          <p:nvPr/>
        </p:nvSpPr>
        <p:spPr>
          <a:xfrm>
            <a:off x="9545053" y="6231233"/>
            <a:ext cx="2056306" cy="276944"/>
          </a:xfrm>
          <a:prstGeom prst="rect">
            <a:avLst/>
          </a:prstGeom>
          <a:noFill/>
          <a:ln w="9525">
            <a:noFill/>
          </a:ln>
        </p:spPr>
        <p:txBody>
          <a:bodyPr wrap="square" lIns="0" tIns="0" rIns="0" bIns="0" anchor="ctr">
            <a:noAutofit/>
          </a:bodyPr>
          <a:lstStyle/>
          <a:p>
            <a:pPr algn="l">
              <a:lnSpc>
                <a:spcPct val="112000"/>
              </a:lnSpc>
              <a:buNone/>
            </a:pPr>
            <a:r>
              <a:rPr lang="zh-CN" sz="1300" b="1">
                <a:solidFill>
                  <a:srgbClr val="004A9F"/>
                </a:solidFill>
                <a:latin typeface="微软雅黑" panose="020B0503020204020204" pitchFamily="34" charset="-122"/>
                <a:ea typeface="微软雅黑" panose="020B0503020204020204" pitchFamily="34" charset="-122"/>
              </a:rPr>
              <a:t>筛选有效质量指标</a:t>
            </a:r>
            <a:endParaRPr lang="zh-CN" sz="1300" b="1">
              <a:solidFill>
                <a:srgbClr val="004A9F"/>
              </a:solidFill>
              <a:latin typeface="微软雅黑" panose="020B0503020204020204" pitchFamily="34" charset="-122"/>
              <a:ea typeface="微软雅黑" panose="020B0503020204020204" pitchFamily="34" charset="-122"/>
            </a:endParaRPr>
          </a:p>
        </p:txBody>
      </p:sp>
      <p:pic>
        <p:nvPicPr>
          <p:cNvPr id="372" name="Original crop 372" descr="原图相邻空白背景条裁剪，用于放置可编辑文字。"/>
          <p:cNvPicPr>
            <a:picLocks noChangeAspect="1"/>
          </p:cNvPicPr>
          <p:nvPr/>
        </p:nvPicPr>
        <p:blipFill>
          <a:blip r:embed="rId1"/>
          <a:srcRect l="2990" t="11265" r="94019" b="88204"/>
          <a:stretch>
            <a:fillRect/>
          </a:stretch>
        </p:blipFill>
        <p:spPr>
          <a:xfrm>
            <a:off x="11812823" y="6632072"/>
            <a:ext cx="218756" cy="189488"/>
          </a:xfrm>
          <a:prstGeom prst="rect">
            <a:avLst/>
          </a:prstGeom>
        </p:spPr>
      </p:pic>
      <p:sp>
        <p:nvSpPr>
          <p:cNvPr id="373" name="Problem mapping 373"/>
          <p:cNvSpPr txBox="1"/>
          <p:nvPr/>
        </p:nvSpPr>
        <p:spPr>
          <a:xfrm>
            <a:off x="11812823" y="6632072"/>
            <a:ext cx="218756" cy="189488"/>
          </a:xfrm>
          <a:prstGeom prst="rect">
            <a:avLst/>
          </a:prstGeom>
          <a:noFill/>
          <a:ln w="9525">
            <a:noFill/>
          </a:ln>
        </p:spPr>
        <p:txBody>
          <a:bodyPr wrap="square" lIns="0" tIns="0" rIns="0" bIns="0" anchor="ctr">
            <a:noAutofit/>
          </a:bodyPr>
          <a:lstStyle/>
          <a:p>
            <a:pPr algn="l">
              <a:lnSpc>
                <a:spcPct val="112000"/>
              </a:lnSpc>
              <a:buNone/>
            </a:pPr>
            <a:r>
              <a:rPr lang="zh-CN" sz="1000" b="0">
                <a:solidFill>
                  <a:srgbClr val="596B7C"/>
                </a:solidFill>
                <a:latin typeface="微软雅黑" panose="020B0503020204020204" pitchFamily="34" charset="-122"/>
                <a:ea typeface="微软雅黑" panose="020B0503020204020204" pitchFamily="34" charset="-122"/>
              </a:rPr>
              <a:t>16</a:t>
            </a:r>
            <a:endParaRPr lang="zh-CN" sz="1000" b="0">
              <a:solidFill>
                <a:srgbClr val="596B7C"/>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Editable connector"/>
          <p:cNvCxnSpPr/>
          <p:nvPr/>
        </p:nvCxnSpPr>
        <p:spPr>
          <a:xfrm>
            <a:off x="1079500" y="254000"/>
            <a:ext cx="0" cy="330200"/>
          </a:xfrm>
          <a:prstGeom prst="line">
            <a:avLst/>
          </a:prstGeom>
          <a:ln w="8890" cap="flat">
            <a:solidFill>
              <a:srgbClr val="9AB9D8"/>
            </a:solidFill>
            <a:prstDash val="solid"/>
          </a:ln>
        </p:spPr>
      </p:cxnSp>
      <p:cxnSp>
        <p:nvCxnSpPr>
          <p:cNvPr id="13" name="Editable connector"/>
          <p:cNvCxnSpPr/>
          <p:nvPr/>
        </p:nvCxnSpPr>
        <p:spPr>
          <a:xfrm>
            <a:off x="355600" y="736600"/>
            <a:ext cx="11480800" cy="0"/>
          </a:xfrm>
          <a:prstGeom prst="line">
            <a:avLst/>
          </a:prstGeom>
          <a:ln w="10160" cap="flat">
            <a:solidFill>
              <a:srgbClr val="C8DBEC"/>
            </a:solidFill>
            <a:prstDash val="solid"/>
          </a:ln>
        </p:spPr>
      </p:cxnSp>
      <p:cxnSp>
        <p:nvCxnSpPr>
          <p:cNvPr id="16" name="Editable connector"/>
          <p:cNvCxnSpPr/>
          <p:nvPr/>
        </p:nvCxnSpPr>
        <p:spPr>
          <a:xfrm>
            <a:off x="9169400" y="1003300"/>
            <a:ext cx="292100" cy="0"/>
          </a:xfrm>
          <a:prstGeom prst="line">
            <a:avLst/>
          </a:prstGeom>
          <a:ln w="15240" cap="flat">
            <a:solidFill>
              <a:srgbClr val="004A9F"/>
            </a:solidFill>
            <a:prstDash val="solid"/>
          </a:ln>
        </p:spPr>
      </p:cxnSp>
      <p:cxnSp>
        <p:nvCxnSpPr>
          <p:cNvPr id="18" name="Editable connector"/>
          <p:cNvCxnSpPr/>
          <p:nvPr/>
        </p:nvCxnSpPr>
        <p:spPr>
          <a:xfrm>
            <a:off x="9169400" y="1219200"/>
            <a:ext cx="292100" cy="0"/>
          </a:xfrm>
          <a:prstGeom prst="line">
            <a:avLst/>
          </a:prstGeom>
          <a:ln w="15240" cap="flat">
            <a:solidFill>
              <a:srgbClr val="E77C18"/>
            </a:solidFill>
            <a:prstDash val="dash"/>
          </a:ln>
        </p:spPr>
      </p:cxnSp>
      <p:cxnSp>
        <p:nvCxnSpPr>
          <p:cNvPr id="34" name="Editable connector"/>
          <p:cNvCxnSpPr>
            <a:stCxn id="20" idx="3"/>
          </p:cNvCxnSpPr>
          <p:nvPr/>
        </p:nvCxnSpPr>
        <p:spPr>
          <a:xfrm>
            <a:off x="1778000" y="2387600"/>
            <a:ext cx="266700" cy="0"/>
          </a:xfrm>
          <a:prstGeom prst="line">
            <a:avLst/>
          </a:prstGeom>
          <a:ln w="15875" cap="flat">
            <a:solidFill>
              <a:srgbClr val="004A9F"/>
            </a:solidFill>
            <a:prstDash val="solid"/>
          </a:ln>
        </p:spPr>
      </p:cxnSp>
      <p:cxnSp>
        <p:nvCxnSpPr>
          <p:cNvPr id="35" name="Editable connector"/>
          <p:cNvCxnSpPr/>
          <p:nvPr/>
        </p:nvCxnSpPr>
        <p:spPr>
          <a:xfrm flipV="1">
            <a:off x="2044700" y="2032000"/>
            <a:ext cx="0" cy="355600"/>
          </a:xfrm>
          <a:prstGeom prst="line">
            <a:avLst/>
          </a:prstGeom>
          <a:ln w="15875" cap="flat">
            <a:solidFill>
              <a:srgbClr val="004A9F"/>
            </a:solidFill>
            <a:prstDash val="solid"/>
          </a:ln>
        </p:spPr>
      </p:cxnSp>
      <p:cxnSp>
        <p:nvCxnSpPr>
          <p:cNvPr id="36" name="Editable connector"/>
          <p:cNvCxnSpPr>
            <a:endCxn id="24" idx="1"/>
          </p:cNvCxnSpPr>
          <p:nvPr/>
        </p:nvCxnSpPr>
        <p:spPr>
          <a:xfrm>
            <a:off x="2044700" y="2032000"/>
            <a:ext cx="266700" cy="0"/>
          </a:xfrm>
          <a:prstGeom prst="line">
            <a:avLst/>
          </a:prstGeom>
          <a:ln w="15875" cap="flat">
            <a:solidFill>
              <a:srgbClr val="004A9F"/>
            </a:solidFill>
            <a:prstDash val="solid"/>
            <a:tailEnd type="triangle" w="med" len="med"/>
          </a:ln>
        </p:spPr>
      </p:cxnSp>
      <p:cxnSp>
        <p:nvCxnSpPr>
          <p:cNvPr id="37" name="Editable connector"/>
          <p:cNvCxnSpPr/>
          <p:nvPr/>
        </p:nvCxnSpPr>
        <p:spPr>
          <a:xfrm>
            <a:off x="1778000" y="2387600"/>
            <a:ext cx="266700" cy="0"/>
          </a:xfrm>
          <a:prstGeom prst="line">
            <a:avLst/>
          </a:prstGeom>
          <a:ln w="15875" cap="flat">
            <a:solidFill>
              <a:srgbClr val="004A9F"/>
            </a:solidFill>
            <a:prstDash val="solid"/>
          </a:ln>
        </p:spPr>
      </p:cxnSp>
      <p:cxnSp>
        <p:nvCxnSpPr>
          <p:cNvPr id="38" name="Editable connector"/>
          <p:cNvCxnSpPr/>
          <p:nvPr/>
        </p:nvCxnSpPr>
        <p:spPr>
          <a:xfrm>
            <a:off x="2044700" y="2387600"/>
            <a:ext cx="0" cy="711200"/>
          </a:xfrm>
          <a:prstGeom prst="line">
            <a:avLst/>
          </a:prstGeom>
          <a:ln w="15875" cap="flat">
            <a:solidFill>
              <a:srgbClr val="004A9F"/>
            </a:solidFill>
            <a:prstDash val="solid"/>
          </a:ln>
        </p:spPr>
      </p:cxnSp>
      <p:cxnSp>
        <p:nvCxnSpPr>
          <p:cNvPr id="39" name="Editable connector"/>
          <p:cNvCxnSpPr/>
          <p:nvPr/>
        </p:nvCxnSpPr>
        <p:spPr>
          <a:xfrm>
            <a:off x="2044700" y="3098800"/>
            <a:ext cx="266700" cy="0"/>
          </a:xfrm>
          <a:prstGeom prst="line">
            <a:avLst/>
          </a:prstGeom>
          <a:ln w="15875" cap="flat">
            <a:solidFill>
              <a:srgbClr val="004A9F"/>
            </a:solidFill>
            <a:prstDash val="solid"/>
            <a:tailEnd type="triangle" w="med" len="med"/>
          </a:ln>
        </p:spPr>
      </p:cxnSp>
      <p:cxnSp>
        <p:nvCxnSpPr>
          <p:cNvPr id="40" name="Editable connector"/>
          <p:cNvCxnSpPr/>
          <p:nvPr/>
        </p:nvCxnSpPr>
        <p:spPr>
          <a:xfrm>
            <a:off x="1778000" y="5207000"/>
            <a:ext cx="266700" cy="0"/>
          </a:xfrm>
          <a:prstGeom prst="line">
            <a:avLst/>
          </a:prstGeom>
          <a:ln w="15875" cap="flat">
            <a:solidFill>
              <a:srgbClr val="008C89"/>
            </a:solidFill>
            <a:prstDash val="solid"/>
          </a:ln>
        </p:spPr>
      </p:cxnSp>
      <p:cxnSp>
        <p:nvCxnSpPr>
          <p:cNvPr id="41" name="Editable connector"/>
          <p:cNvCxnSpPr/>
          <p:nvPr/>
        </p:nvCxnSpPr>
        <p:spPr>
          <a:xfrm flipV="1">
            <a:off x="2044700" y="4495800"/>
            <a:ext cx="0" cy="711200"/>
          </a:xfrm>
          <a:prstGeom prst="line">
            <a:avLst/>
          </a:prstGeom>
          <a:ln w="15875" cap="flat">
            <a:solidFill>
              <a:srgbClr val="008C89"/>
            </a:solidFill>
            <a:prstDash val="solid"/>
          </a:ln>
        </p:spPr>
      </p:cxnSp>
      <p:cxnSp>
        <p:nvCxnSpPr>
          <p:cNvPr id="42" name="Editable connector"/>
          <p:cNvCxnSpPr/>
          <p:nvPr/>
        </p:nvCxnSpPr>
        <p:spPr>
          <a:xfrm>
            <a:off x="2044700" y="4495800"/>
            <a:ext cx="266700" cy="0"/>
          </a:xfrm>
          <a:prstGeom prst="line">
            <a:avLst/>
          </a:prstGeom>
          <a:ln w="15875" cap="flat">
            <a:solidFill>
              <a:srgbClr val="008C89"/>
            </a:solidFill>
            <a:prstDash val="solid"/>
            <a:tailEnd type="triangle" w="med" len="med"/>
          </a:ln>
        </p:spPr>
      </p:cxnSp>
      <p:cxnSp>
        <p:nvCxnSpPr>
          <p:cNvPr id="43" name="Editable connector"/>
          <p:cNvCxnSpPr/>
          <p:nvPr/>
        </p:nvCxnSpPr>
        <p:spPr>
          <a:xfrm>
            <a:off x="1778000" y="5207000"/>
            <a:ext cx="266700" cy="0"/>
          </a:xfrm>
          <a:prstGeom prst="line">
            <a:avLst/>
          </a:prstGeom>
          <a:ln w="15875" cap="flat">
            <a:solidFill>
              <a:srgbClr val="008C89"/>
            </a:solidFill>
            <a:prstDash val="solid"/>
          </a:ln>
        </p:spPr>
      </p:cxnSp>
      <p:cxnSp>
        <p:nvCxnSpPr>
          <p:cNvPr id="44" name="Editable connector"/>
          <p:cNvCxnSpPr/>
          <p:nvPr/>
        </p:nvCxnSpPr>
        <p:spPr>
          <a:xfrm>
            <a:off x="2044700" y="5207000"/>
            <a:ext cx="0" cy="444500"/>
          </a:xfrm>
          <a:prstGeom prst="line">
            <a:avLst/>
          </a:prstGeom>
          <a:ln w="15875" cap="flat">
            <a:solidFill>
              <a:srgbClr val="008C89"/>
            </a:solidFill>
            <a:prstDash val="solid"/>
          </a:ln>
        </p:spPr>
      </p:cxnSp>
      <p:cxnSp>
        <p:nvCxnSpPr>
          <p:cNvPr id="45" name="Editable connector"/>
          <p:cNvCxnSpPr/>
          <p:nvPr/>
        </p:nvCxnSpPr>
        <p:spPr>
          <a:xfrm>
            <a:off x="2044700" y="5651500"/>
            <a:ext cx="266700" cy="0"/>
          </a:xfrm>
          <a:prstGeom prst="line">
            <a:avLst/>
          </a:prstGeom>
          <a:ln w="15875" cap="flat">
            <a:solidFill>
              <a:srgbClr val="008C89"/>
            </a:solidFill>
            <a:prstDash val="solid"/>
            <a:tailEnd type="triangle" w="med" len="med"/>
          </a:ln>
        </p:spPr>
      </p:cxnSp>
      <p:cxnSp>
        <p:nvCxnSpPr>
          <p:cNvPr id="51" name="Editable connector"/>
          <p:cNvCxnSpPr/>
          <p:nvPr/>
        </p:nvCxnSpPr>
        <p:spPr>
          <a:xfrm>
            <a:off x="4114800" y="2032000"/>
            <a:ext cx="342900" cy="0"/>
          </a:xfrm>
          <a:prstGeom prst="line">
            <a:avLst/>
          </a:prstGeom>
          <a:ln w="15875" cap="flat">
            <a:solidFill>
              <a:srgbClr val="004A9F"/>
            </a:solidFill>
            <a:prstDash val="solid"/>
            <a:tailEnd type="triangle" w="med" len="med"/>
          </a:ln>
        </p:spPr>
      </p:cxnSp>
      <p:cxnSp>
        <p:nvCxnSpPr>
          <p:cNvPr id="54" name="Editable connector"/>
          <p:cNvCxnSpPr>
            <a:endCxn id="52" idx="1"/>
          </p:cNvCxnSpPr>
          <p:nvPr/>
        </p:nvCxnSpPr>
        <p:spPr>
          <a:xfrm>
            <a:off x="5181600" y="2032000"/>
            <a:ext cx="457200" cy="0"/>
          </a:xfrm>
          <a:prstGeom prst="line">
            <a:avLst/>
          </a:prstGeom>
          <a:ln w="15875" cap="flat">
            <a:solidFill>
              <a:srgbClr val="004A9F"/>
            </a:solidFill>
            <a:prstDash val="solid"/>
            <a:tailEnd type="triangle" w="med" len="med"/>
          </a:ln>
        </p:spPr>
      </p:cxnSp>
      <p:cxnSp>
        <p:nvCxnSpPr>
          <p:cNvPr id="60" name="Editable connector"/>
          <p:cNvCxnSpPr/>
          <p:nvPr/>
        </p:nvCxnSpPr>
        <p:spPr>
          <a:xfrm>
            <a:off x="4114800" y="5651500"/>
            <a:ext cx="342900" cy="0"/>
          </a:xfrm>
          <a:prstGeom prst="line">
            <a:avLst/>
          </a:prstGeom>
          <a:ln w="15875" cap="flat">
            <a:solidFill>
              <a:srgbClr val="008C89"/>
            </a:solidFill>
            <a:prstDash val="solid"/>
            <a:tailEnd type="triangle" w="med" len="med"/>
          </a:ln>
        </p:spPr>
      </p:cxnSp>
      <p:cxnSp>
        <p:nvCxnSpPr>
          <p:cNvPr id="67" name="Editable connector"/>
          <p:cNvCxnSpPr/>
          <p:nvPr/>
        </p:nvCxnSpPr>
        <p:spPr>
          <a:xfrm>
            <a:off x="4114800" y="3098800"/>
            <a:ext cx="190500" cy="0"/>
          </a:xfrm>
          <a:prstGeom prst="line">
            <a:avLst/>
          </a:prstGeom>
          <a:ln w="15875" cap="flat">
            <a:solidFill>
              <a:srgbClr val="004A9F"/>
            </a:solidFill>
            <a:prstDash val="solid"/>
          </a:ln>
        </p:spPr>
      </p:cxnSp>
      <p:cxnSp>
        <p:nvCxnSpPr>
          <p:cNvPr id="68" name="Editable connector"/>
          <p:cNvCxnSpPr/>
          <p:nvPr/>
        </p:nvCxnSpPr>
        <p:spPr>
          <a:xfrm>
            <a:off x="4305300" y="3098800"/>
            <a:ext cx="0" cy="571500"/>
          </a:xfrm>
          <a:prstGeom prst="line">
            <a:avLst/>
          </a:prstGeom>
          <a:ln w="15875" cap="flat">
            <a:solidFill>
              <a:srgbClr val="004A9F"/>
            </a:solidFill>
            <a:prstDash val="solid"/>
          </a:ln>
        </p:spPr>
      </p:cxnSp>
      <p:cxnSp>
        <p:nvCxnSpPr>
          <p:cNvPr id="69" name="Editable connector"/>
          <p:cNvCxnSpPr/>
          <p:nvPr/>
        </p:nvCxnSpPr>
        <p:spPr>
          <a:xfrm>
            <a:off x="4305300" y="3670300"/>
            <a:ext cx="190500" cy="0"/>
          </a:xfrm>
          <a:prstGeom prst="line">
            <a:avLst/>
          </a:prstGeom>
          <a:ln w="15875" cap="flat">
            <a:solidFill>
              <a:srgbClr val="004A9F"/>
            </a:solidFill>
            <a:prstDash val="solid"/>
            <a:tailEnd type="triangle" w="med" len="med"/>
          </a:ln>
        </p:spPr>
      </p:cxnSp>
      <p:cxnSp>
        <p:nvCxnSpPr>
          <p:cNvPr id="70" name="Editable connector"/>
          <p:cNvCxnSpPr/>
          <p:nvPr/>
        </p:nvCxnSpPr>
        <p:spPr>
          <a:xfrm>
            <a:off x="4114800" y="4495800"/>
            <a:ext cx="190500" cy="0"/>
          </a:xfrm>
          <a:prstGeom prst="line">
            <a:avLst/>
          </a:prstGeom>
          <a:ln w="15875" cap="flat">
            <a:solidFill>
              <a:srgbClr val="008C89"/>
            </a:solidFill>
            <a:prstDash val="solid"/>
          </a:ln>
        </p:spPr>
      </p:cxnSp>
      <p:cxnSp>
        <p:nvCxnSpPr>
          <p:cNvPr id="71" name="Editable connector"/>
          <p:cNvCxnSpPr/>
          <p:nvPr/>
        </p:nvCxnSpPr>
        <p:spPr>
          <a:xfrm flipV="1">
            <a:off x="4305300" y="4013200"/>
            <a:ext cx="0" cy="482600"/>
          </a:xfrm>
          <a:prstGeom prst="line">
            <a:avLst/>
          </a:prstGeom>
          <a:ln w="15875" cap="flat">
            <a:solidFill>
              <a:srgbClr val="008C89"/>
            </a:solidFill>
            <a:prstDash val="solid"/>
          </a:ln>
        </p:spPr>
      </p:cxnSp>
      <p:cxnSp>
        <p:nvCxnSpPr>
          <p:cNvPr id="72" name="Editable connector"/>
          <p:cNvCxnSpPr/>
          <p:nvPr/>
        </p:nvCxnSpPr>
        <p:spPr>
          <a:xfrm>
            <a:off x="4305300" y="4013200"/>
            <a:ext cx="190500" cy="0"/>
          </a:xfrm>
          <a:prstGeom prst="line">
            <a:avLst/>
          </a:prstGeom>
          <a:ln w="15875" cap="flat">
            <a:solidFill>
              <a:srgbClr val="008C89"/>
            </a:solidFill>
            <a:prstDash val="solid"/>
            <a:tailEnd type="triangle" w="med" len="med"/>
          </a:ln>
        </p:spPr>
      </p:cxnSp>
      <p:cxnSp>
        <p:nvCxnSpPr>
          <p:cNvPr id="73" name="Editable connector"/>
          <p:cNvCxnSpPr>
            <a:stCxn id="61" idx="3"/>
            <a:endCxn id="63" idx="1"/>
          </p:cNvCxnSpPr>
          <p:nvPr/>
        </p:nvCxnSpPr>
        <p:spPr>
          <a:xfrm>
            <a:off x="5943600" y="3835400"/>
            <a:ext cx="292100" cy="0"/>
          </a:xfrm>
          <a:prstGeom prst="line">
            <a:avLst/>
          </a:prstGeom>
          <a:ln w="15875" cap="flat">
            <a:solidFill>
              <a:srgbClr val="004A9F"/>
            </a:solidFill>
            <a:prstDash val="solid"/>
            <a:tailEnd type="triangle" w="med" len="med"/>
          </a:ln>
        </p:spPr>
      </p:cxnSp>
      <p:cxnSp>
        <p:nvCxnSpPr>
          <p:cNvPr id="74" name="Editable connector"/>
          <p:cNvCxnSpPr>
            <a:stCxn id="63" idx="3"/>
            <a:endCxn id="65" idx="1"/>
          </p:cNvCxnSpPr>
          <p:nvPr/>
        </p:nvCxnSpPr>
        <p:spPr>
          <a:xfrm>
            <a:off x="7505700" y="3835400"/>
            <a:ext cx="292100" cy="0"/>
          </a:xfrm>
          <a:prstGeom prst="line">
            <a:avLst/>
          </a:prstGeom>
          <a:ln w="15875" cap="flat">
            <a:solidFill>
              <a:srgbClr val="E77C18"/>
            </a:solidFill>
            <a:prstDash val="solid"/>
            <a:tailEnd type="triangle" w="med" len="med"/>
          </a:ln>
        </p:spPr>
      </p:cxnSp>
      <p:cxnSp>
        <p:nvCxnSpPr>
          <p:cNvPr id="79" name="Editable connector"/>
          <p:cNvCxnSpPr>
            <a:stCxn id="65" idx="3"/>
            <a:endCxn id="75" idx="1"/>
          </p:cNvCxnSpPr>
          <p:nvPr/>
        </p:nvCxnSpPr>
        <p:spPr>
          <a:xfrm>
            <a:off x="9118600" y="3835400"/>
            <a:ext cx="330200" cy="0"/>
          </a:xfrm>
          <a:prstGeom prst="line">
            <a:avLst/>
          </a:prstGeom>
          <a:ln w="15875" cap="flat">
            <a:solidFill>
              <a:srgbClr val="E77C18"/>
            </a:solidFill>
            <a:prstDash val="dash"/>
            <a:tailEnd type="triangle" w="med" len="med"/>
          </a:ln>
        </p:spPr>
      </p:cxnSp>
      <p:cxnSp>
        <p:nvCxnSpPr>
          <p:cNvPr id="80" name="Editable connector"/>
          <p:cNvCxnSpPr>
            <a:stCxn id="52" idx="3"/>
          </p:cNvCxnSpPr>
          <p:nvPr/>
        </p:nvCxnSpPr>
        <p:spPr>
          <a:xfrm>
            <a:off x="6832600" y="2032000"/>
            <a:ext cx="3352800" cy="0"/>
          </a:xfrm>
          <a:prstGeom prst="line">
            <a:avLst/>
          </a:prstGeom>
          <a:ln w="15875" cap="flat">
            <a:solidFill>
              <a:srgbClr val="004A9F"/>
            </a:solidFill>
            <a:prstDash val="solid"/>
          </a:ln>
        </p:spPr>
      </p:cxnSp>
      <p:cxnSp>
        <p:nvCxnSpPr>
          <p:cNvPr id="81" name="Editable connector"/>
          <p:cNvCxnSpPr>
            <a:endCxn id="75" idx="0"/>
          </p:cNvCxnSpPr>
          <p:nvPr/>
        </p:nvCxnSpPr>
        <p:spPr>
          <a:xfrm>
            <a:off x="10185400" y="2032000"/>
            <a:ext cx="0" cy="1104900"/>
          </a:xfrm>
          <a:prstGeom prst="line">
            <a:avLst/>
          </a:prstGeom>
          <a:ln w="15875" cap="flat">
            <a:solidFill>
              <a:srgbClr val="004A9F"/>
            </a:solidFill>
            <a:prstDash val="solid"/>
            <a:tailEnd type="triangle" w="med" len="med"/>
          </a:ln>
        </p:spPr>
      </p:cxnSp>
      <p:cxnSp>
        <p:nvCxnSpPr>
          <p:cNvPr id="82" name="Editable connector"/>
          <p:cNvCxnSpPr/>
          <p:nvPr/>
        </p:nvCxnSpPr>
        <p:spPr>
          <a:xfrm>
            <a:off x="5181600" y="5651500"/>
            <a:ext cx="5003800" cy="0"/>
          </a:xfrm>
          <a:prstGeom prst="line">
            <a:avLst/>
          </a:prstGeom>
          <a:ln w="15875" cap="flat">
            <a:solidFill>
              <a:srgbClr val="008C89"/>
            </a:solidFill>
            <a:prstDash val="solid"/>
          </a:ln>
        </p:spPr>
      </p:cxnSp>
      <p:cxnSp>
        <p:nvCxnSpPr>
          <p:cNvPr id="83" name="Editable connector"/>
          <p:cNvCxnSpPr>
            <a:endCxn id="75" idx="2"/>
          </p:cNvCxnSpPr>
          <p:nvPr/>
        </p:nvCxnSpPr>
        <p:spPr>
          <a:xfrm flipV="1">
            <a:off x="10185400" y="4533900"/>
            <a:ext cx="0" cy="1117600"/>
          </a:xfrm>
          <a:prstGeom prst="line">
            <a:avLst/>
          </a:prstGeom>
          <a:ln w="15875" cap="flat">
            <a:solidFill>
              <a:srgbClr val="008C89"/>
            </a:solidFill>
            <a:prstDash val="solid"/>
            <a:tailEnd type="triangle" w="med" len="med"/>
          </a:ln>
        </p:spPr>
      </p:cxnSp>
      <p:cxnSp>
        <p:nvCxnSpPr>
          <p:cNvPr id="86" name="Editable connector"/>
          <p:cNvCxnSpPr>
            <a:stCxn id="75" idx="3"/>
            <a:endCxn id="84" idx="1"/>
          </p:cNvCxnSpPr>
          <p:nvPr/>
        </p:nvCxnSpPr>
        <p:spPr>
          <a:xfrm>
            <a:off x="10922000" y="3835400"/>
            <a:ext cx="177800" cy="0"/>
          </a:xfrm>
          <a:prstGeom prst="line">
            <a:avLst/>
          </a:prstGeom>
          <a:ln w="15875" cap="flat">
            <a:solidFill>
              <a:srgbClr val="7160BC"/>
            </a:solidFill>
            <a:prstDash val="solid"/>
            <a:tailEnd type="triangle" w="med" len="med"/>
          </a:ln>
        </p:spPr>
      </p:cxnSp>
      <p:sp>
        <p:nvSpPr>
          <p:cNvPr id="20" name="RGB input"/>
          <p:cNvSpPr/>
          <p:nvPr/>
        </p:nvSpPr>
        <p:spPr>
          <a:xfrm>
            <a:off x="355600" y="2044700"/>
            <a:ext cx="1422400" cy="685800"/>
          </a:xfrm>
          <a:prstGeom prst="roundRect">
            <a:avLst>
              <a:gd name="adj" fmla="val 5000"/>
            </a:avLst>
          </a:prstGeom>
          <a:solidFill>
            <a:srgbClr val="EEF6FC"/>
          </a:solidFill>
          <a:ln w="10160">
            <a:solidFill>
              <a:srgbClr val="004A9F"/>
            </a:solidFill>
          </a:ln>
        </p:spPr>
      </p:sp>
      <p:sp>
        <p:nvSpPr>
          <p:cNvPr id="22" name="Lidar input"/>
          <p:cNvSpPr/>
          <p:nvPr/>
        </p:nvSpPr>
        <p:spPr>
          <a:xfrm>
            <a:off x="355600" y="4864100"/>
            <a:ext cx="1422400" cy="685800"/>
          </a:xfrm>
          <a:prstGeom prst="roundRect">
            <a:avLst>
              <a:gd name="adj" fmla="val 5000"/>
            </a:avLst>
          </a:prstGeom>
          <a:solidFill>
            <a:srgbClr val="ECF8F6"/>
          </a:solidFill>
          <a:ln w="10160">
            <a:solidFill>
              <a:srgbClr val="008C89"/>
            </a:solidFill>
          </a:ln>
        </p:spPr>
      </p:sp>
      <p:sp>
        <p:nvSpPr>
          <p:cNvPr id="24" name="Image feature encoder"/>
          <p:cNvSpPr/>
          <p:nvPr/>
        </p:nvSpPr>
        <p:spPr>
          <a:xfrm>
            <a:off x="2311400" y="1600200"/>
            <a:ext cx="1803400" cy="850900"/>
          </a:xfrm>
          <a:prstGeom prst="roundRect">
            <a:avLst>
              <a:gd name="adj" fmla="val 5000"/>
            </a:avLst>
          </a:prstGeom>
          <a:solidFill>
            <a:srgbClr val="EEF6FC"/>
          </a:solidFill>
          <a:ln w="10160">
            <a:solidFill>
              <a:srgbClr val="004A9F"/>
            </a:solidFill>
          </a:ln>
        </p:spPr>
      </p:sp>
      <p:sp>
        <p:nvSpPr>
          <p:cNvPr id="26" name="Image quality metrics"/>
          <p:cNvSpPr/>
          <p:nvPr/>
        </p:nvSpPr>
        <p:spPr>
          <a:xfrm>
            <a:off x="2311400" y="2755900"/>
            <a:ext cx="1803400" cy="774700"/>
          </a:xfrm>
          <a:prstGeom prst="roundRect">
            <a:avLst>
              <a:gd name="adj" fmla="val 5000"/>
            </a:avLst>
          </a:prstGeom>
          <a:solidFill>
            <a:srgbClr val="EEF6FC"/>
          </a:solidFill>
          <a:ln w="10160">
            <a:solidFill>
              <a:srgbClr val="004A9F"/>
            </a:solidFill>
          </a:ln>
        </p:spPr>
      </p:sp>
      <p:sp>
        <p:nvSpPr>
          <p:cNvPr id="29" name="Lidar quality metrics"/>
          <p:cNvSpPr/>
          <p:nvPr/>
        </p:nvSpPr>
        <p:spPr>
          <a:xfrm>
            <a:off x="2311400" y="4152900"/>
            <a:ext cx="1803400" cy="774700"/>
          </a:xfrm>
          <a:prstGeom prst="roundRect">
            <a:avLst>
              <a:gd name="adj" fmla="val 5000"/>
            </a:avLst>
          </a:prstGeom>
          <a:solidFill>
            <a:srgbClr val="ECF8F6"/>
          </a:solidFill>
          <a:ln w="10160">
            <a:solidFill>
              <a:srgbClr val="008C89"/>
            </a:solidFill>
          </a:ln>
        </p:spPr>
      </p:sp>
      <p:sp>
        <p:nvSpPr>
          <p:cNvPr id="32" name="Lidar feature encoder"/>
          <p:cNvSpPr/>
          <p:nvPr/>
        </p:nvSpPr>
        <p:spPr>
          <a:xfrm>
            <a:off x="2311400" y="5232400"/>
            <a:ext cx="1803400" cy="850900"/>
          </a:xfrm>
          <a:prstGeom prst="roundRect">
            <a:avLst>
              <a:gd name="adj" fmla="val 5000"/>
            </a:avLst>
          </a:prstGeom>
          <a:solidFill>
            <a:srgbClr val="ECF8F6"/>
          </a:solidFill>
          <a:ln w="10160">
            <a:solidFill>
              <a:srgbClr val="008C89"/>
            </a:solidFill>
          </a:ln>
        </p:spPr>
      </p:sp>
      <p:sp>
        <p:nvSpPr>
          <p:cNvPr id="52" name="Calibration alignment"/>
          <p:cNvSpPr/>
          <p:nvPr/>
        </p:nvSpPr>
        <p:spPr>
          <a:xfrm>
            <a:off x="5638800" y="1790700"/>
            <a:ext cx="1193800" cy="469900"/>
          </a:xfrm>
          <a:prstGeom prst="roundRect">
            <a:avLst>
              <a:gd name="adj" fmla="val 5000"/>
            </a:avLst>
          </a:prstGeom>
          <a:solidFill>
            <a:srgbClr val="EEF6FC"/>
          </a:solidFill>
          <a:ln w="10160">
            <a:solidFill>
              <a:srgbClr val="004A9F"/>
            </a:solidFill>
          </a:ln>
        </p:spPr>
      </p:sp>
      <p:sp>
        <p:nvSpPr>
          <p:cNvPr id="61" name="Normalized quality vector"/>
          <p:cNvSpPr/>
          <p:nvPr/>
        </p:nvSpPr>
        <p:spPr>
          <a:xfrm>
            <a:off x="4495800" y="3429000"/>
            <a:ext cx="1447800" cy="812800"/>
          </a:xfrm>
          <a:prstGeom prst="roundRect">
            <a:avLst>
              <a:gd name="adj" fmla="val 5000"/>
            </a:avLst>
          </a:prstGeom>
          <a:solidFill>
            <a:srgbClr val="EEF6FC"/>
          </a:solidFill>
          <a:ln w="10160">
            <a:solidFill>
              <a:srgbClr val="004A9F"/>
            </a:solidFill>
          </a:ln>
        </p:spPr>
      </p:sp>
      <p:sp>
        <p:nvSpPr>
          <p:cNvPr id="63" name="MLP and Softmax controller"/>
          <p:cNvSpPr/>
          <p:nvPr/>
        </p:nvSpPr>
        <p:spPr>
          <a:xfrm>
            <a:off x="6235700" y="3429000"/>
            <a:ext cx="1270000" cy="812800"/>
          </a:xfrm>
          <a:prstGeom prst="roundRect">
            <a:avLst>
              <a:gd name="adj" fmla="val 5000"/>
            </a:avLst>
          </a:prstGeom>
          <a:solidFill>
            <a:srgbClr val="FFF6EB"/>
          </a:solidFill>
          <a:ln w="10160">
            <a:solidFill>
              <a:srgbClr val="E77C18"/>
            </a:solidFill>
          </a:ln>
        </p:spPr>
      </p:sp>
      <p:sp>
        <p:nvSpPr>
          <p:cNvPr id="65" name="Two modality weights"/>
          <p:cNvSpPr/>
          <p:nvPr/>
        </p:nvSpPr>
        <p:spPr>
          <a:xfrm>
            <a:off x="7797800" y="3378200"/>
            <a:ext cx="1320800" cy="914400"/>
          </a:xfrm>
          <a:prstGeom prst="roundRect">
            <a:avLst>
              <a:gd name="adj" fmla="val 5000"/>
            </a:avLst>
          </a:prstGeom>
          <a:solidFill>
            <a:srgbClr val="FFF6EB"/>
          </a:solidFill>
          <a:ln w="10160">
            <a:solidFill>
              <a:srgbClr val="E77C18"/>
            </a:solidFill>
          </a:ln>
        </p:spPr>
      </p:sp>
      <p:sp>
        <p:nvSpPr>
          <p:cNvPr id="75" name="Adaptive weighted fusion"/>
          <p:cNvSpPr/>
          <p:nvPr/>
        </p:nvSpPr>
        <p:spPr>
          <a:xfrm>
            <a:off x="9448800" y="3136900"/>
            <a:ext cx="1473200" cy="1397000"/>
          </a:xfrm>
          <a:prstGeom prst="roundRect">
            <a:avLst>
              <a:gd name="adj" fmla="val 5000"/>
            </a:avLst>
          </a:prstGeom>
          <a:solidFill>
            <a:srgbClr val="F2F3FC"/>
          </a:solidFill>
          <a:ln w="12700">
            <a:solidFill>
              <a:srgbClr val="7160BC"/>
            </a:solidFill>
          </a:ln>
        </p:spPr>
      </p:sp>
      <p:sp>
        <p:nvSpPr>
          <p:cNvPr id="84" name="3D detection head"/>
          <p:cNvSpPr/>
          <p:nvPr/>
        </p:nvSpPr>
        <p:spPr>
          <a:xfrm>
            <a:off x="11099800" y="3467100"/>
            <a:ext cx="736600" cy="736600"/>
          </a:xfrm>
          <a:prstGeom prst="roundRect">
            <a:avLst>
              <a:gd name="adj" fmla="val 5000"/>
            </a:avLst>
          </a:prstGeom>
          <a:solidFill>
            <a:srgbClr val="EEF6FC"/>
          </a:solidFill>
          <a:ln w="10160">
            <a:solidFill>
              <a:srgbClr val="004A9F"/>
            </a:solidFill>
          </a:ln>
        </p:spPr>
      </p:sp>
      <p:sp>
        <p:nvSpPr>
          <p:cNvPr id="10" name="Section"/>
          <p:cNvSpPr txBox="1"/>
          <p:nvPr/>
        </p:nvSpPr>
        <p:spPr>
          <a:xfrm>
            <a:off x="355600" y="215900"/>
            <a:ext cx="609600" cy="457200"/>
          </a:xfrm>
          <a:prstGeom prst="rect">
            <a:avLst/>
          </a:prstGeom>
          <a:noFill/>
          <a:ln w="10160">
            <a:noFill/>
          </a:ln>
        </p:spPr>
        <p:txBody>
          <a:bodyPr wrap="square" lIns="0" tIns="0" rIns="0" bIns="0" anchor="ctr">
            <a:noAutofit/>
          </a:bodyPr>
          <a:lstStyle/>
          <a:p>
            <a:pPr marL="0" marR="0" algn="l">
              <a:lnSpc>
                <a:spcPts val="3585"/>
              </a:lnSpc>
              <a:buNone/>
            </a:pPr>
            <a:r>
              <a:rPr lang="zh-CN" sz="28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sz="2800"/>
          </a:p>
        </p:txBody>
      </p:sp>
      <p:sp>
        <p:nvSpPr>
          <p:cNvPr id="12" name="Slide title"/>
          <p:cNvSpPr txBox="1"/>
          <p:nvPr/>
        </p:nvSpPr>
        <p:spPr>
          <a:xfrm>
            <a:off x="1371600" y="215900"/>
            <a:ext cx="10464800" cy="457200"/>
          </a:xfrm>
          <a:prstGeom prst="rect">
            <a:avLst/>
          </a:prstGeom>
          <a:noFill/>
          <a:ln w="10160">
            <a:noFill/>
          </a:ln>
        </p:spPr>
        <p:txBody>
          <a:bodyPr wrap="square" lIns="0" tIns="0" rIns="0" bIns="0" anchor="ctr">
            <a:noAutofit/>
          </a:bodyPr>
          <a:lstStyle/>
          <a:p>
            <a:pPr marL="0" marR="0" algn="l">
              <a:lnSpc>
                <a:spcPts val="3330"/>
              </a:lnSpc>
              <a:buNone/>
            </a:pPr>
            <a:r>
              <a:rPr lang="zh-CN" sz="260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技术路线二：质量引导的自适应融合</a:t>
            </a:r>
            <a:endParaRPr lang="zh-CN" sz="2600"/>
          </a:p>
        </p:txBody>
      </p:sp>
      <p:sp>
        <p:nvSpPr>
          <p:cNvPr id="14" name="Subtitle"/>
          <p:cNvSpPr txBox="1"/>
          <p:nvPr/>
        </p:nvSpPr>
        <p:spPr>
          <a:xfrm>
            <a:off x="368300" y="927100"/>
            <a:ext cx="11455400" cy="342900"/>
          </a:xfrm>
          <a:prstGeom prst="rect">
            <a:avLst/>
          </a:prstGeom>
          <a:noFill/>
          <a:ln w="10160">
            <a:noFill/>
          </a:ln>
        </p:spPr>
        <p:txBody>
          <a:bodyPr wrap="square" lIns="0" tIns="0" rIns="0" bIns="0" anchor="ctr">
            <a:noAutofit/>
          </a:bodyPr>
          <a:lstStyle/>
          <a:p>
            <a:pPr marL="0" marR="0" algn="l">
              <a:lnSpc>
                <a:spcPts val="1730"/>
              </a:lnSpc>
              <a:buNone/>
            </a:pPr>
            <a:r>
              <a:rPr lang="zh-CN" sz="13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拟在MVX-Net融合环节引入输入质量调节</a:t>
            </a:r>
            <a:endParaRPr lang="zh-CN" sz="1350"/>
          </a:p>
        </p:txBody>
      </p:sp>
      <p:sp>
        <p:nvSpPr>
          <p:cNvPr id="15" name="Page number"/>
          <p:cNvSpPr txBox="1"/>
          <p:nvPr/>
        </p:nvSpPr>
        <p:spPr>
          <a:xfrm>
            <a:off x="11569700" y="6604000"/>
            <a:ext cx="342900" cy="203200"/>
          </a:xfrm>
          <a:prstGeom prst="rect">
            <a:avLst/>
          </a:prstGeom>
          <a:noFill/>
          <a:ln w="10160">
            <a:noFill/>
          </a:ln>
        </p:spPr>
        <p:txBody>
          <a:bodyPr wrap="square" lIns="0" tIns="0" rIns="0" bIns="0" anchor="ctr">
            <a:noAutofit/>
          </a:bodyPr>
          <a:lstStyle/>
          <a:p>
            <a:pPr marL="0" marR="0" algn="r">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17</a:t>
            </a:r>
            <a:endParaRPr lang="zh-CN" sz="1150"/>
          </a:p>
        </p:txBody>
      </p:sp>
      <p:sp>
        <p:nvSpPr>
          <p:cNvPr id="17" name="Feature flow legend"/>
          <p:cNvSpPr txBox="1"/>
          <p:nvPr/>
        </p:nvSpPr>
        <p:spPr>
          <a:xfrm>
            <a:off x="9563100" y="889000"/>
            <a:ext cx="2260600" cy="228600"/>
          </a:xfrm>
          <a:prstGeom prst="rect">
            <a:avLst/>
          </a:prstGeom>
          <a:noFill/>
          <a:ln w="10160">
            <a:noFill/>
          </a:ln>
        </p:spPr>
        <p:txBody>
          <a:bodyPr wrap="square" lIns="0" tIns="0" rIns="0" bIns="0" anchor="ctr">
            <a:noAutofit/>
          </a:bodyPr>
          <a:lstStyle/>
          <a:p>
            <a:pPr marL="0" marR="0" algn="l">
              <a:lnSpc>
                <a:spcPts val="1460"/>
              </a:lnSpc>
              <a:buNone/>
            </a:pPr>
            <a:r>
              <a:rPr lang="zh-CN" sz="114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实线：数据与特征流</a:t>
            </a:r>
            <a:endParaRPr lang="zh-CN" sz="1140"/>
          </a:p>
        </p:txBody>
      </p:sp>
      <p:sp>
        <p:nvSpPr>
          <p:cNvPr id="19" name="Weight control legend"/>
          <p:cNvSpPr txBox="1"/>
          <p:nvPr/>
        </p:nvSpPr>
        <p:spPr>
          <a:xfrm>
            <a:off x="9563100" y="1104900"/>
            <a:ext cx="2260600" cy="228600"/>
          </a:xfrm>
          <a:prstGeom prst="rect">
            <a:avLst/>
          </a:prstGeom>
          <a:noFill/>
          <a:ln w="10160">
            <a:noFill/>
          </a:ln>
        </p:spPr>
        <p:txBody>
          <a:bodyPr wrap="square" lIns="0" tIns="0" rIns="0" bIns="0" anchor="ctr">
            <a:noAutofit/>
          </a:bodyPr>
          <a:lstStyle/>
          <a:p>
            <a:pPr marL="0" marR="0" algn="l">
              <a:lnSpc>
                <a:spcPts val="1460"/>
              </a:lnSpc>
              <a:buNone/>
            </a:pPr>
            <a:r>
              <a:rPr lang="zh-CN" sz="114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虚线：权重调节</a:t>
            </a:r>
            <a:endParaRPr lang="zh-CN" sz="1140"/>
          </a:p>
        </p:txBody>
      </p:sp>
      <p:sp>
        <p:nvSpPr>
          <p:cNvPr id="21" name="RGB input label"/>
          <p:cNvSpPr txBox="1"/>
          <p:nvPr/>
        </p:nvSpPr>
        <p:spPr>
          <a:xfrm>
            <a:off x="431800" y="2082800"/>
            <a:ext cx="1270000" cy="609600"/>
          </a:xfrm>
          <a:prstGeom prst="rect">
            <a:avLst/>
          </a:prstGeom>
          <a:noFill/>
          <a:ln w="10160">
            <a:noFill/>
          </a:ln>
        </p:spPr>
        <p:txBody>
          <a:bodyPr wrap="square" lIns="0" tIns="0" rIns="0" bIns="0" anchor="ctr">
            <a:noAutofit/>
          </a:bodyPr>
          <a:lstStyle/>
          <a:p>
            <a:pPr marL="0" marR="0" algn="ctr">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图像输入</a:t>
            </a:r>
            <a:endParaRPr lang="zh-CN" sz="1600"/>
          </a:p>
        </p:txBody>
      </p:sp>
      <p:sp>
        <p:nvSpPr>
          <p:cNvPr id="23" name="Lidar input label"/>
          <p:cNvSpPr txBox="1"/>
          <p:nvPr/>
        </p:nvSpPr>
        <p:spPr>
          <a:xfrm>
            <a:off x="431800" y="4902200"/>
            <a:ext cx="1270000" cy="609600"/>
          </a:xfrm>
          <a:prstGeom prst="rect">
            <a:avLst/>
          </a:prstGeom>
          <a:noFill/>
          <a:ln w="10160">
            <a:noFill/>
          </a:ln>
        </p:spPr>
        <p:txBody>
          <a:bodyPr wrap="square" lIns="0" tIns="0" rIns="0" bIns="0" anchor="ctr">
            <a:noAutofit/>
          </a:bodyPr>
          <a:lstStyle/>
          <a:p>
            <a:pPr marL="0" marR="0" algn="ctr">
              <a:lnSpc>
                <a:spcPts val="2050"/>
              </a:lnSpc>
              <a:buNone/>
            </a:pPr>
            <a:r>
              <a:rPr lang="zh-CN" sz="16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点云输入</a:t>
            </a:r>
            <a:endParaRPr lang="zh-CN" sz="1600"/>
          </a:p>
        </p:txBody>
      </p:sp>
      <p:sp>
        <p:nvSpPr>
          <p:cNvPr id="25" name="Image feature encoder label"/>
          <p:cNvSpPr txBox="1"/>
          <p:nvPr/>
        </p:nvSpPr>
        <p:spPr>
          <a:xfrm>
            <a:off x="2387600" y="1651000"/>
            <a:ext cx="1651000" cy="292100"/>
          </a:xfrm>
          <a:prstGeom prst="rect">
            <a:avLst/>
          </a:prstGeom>
          <a:noFill/>
          <a:ln w="10160">
            <a:noFill/>
          </a:ln>
        </p:spPr>
        <p:txBody>
          <a:bodyPr wrap="square" lIns="0" tIns="0" rIns="0" bIns="0" anchor="ctr">
            <a:noAutofit/>
          </a:bodyPr>
          <a:lstStyle/>
          <a:p>
            <a:pPr marL="0" marR="0" algn="ctr">
              <a:lnSpc>
                <a:spcPts val="1920"/>
              </a:lnSpc>
              <a:buNone/>
            </a:pPr>
            <a:r>
              <a:rPr lang="zh-CN" sz="15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图像特征提取</a:t>
            </a:r>
            <a:endParaRPr lang="zh-CN" sz="1500"/>
          </a:p>
        </p:txBody>
      </p:sp>
      <p:sp>
        <p:nvSpPr>
          <p:cNvPr id="27" name="Image quality metrics heading"/>
          <p:cNvSpPr txBox="1"/>
          <p:nvPr/>
        </p:nvSpPr>
        <p:spPr>
          <a:xfrm>
            <a:off x="2425700" y="2819400"/>
            <a:ext cx="1574800" cy="292100"/>
          </a:xfrm>
          <a:prstGeom prst="rect">
            <a:avLst/>
          </a:prstGeom>
          <a:noFill/>
          <a:ln w="10160">
            <a:noFill/>
          </a:ln>
        </p:spPr>
        <p:txBody>
          <a:bodyPr wrap="square" lIns="0" tIns="0" rIns="0" bIns="0" anchor="ctr">
            <a:noAutofit/>
          </a:bodyPr>
          <a:lstStyle/>
          <a:p>
            <a:pPr marL="0" marR="0" algn="l">
              <a:lnSpc>
                <a:spcPts val="1755"/>
              </a:lnSpc>
              <a:buNone/>
            </a:pPr>
            <a:r>
              <a:rPr lang="zh-CN" sz="137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图像质量指标</a:t>
            </a:r>
            <a:endParaRPr lang="zh-CN" sz="1370"/>
          </a:p>
        </p:txBody>
      </p:sp>
      <p:sp>
        <p:nvSpPr>
          <p:cNvPr id="28" name="Image quality metrics detail"/>
          <p:cNvSpPr txBox="1"/>
          <p:nvPr/>
        </p:nvSpPr>
        <p:spPr>
          <a:xfrm>
            <a:off x="2425700" y="3124200"/>
            <a:ext cx="1574800" cy="381000"/>
          </a:xfrm>
          <a:prstGeom prst="rect">
            <a:avLst/>
          </a:prstGeom>
          <a:noFill/>
          <a:ln w="10160">
            <a:noFill/>
          </a:ln>
        </p:spPr>
        <p:txBody>
          <a:bodyPr wrap="square" lIns="0" tIns="0" rIns="0" bIns="0" anchor="ctr">
            <a:noAutofit/>
          </a:bodyPr>
          <a:lstStyle/>
          <a:p>
            <a:pPr marL="0" marR="0" algn="l">
              <a:lnSpc>
                <a:spcPts val="1355"/>
              </a:lnSpc>
              <a:buNone/>
            </a:pPr>
            <a:r>
              <a:rPr lang="zh-CN" sz="106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亮度 / 清晰度</a:t>
            </a:r>
            <a:endParaRPr lang="zh-CN" sz="1060"/>
          </a:p>
          <a:p>
            <a:pPr marL="0" marR="0" algn="l">
              <a:lnSpc>
                <a:spcPts val="1355"/>
              </a:lnSpc>
              <a:buNone/>
            </a:pPr>
            <a:r>
              <a:rPr lang="zh-CN" sz="106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对比度 / 噪声</a:t>
            </a:r>
            <a:endParaRPr lang="zh-CN" sz="1060"/>
          </a:p>
        </p:txBody>
      </p:sp>
      <p:sp>
        <p:nvSpPr>
          <p:cNvPr id="30" name="Lidar quality metrics heading"/>
          <p:cNvSpPr txBox="1"/>
          <p:nvPr/>
        </p:nvSpPr>
        <p:spPr>
          <a:xfrm>
            <a:off x="2425700" y="4216400"/>
            <a:ext cx="1574800" cy="292100"/>
          </a:xfrm>
          <a:prstGeom prst="rect">
            <a:avLst/>
          </a:prstGeom>
          <a:noFill/>
          <a:ln w="10160">
            <a:noFill/>
          </a:ln>
        </p:spPr>
        <p:txBody>
          <a:bodyPr wrap="square" lIns="0" tIns="0" rIns="0" bIns="0" anchor="ctr">
            <a:noAutofit/>
          </a:bodyPr>
          <a:lstStyle/>
          <a:p>
            <a:pPr marL="0" marR="0" algn="l">
              <a:lnSpc>
                <a:spcPts val="1755"/>
              </a:lnSpc>
              <a:buNone/>
            </a:pPr>
            <a:r>
              <a:rPr lang="zh-CN" sz="137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点云质量指标</a:t>
            </a:r>
            <a:endParaRPr lang="zh-CN" sz="1370"/>
          </a:p>
        </p:txBody>
      </p:sp>
      <p:sp>
        <p:nvSpPr>
          <p:cNvPr id="31" name="Lidar quality metrics detail"/>
          <p:cNvSpPr txBox="1"/>
          <p:nvPr/>
        </p:nvSpPr>
        <p:spPr>
          <a:xfrm>
            <a:off x="2425700" y="4521200"/>
            <a:ext cx="1574800" cy="381000"/>
          </a:xfrm>
          <a:prstGeom prst="rect">
            <a:avLst/>
          </a:prstGeom>
          <a:noFill/>
          <a:ln w="10160">
            <a:noFill/>
          </a:ln>
        </p:spPr>
        <p:txBody>
          <a:bodyPr wrap="square" lIns="0" tIns="0" rIns="0" bIns="0" anchor="ctr">
            <a:noAutofit/>
          </a:bodyPr>
          <a:lstStyle/>
          <a:p>
            <a:pPr marL="0" marR="0" algn="l">
              <a:lnSpc>
                <a:spcPts val="1355"/>
              </a:lnSpc>
              <a:buNone/>
            </a:pPr>
            <a:r>
              <a:rPr lang="zh-CN" sz="106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点密度 / 有效点</a:t>
            </a:r>
            <a:endParaRPr lang="zh-CN" sz="1060"/>
          </a:p>
          <a:p>
            <a:pPr marL="0" marR="0" algn="l">
              <a:lnSpc>
                <a:spcPts val="1355"/>
              </a:lnSpc>
              <a:buNone/>
            </a:pPr>
            <a:r>
              <a:rPr lang="zh-CN" sz="106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覆盖度 / 局部结构</a:t>
            </a:r>
            <a:endParaRPr lang="zh-CN" sz="1060"/>
          </a:p>
        </p:txBody>
      </p:sp>
      <p:sp>
        <p:nvSpPr>
          <p:cNvPr id="33" name="Lidar feature encoder label"/>
          <p:cNvSpPr txBox="1"/>
          <p:nvPr/>
        </p:nvSpPr>
        <p:spPr>
          <a:xfrm>
            <a:off x="2387600" y="5283200"/>
            <a:ext cx="1651000" cy="292100"/>
          </a:xfrm>
          <a:prstGeom prst="rect">
            <a:avLst/>
          </a:prstGeom>
          <a:noFill/>
          <a:ln w="10160">
            <a:noFill/>
          </a:ln>
        </p:spPr>
        <p:txBody>
          <a:bodyPr wrap="square" lIns="0" tIns="0" rIns="0" bIns="0" anchor="ctr">
            <a:noAutofit/>
          </a:bodyPr>
          <a:lstStyle/>
          <a:p>
            <a:pPr marL="0" marR="0" algn="ctr">
              <a:lnSpc>
                <a:spcPts val="1920"/>
              </a:lnSpc>
              <a:buNone/>
            </a:pPr>
            <a:r>
              <a:rPr lang="zh-CN" sz="15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点云特征提取</a:t>
            </a:r>
            <a:endParaRPr lang="zh-CN" sz="1500"/>
          </a:p>
        </p:txBody>
      </p:sp>
      <p:sp>
        <p:nvSpPr>
          <p:cNvPr id="50" name="Image features label"/>
          <p:cNvSpPr txBox="1"/>
          <p:nvPr/>
        </p:nvSpPr>
        <p:spPr>
          <a:xfrm>
            <a:off x="4368800" y="1409700"/>
            <a:ext cx="1092200" cy="254000"/>
          </a:xfrm>
          <a:prstGeom prst="rect">
            <a:avLst/>
          </a:prstGeom>
          <a:noFill/>
          <a:ln w="10160">
            <a:noFill/>
          </a:ln>
        </p:spPr>
        <p:txBody>
          <a:bodyPr wrap="square" lIns="0" tIns="0" rIns="0" bIns="0" anchor="ctr">
            <a:noAutofit/>
          </a:bodyPr>
          <a:lstStyle/>
          <a:p>
            <a:pPr marL="0" marR="0" algn="ctr">
              <a:lnSpc>
                <a:spcPts val="1615"/>
              </a:lnSpc>
              <a:buNone/>
            </a:pPr>
            <a:r>
              <a:rPr lang="zh-CN" sz="126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图像特征 F_I</a:t>
            </a:r>
            <a:endParaRPr lang="zh-CN" sz="1260"/>
          </a:p>
        </p:txBody>
      </p:sp>
      <p:sp>
        <p:nvSpPr>
          <p:cNvPr id="53" name="Calibration alignment label"/>
          <p:cNvSpPr txBox="1"/>
          <p:nvPr/>
        </p:nvSpPr>
        <p:spPr>
          <a:xfrm>
            <a:off x="5715000" y="1828800"/>
            <a:ext cx="1041400" cy="393700"/>
          </a:xfrm>
          <a:prstGeom prst="rect">
            <a:avLst/>
          </a:prstGeom>
          <a:noFill/>
          <a:ln w="10160">
            <a:noFill/>
          </a:ln>
        </p:spPr>
        <p:txBody>
          <a:bodyPr wrap="square" lIns="0" tIns="0" rIns="0" bIns="0" anchor="ctr">
            <a:noAutofit/>
          </a:bodyPr>
          <a:lstStyle/>
          <a:p>
            <a:pPr marL="0" marR="0" algn="ctr">
              <a:lnSpc>
                <a:spcPts val="1790"/>
              </a:lnSpc>
              <a:buNone/>
            </a:pPr>
            <a:r>
              <a:rPr lang="zh-CN" sz="14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标定对齐</a:t>
            </a:r>
            <a:endParaRPr lang="zh-CN" sz="1400"/>
          </a:p>
        </p:txBody>
      </p:sp>
      <p:sp>
        <p:nvSpPr>
          <p:cNvPr id="59" name="Lidar features label"/>
          <p:cNvSpPr txBox="1"/>
          <p:nvPr/>
        </p:nvSpPr>
        <p:spPr>
          <a:xfrm>
            <a:off x="4368800" y="4991100"/>
            <a:ext cx="1092200" cy="254000"/>
          </a:xfrm>
          <a:prstGeom prst="rect">
            <a:avLst/>
          </a:prstGeom>
          <a:noFill/>
          <a:ln w="10160">
            <a:noFill/>
          </a:ln>
        </p:spPr>
        <p:txBody>
          <a:bodyPr wrap="square" lIns="0" tIns="0" rIns="0" bIns="0" anchor="ctr">
            <a:noAutofit/>
          </a:bodyPr>
          <a:lstStyle/>
          <a:p>
            <a:pPr marL="0" marR="0" algn="ctr">
              <a:lnSpc>
                <a:spcPts val="1615"/>
              </a:lnSpc>
              <a:buNone/>
            </a:pPr>
            <a:r>
              <a:rPr lang="zh-CN" sz="126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点云特征 F_L</a:t>
            </a:r>
            <a:endParaRPr lang="zh-CN" sz="1260"/>
          </a:p>
        </p:txBody>
      </p:sp>
      <p:sp>
        <p:nvSpPr>
          <p:cNvPr id="62" name="Normalized quality vector label"/>
          <p:cNvSpPr txBox="1"/>
          <p:nvPr/>
        </p:nvSpPr>
        <p:spPr>
          <a:xfrm>
            <a:off x="4572000" y="3467100"/>
            <a:ext cx="1295400" cy="736600"/>
          </a:xfrm>
          <a:prstGeom prst="rect">
            <a:avLst/>
          </a:prstGeom>
          <a:noFill/>
          <a:ln w="10160">
            <a:noFill/>
          </a:ln>
        </p:spPr>
        <p:txBody>
          <a:bodyPr wrap="square" lIns="0" tIns="0" rIns="0" bIns="0" anchor="ctr">
            <a:noAutofit/>
          </a:bodyPr>
          <a:lstStyle/>
          <a:p>
            <a:pPr marL="0" marR="0" algn="ctr">
              <a:lnSpc>
                <a:spcPts val="1730"/>
              </a:lnSpc>
              <a:buNone/>
            </a:pPr>
            <a:r>
              <a:rPr lang="zh-CN" sz="13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归一化与</a:t>
            </a:r>
            <a:endParaRPr lang="zh-CN" sz="1350"/>
          </a:p>
          <a:p>
            <a:pPr marL="0" marR="0" algn="ctr">
              <a:lnSpc>
                <a:spcPts val="1730"/>
              </a:lnSpc>
              <a:buNone/>
            </a:pPr>
            <a:r>
              <a:rPr lang="zh-CN" sz="13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质量向量</a:t>
            </a:r>
            <a:endParaRPr lang="zh-CN" sz="1350"/>
          </a:p>
        </p:txBody>
      </p:sp>
      <p:sp>
        <p:nvSpPr>
          <p:cNvPr id="64" name="MLP and Softmax controller label"/>
          <p:cNvSpPr txBox="1"/>
          <p:nvPr/>
        </p:nvSpPr>
        <p:spPr>
          <a:xfrm>
            <a:off x="6311900" y="3467100"/>
            <a:ext cx="1117600" cy="736600"/>
          </a:xfrm>
          <a:prstGeom prst="rect">
            <a:avLst/>
          </a:prstGeom>
          <a:noFill/>
          <a:ln w="10160">
            <a:noFill/>
          </a:ln>
        </p:spPr>
        <p:txBody>
          <a:bodyPr wrap="square" lIns="0" tIns="0" rIns="0" bIns="0" anchor="ctr">
            <a:noAutofit/>
          </a:bodyPr>
          <a:lstStyle/>
          <a:p>
            <a:pPr marL="0" marR="0" algn="ctr">
              <a:lnSpc>
                <a:spcPts val="2175"/>
              </a:lnSpc>
              <a:buNone/>
            </a:pPr>
            <a:r>
              <a:rPr lang="zh-CN" sz="17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MLP +</a:t>
            </a:r>
            <a:endParaRPr lang="zh-CN" sz="1700"/>
          </a:p>
          <a:p>
            <a:pPr marL="0" marR="0" algn="ctr">
              <a:lnSpc>
                <a:spcPts val="2175"/>
              </a:lnSpc>
              <a:buNone/>
            </a:pPr>
            <a:r>
              <a:rPr lang="zh-CN" sz="17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Softmax</a:t>
            </a:r>
            <a:endParaRPr lang="zh-CN" sz="1700"/>
          </a:p>
        </p:txBody>
      </p:sp>
      <p:sp>
        <p:nvSpPr>
          <p:cNvPr id="66" name="Two modality weights label"/>
          <p:cNvSpPr txBox="1"/>
          <p:nvPr/>
        </p:nvSpPr>
        <p:spPr>
          <a:xfrm>
            <a:off x="7874000" y="3416300"/>
            <a:ext cx="1168400" cy="838200"/>
          </a:xfrm>
          <a:prstGeom prst="rect">
            <a:avLst/>
          </a:prstGeom>
          <a:noFill/>
          <a:ln w="10160">
            <a:noFill/>
          </a:ln>
        </p:spPr>
        <p:txBody>
          <a:bodyPr wrap="square" lIns="0" tIns="0" rIns="0" bIns="0" anchor="ctr">
            <a:noAutofit/>
          </a:bodyPr>
          <a:lstStyle/>
          <a:p>
            <a:pPr marL="0" marR="0" algn="ctr">
              <a:lnSpc>
                <a:spcPts val="1640"/>
              </a:lnSpc>
              <a:buNone/>
            </a:pPr>
            <a:r>
              <a:rPr lang="zh-CN" sz="128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图像权重 w_I</a:t>
            </a:r>
            <a:endParaRPr lang="zh-CN" sz="1280"/>
          </a:p>
          <a:p>
            <a:pPr marL="0" marR="0" algn="ctr">
              <a:lnSpc>
                <a:spcPts val="1640"/>
              </a:lnSpc>
              <a:buNone/>
            </a:pPr>
            <a:r>
              <a:rPr lang="zh-CN" sz="128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点云权重 w_L</a:t>
            </a:r>
            <a:endParaRPr lang="zh-CN" sz="1280"/>
          </a:p>
        </p:txBody>
      </p:sp>
      <p:sp>
        <p:nvSpPr>
          <p:cNvPr id="76" name="Adaptive fusion heading"/>
          <p:cNvSpPr txBox="1"/>
          <p:nvPr/>
        </p:nvSpPr>
        <p:spPr>
          <a:xfrm>
            <a:off x="9525000" y="3263900"/>
            <a:ext cx="1320800" cy="317500"/>
          </a:xfrm>
          <a:prstGeom prst="rect">
            <a:avLst/>
          </a:prstGeom>
          <a:noFill/>
          <a:ln w="10160">
            <a:noFill/>
          </a:ln>
        </p:spPr>
        <p:txBody>
          <a:bodyPr wrap="square" lIns="0" tIns="0" rIns="0" bIns="0" anchor="ctr">
            <a:noAutofit/>
          </a:bodyPr>
          <a:lstStyle/>
          <a:p>
            <a:pPr marL="0" marR="0" algn="ctr">
              <a:lnSpc>
                <a:spcPts val="2075"/>
              </a:lnSpc>
              <a:buNone/>
            </a:pPr>
            <a:r>
              <a:rPr lang="zh-CN" sz="162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自适应融合</a:t>
            </a:r>
            <a:endParaRPr lang="zh-CN" sz="1620"/>
          </a:p>
        </p:txBody>
      </p:sp>
      <p:sp>
        <p:nvSpPr>
          <p:cNvPr id="77" name="Adaptive fusion operations"/>
          <p:cNvSpPr txBox="1"/>
          <p:nvPr/>
        </p:nvSpPr>
        <p:spPr>
          <a:xfrm>
            <a:off x="9537700" y="3670300"/>
            <a:ext cx="1295400" cy="520700"/>
          </a:xfrm>
          <a:prstGeom prst="rect">
            <a:avLst/>
          </a:prstGeom>
          <a:noFill/>
          <a:ln w="10160">
            <a:noFill/>
          </a:ln>
        </p:spPr>
        <p:txBody>
          <a:bodyPr wrap="square" lIns="0" tIns="0" rIns="0" bIns="0" anchor="ctr">
            <a:noAutofit/>
          </a:bodyPr>
          <a:lstStyle/>
          <a:p>
            <a:pPr marL="0" marR="0" algn="ctr">
              <a:lnSpc>
                <a:spcPts val="1730"/>
              </a:lnSpc>
              <a:buNone/>
            </a:pPr>
            <a:r>
              <a:rPr lang="zh-CN" sz="13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门控加权</a:t>
            </a:r>
            <a:endParaRPr lang="zh-CN" sz="1350"/>
          </a:p>
          <a:p>
            <a:pPr marL="0" marR="0" algn="ctr">
              <a:lnSpc>
                <a:spcPts val="1730"/>
              </a:lnSpc>
              <a:buNone/>
            </a:pPr>
            <a:r>
              <a:rPr lang="zh-CN" sz="13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加权拼接</a:t>
            </a:r>
            <a:endParaRPr lang="zh-CN" sz="1350"/>
          </a:p>
        </p:txBody>
      </p:sp>
      <p:sp>
        <p:nvSpPr>
          <p:cNvPr id="78" name="Matched modality weights"/>
          <p:cNvSpPr txBox="1"/>
          <p:nvPr/>
        </p:nvSpPr>
        <p:spPr>
          <a:xfrm>
            <a:off x="9525000" y="4229100"/>
            <a:ext cx="1320800" cy="215900"/>
          </a:xfrm>
          <a:prstGeom prst="rect">
            <a:avLst/>
          </a:prstGeom>
          <a:noFill/>
          <a:ln w="10160">
            <a:noFill/>
          </a:ln>
        </p:spPr>
        <p:txBody>
          <a:bodyPr wrap="square" lIns="0" tIns="0" rIns="0" bIns="0" anchor="ctr">
            <a:noAutofit/>
          </a:bodyPr>
          <a:lstStyle/>
          <a:p>
            <a:pPr marL="0" marR="0" algn="ctr">
              <a:lnSpc>
                <a:spcPts val="1215"/>
              </a:lnSpc>
              <a:buNone/>
            </a:pPr>
            <a:r>
              <a:rPr lang="zh-CN" sz="9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两路权重分别调节</a:t>
            </a:r>
            <a:endParaRPr lang="zh-CN" sz="950"/>
          </a:p>
        </p:txBody>
      </p:sp>
      <p:sp>
        <p:nvSpPr>
          <p:cNvPr id="85" name="3D detection head label"/>
          <p:cNvSpPr txBox="1"/>
          <p:nvPr/>
        </p:nvSpPr>
        <p:spPr>
          <a:xfrm>
            <a:off x="11176000" y="3505200"/>
            <a:ext cx="584200" cy="660400"/>
          </a:xfrm>
          <a:prstGeom prst="rect">
            <a:avLst/>
          </a:prstGeom>
          <a:noFill/>
          <a:ln w="10160">
            <a:noFill/>
          </a:ln>
        </p:spPr>
        <p:txBody>
          <a:bodyPr wrap="square" lIns="0" tIns="0" rIns="0" bIns="0" anchor="ctr">
            <a:noAutofit/>
          </a:bodyPr>
          <a:lstStyle/>
          <a:p>
            <a:pPr marL="0" marR="0" algn="ctr">
              <a:lnSpc>
                <a:spcPts val="1765"/>
              </a:lnSpc>
              <a:buNone/>
            </a:pPr>
            <a:r>
              <a:rPr lang="zh-CN" sz="138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三维</a:t>
            </a:r>
            <a:endParaRPr lang="zh-CN" sz="1380"/>
          </a:p>
          <a:p>
            <a:pPr marL="0" marR="0" algn="ctr">
              <a:lnSpc>
                <a:spcPts val="1765"/>
              </a:lnSpc>
              <a:buNone/>
            </a:pPr>
            <a:r>
              <a:rPr lang="zh-CN" sz="138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检测头</a:t>
            </a:r>
            <a:endParaRPr lang="zh-CN" sz="1380"/>
          </a:p>
        </p:txBody>
      </p:sp>
      <p:sp>
        <p:nvSpPr>
          <p:cNvPr id="87" name="Training and baseline evaluation"/>
          <p:cNvSpPr txBox="1"/>
          <p:nvPr/>
        </p:nvSpPr>
        <p:spPr>
          <a:xfrm>
            <a:off x="355600" y="6235700"/>
            <a:ext cx="11480800" cy="368300"/>
          </a:xfrm>
          <a:prstGeom prst="rect">
            <a:avLst/>
          </a:prstGeom>
          <a:solidFill>
            <a:srgbClr val="EEF6FC"/>
          </a:solidFill>
          <a:ln w="10160">
            <a:noFill/>
          </a:ln>
        </p:spPr>
        <p:txBody>
          <a:bodyPr wrap="square" lIns="0" tIns="0" rIns="0" bIns="0" anchor="ctr">
            <a:noAutofit/>
          </a:bodyPr>
          <a:lstStyle/>
          <a:p>
            <a:pPr marL="0" marR="0" algn="ctr">
              <a:lnSpc>
                <a:spcPts val="1995"/>
              </a:lnSpc>
              <a:buNone/>
            </a:pPr>
            <a:r>
              <a:rPr lang="zh-CN" sz="156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基于检测任务训练权重模块，对比原始MVX-Net验证效果</a:t>
            </a:r>
            <a:endParaRPr lang="zh-CN" sz="1560"/>
          </a:p>
        </p:txBody>
      </p:sp>
      <p:pic>
        <p:nvPicPr>
          <p:cNvPr id="88" name="Original illustration crop: image_encoder_blocks" descr="Exact crop from original image-based page 16; not detection evidence."/>
          <p:cNvPicPr>
            <a:picLocks noChangeAspect="1"/>
          </p:cNvPicPr>
          <p:nvPr/>
        </p:nvPicPr>
        <p:blipFill>
          <a:blip r:embed="rId1"/>
          <a:stretch>
            <a:fillRect/>
          </a:stretch>
        </p:blipFill>
        <p:spPr>
          <a:xfrm>
            <a:off x="2775797" y="1981200"/>
            <a:ext cx="887307" cy="406400"/>
          </a:xfrm>
          <a:prstGeom prst="rect">
            <a:avLst/>
          </a:prstGeom>
          <a:noFill/>
          <a:ln>
            <a:noFill/>
          </a:ln>
        </p:spPr>
      </p:pic>
      <p:pic>
        <p:nvPicPr>
          <p:cNvPr id="89" name="Original illustration crop: lidar_encoder_blocks" descr="Exact crop from original image-based page 16; not detection evidence."/>
          <p:cNvPicPr>
            <a:picLocks noChangeAspect="1"/>
          </p:cNvPicPr>
          <p:nvPr/>
        </p:nvPicPr>
        <p:blipFill>
          <a:blip r:embed="rId2"/>
          <a:stretch>
            <a:fillRect/>
          </a:stretch>
        </p:blipFill>
        <p:spPr>
          <a:xfrm>
            <a:off x="2774950" y="5588000"/>
            <a:ext cx="889000" cy="444500"/>
          </a:xfrm>
          <a:prstGeom prst="rect">
            <a:avLst/>
          </a:prstGeom>
          <a:noFill/>
          <a:ln>
            <a:noFill/>
          </a:ln>
        </p:spPr>
      </p:pic>
      <p:pic>
        <p:nvPicPr>
          <p:cNvPr id="90" name="Original illustration crop: image_feature_stack" descr="Exact crop from original image-based page 16; not detection evidence."/>
          <p:cNvPicPr>
            <a:picLocks noChangeAspect="1"/>
          </p:cNvPicPr>
          <p:nvPr/>
        </p:nvPicPr>
        <p:blipFill>
          <a:blip r:embed="rId3"/>
          <a:stretch>
            <a:fillRect/>
          </a:stretch>
        </p:blipFill>
        <p:spPr>
          <a:xfrm>
            <a:off x="4500245" y="1676400"/>
            <a:ext cx="613410" cy="800100"/>
          </a:xfrm>
          <a:prstGeom prst="rect">
            <a:avLst/>
          </a:prstGeom>
          <a:noFill/>
          <a:ln>
            <a:noFill/>
          </a:ln>
        </p:spPr>
      </p:pic>
      <p:pic>
        <p:nvPicPr>
          <p:cNvPr id="91" name="Original illustration crop: lidar_feature_stack" descr="Exact crop from original image-based page 16; not detection evidence."/>
          <p:cNvPicPr>
            <a:picLocks noChangeAspect="1"/>
          </p:cNvPicPr>
          <p:nvPr/>
        </p:nvPicPr>
        <p:blipFill>
          <a:blip r:embed="rId4"/>
          <a:stretch>
            <a:fillRect/>
          </a:stretch>
        </p:blipFill>
        <p:spPr>
          <a:xfrm>
            <a:off x="4514137" y="5334000"/>
            <a:ext cx="585627" cy="723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图像质量指标 candidate area"/>
          <p:cNvSpPr/>
          <p:nvPr/>
        </p:nvSpPr>
        <p:spPr>
          <a:xfrm>
            <a:off x="355600" y="2603500"/>
            <a:ext cx="1930400" cy="1054100"/>
          </a:xfrm>
          <a:prstGeom prst="roundRect">
            <a:avLst>
              <a:gd name="adj" fmla="val 5000"/>
            </a:avLst>
          </a:prstGeom>
          <a:solidFill>
            <a:srgbClr val="EEF6FC"/>
          </a:solidFill>
          <a:ln w="8890">
            <a:solidFill>
              <a:srgbClr val="BDD7E9"/>
            </a:solidFill>
          </a:ln>
        </p:spPr>
      </p:sp>
      <p:sp>
        <p:nvSpPr>
          <p:cNvPr id="30" name="点云质量指标 candidate area"/>
          <p:cNvSpPr/>
          <p:nvPr/>
        </p:nvSpPr>
        <p:spPr>
          <a:xfrm>
            <a:off x="355600" y="3797300"/>
            <a:ext cx="1930400" cy="1054100"/>
          </a:xfrm>
          <a:prstGeom prst="roundRect">
            <a:avLst>
              <a:gd name="adj" fmla="val 5000"/>
            </a:avLst>
          </a:prstGeom>
          <a:solidFill>
            <a:srgbClr val="ECF8F6"/>
          </a:solidFill>
          <a:ln w="8890">
            <a:solidFill>
              <a:srgbClr val="BDD7E9"/>
            </a:solidFill>
          </a:ln>
        </p:spPr>
      </p:sp>
      <p:sp>
        <p:nvSpPr>
          <p:cNvPr id="42" name="Retained quality indicators"/>
          <p:cNvSpPr/>
          <p:nvPr/>
        </p:nvSpPr>
        <p:spPr>
          <a:xfrm>
            <a:off x="3098800" y="2667000"/>
            <a:ext cx="1841500" cy="2082800"/>
          </a:xfrm>
          <a:prstGeom prst="roundRect">
            <a:avLst>
              <a:gd name="adj" fmla="val 5000"/>
            </a:avLst>
          </a:prstGeom>
          <a:solidFill>
            <a:srgbClr val="ECF8F6"/>
          </a:solidFill>
          <a:ln w="8890">
            <a:solidFill>
              <a:srgbClr val="9ECFC6"/>
            </a:solidFill>
          </a:ln>
        </p:spPr>
      </p:sp>
      <p:sp>
        <p:nvSpPr>
          <p:cNvPr id="55" name="Compact controller area"/>
          <p:cNvSpPr/>
          <p:nvPr/>
        </p:nvSpPr>
        <p:spPr>
          <a:xfrm>
            <a:off x="5613400" y="2603500"/>
            <a:ext cx="3505200" cy="2247900"/>
          </a:xfrm>
          <a:prstGeom prst="roundRect">
            <a:avLst>
              <a:gd name="adj" fmla="val 5000"/>
            </a:avLst>
          </a:prstGeom>
          <a:noFill/>
          <a:ln w="10160">
            <a:solidFill>
              <a:srgbClr val="71BBB8"/>
            </a:solidFill>
            <a:prstDash val="dash"/>
          </a:ln>
        </p:spPr>
      </p:sp>
      <p:sp>
        <p:nvSpPr>
          <p:cNvPr id="97" name="Added computation accounting band"/>
          <p:cNvSpPr/>
          <p:nvPr/>
        </p:nvSpPr>
        <p:spPr>
          <a:xfrm>
            <a:off x="355600" y="5143500"/>
            <a:ext cx="11480800" cy="838200"/>
          </a:xfrm>
          <a:prstGeom prst="roundRect">
            <a:avLst>
              <a:gd name="adj" fmla="val 5000"/>
            </a:avLst>
          </a:prstGeom>
          <a:solidFill>
            <a:srgbClr val="FFF9F0"/>
          </a:solidFill>
          <a:ln w="8890">
            <a:solidFill>
              <a:srgbClr val="E8B683"/>
            </a:solidFill>
            <a:prstDash val="dash"/>
          </a:ln>
        </p:spPr>
      </p:sp>
      <p:cxnSp>
        <p:nvCxnSpPr>
          <p:cNvPr id="11" name="Editable connector"/>
          <p:cNvCxnSpPr/>
          <p:nvPr/>
        </p:nvCxnSpPr>
        <p:spPr>
          <a:xfrm>
            <a:off x="1079500" y="254000"/>
            <a:ext cx="0" cy="330200"/>
          </a:xfrm>
          <a:prstGeom prst="line">
            <a:avLst/>
          </a:prstGeom>
          <a:ln w="8890" cap="flat">
            <a:solidFill>
              <a:srgbClr val="9AB9D8"/>
            </a:solidFill>
            <a:prstDash val="solid"/>
          </a:ln>
        </p:spPr>
      </p:cxnSp>
      <p:cxnSp>
        <p:nvCxnSpPr>
          <p:cNvPr id="13" name="Editable connector"/>
          <p:cNvCxnSpPr/>
          <p:nvPr/>
        </p:nvCxnSpPr>
        <p:spPr>
          <a:xfrm>
            <a:off x="355600" y="736600"/>
            <a:ext cx="11480800" cy="0"/>
          </a:xfrm>
          <a:prstGeom prst="line">
            <a:avLst/>
          </a:prstGeom>
          <a:ln w="10160" cap="flat">
            <a:solidFill>
              <a:srgbClr val="C8DBEC"/>
            </a:solidFill>
            <a:prstDash val="solid"/>
          </a:ln>
        </p:spPr>
      </p:cxnSp>
      <p:cxnSp>
        <p:nvCxnSpPr>
          <p:cNvPr id="36" name="Editable connector"/>
          <p:cNvCxnSpPr/>
          <p:nvPr/>
        </p:nvCxnSpPr>
        <p:spPr>
          <a:xfrm>
            <a:off x="2286000" y="3149600"/>
            <a:ext cx="279400" cy="0"/>
          </a:xfrm>
          <a:prstGeom prst="line">
            <a:avLst/>
          </a:prstGeom>
          <a:ln w="15875" cap="flat">
            <a:solidFill>
              <a:srgbClr val="004A9F"/>
            </a:solidFill>
            <a:prstDash val="solid"/>
          </a:ln>
        </p:spPr>
      </p:cxnSp>
      <p:cxnSp>
        <p:nvCxnSpPr>
          <p:cNvPr id="37" name="Editable connector"/>
          <p:cNvCxnSpPr/>
          <p:nvPr/>
        </p:nvCxnSpPr>
        <p:spPr>
          <a:xfrm>
            <a:off x="2565400" y="3149600"/>
            <a:ext cx="0" cy="584200"/>
          </a:xfrm>
          <a:prstGeom prst="line">
            <a:avLst/>
          </a:prstGeom>
          <a:ln w="15875" cap="flat">
            <a:solidFill>
              <a:srgbClr val="004A9F"/>
            </a:solidFill>
            <a:prstDash val="solid"/>
          </a:ln>
        </p:spPr>
      </p:cxnSp>
      <p:cxnSp>
        <p:nvCxnSpPr>
          <p:cNvPr id="38" name="Editable connector"/>
          <p:cNvCxnSpPr/>
          <p:nvPr/>
        </p:nvCxnSpPr>
        <p:spPr>
          <a:xfrm>
            <a:off x="2565400" y="3733800"/>
            <a:ext cx="393700" cy="0"/>
          </a:xfrm>
          <a:prstGeom prst="line">
            <a:avLst/>
          </a:prstGeom>
          <a:ln w="15875" cap="flat">
            <a:solidFill>
              <a:srgbClr val="004A9F"/>
            </a:solidFill>
            <a:prstDash val="solid"/>
            <a:tailEnd type="triangle" w="med" len="med"/>
          </a:ln>
        </p:spPr>
      </p:cxnSp>
      <p:cxnSp>
        <p:nvCxnSpPr>
          <p:cNvPr id="39" name="Editable connector"/>
          <p:cNvCxnSpPr/>
          <p:nvPr/>
        </p:nvCxnSpPr>
        <p:spPr>
          <a:xfrm>
            <a:off x="2286000" y="4343400"/>
            <a:ext cx="279400" cy="0"/>
          </a:xfrm>
          <a:prstGeom prst="line">
            <a:avLst/>
          </a:prstGeom>
          <a:ln w="15875" cap="flat">
            <a:solidFill>
              <a:srgbClr val="008C89"/>
            </a:solidFill>
            <a:prstDash val="solid"/>
          </a:ln>
        </p:spPr>
      </p:cxnSp>
      <p:cxnSp>
        <p:nvCxnSpPr>
          <p:cNvPr id="40" name="Editable connector"/>
          <p:cNvCxnSpPr/>
          <p:nvPr/>
        </p:nvCxnSpPr>
        <p:spPr>
          <a:xfrm flipV="1">
            <a:off x="2565400" y="3733800"/>
            <a:ext cx="0" cy="609600"/>
          </a:xfrm>
          <a:prstGeom prst="line">
            <a:avLst/>
          </a:prstGeom>
          <a:ln w="15875" cap="flat">
            <a:solidFill>
              <a:srgbClr val="008C89"/>
            </a:solidFill>
            <a:prstDash val="solid"/>
          </a:ln>
        </p:spPr>
      </p:cxnSp>
      <p:cxnSp>
        <p:nvCxnSpPr>
          <p:cNvPr id="54" name="Editable connector"/>
          <p:cNvCxnSpPr/>
          <p:nvPr/>
        </p:nvCxnSpPr>
        <p:spPr>
          <a:xfrm>
            <a:off x="4940300" y="3733800"/>
            <a:ext cx="165100" cy="0"/>
          </a:xfrm>
          <a:prstGeom prst="line">
            <a:avLst/>
          </a:prstGeom>
          <a:ln w="15875" cap="flat">
            <a:solidFill>
              <a:srgbClr val="004A9F"/>
            </a:solidFill>
            <a:prstDash val="solid"/>
            <a:tailEnd type="triangle" w="med" len="med"/>
          </a:ln>
        </p:spPr>
      </p:cxnSp>
      <p:cxnSp>
        <p:nvCxnSpPr>
          <p:cNvPr id="57" name="Editable connector"/>
          <p:cNvCxnSpPr/>
          <p:nvPr/>
        </p:nvCxnSpPr>
        <p:spPr>
          <a:xfrm>
            <a:off x="5359400" y="3733800"/>
            <a:ext cx="381000" cy="0"/>
          </a:xfrm>
          <a:prstGeom prst="line">
            <a:avLst/>
          </a:prstGeom>
          <a:ln w="15875" cap="flat">
            <a:solidFill>
              <a:srgbClr val="004A9F"/>
            </a:solidFill>
            <a:prstDash val="solid"/>
            <a:tailEnd type="triangle" w="med" len="med"/>
          </a:ln>
        </p:spPr>
      </p:cxnSp>
      <p:cxnSp>
        <p:nvCxnSpPr>
          <p:cNvPr id="74" name="Editable connector"/>
          <p:cNvCxnSpPr/>
          <p:nvPr/>
        </p:nvCxnSpPr>
        <p:spPr>
          <a:xfrm>
            <a:off x="5956300" y="3733800"/>
            <a:ext cx="317500" cy="0"/>
          </a:xfrm>
          <a:prstGeom prst="line">
            <a:avLst/>
          </a:prstGeom>
          <a:ln w="15875" cap="flat">
            <a:solidFill>
              <a:srgbClr val="004A9F"/>
            </a:solidFill>
            <a:prstDash val="solid"/>
            <a:tailEnd type="triangle" w="med" len="med"/>
          </a:ln>
        </p:spPr>
      </p:cxnSp>
      <p:cxnSp>
        <p:nvCxnSpPr>
          <p:cNvPr id="77" name="Editable connector"/>
          <p:cNvCxnSpPr/>
          <p:nvPr/>
        </p:nvCxnSpPr>
        <p:spPr>
          <a:xfrm>
            <a:off x="7277100" y="3873500"/>
            <a:ext cx="203200" cy="0"/>
          </a:xfrm>
          <a:prstGeom prst="line">
            <a:avLst/>
          </a:prstGeom>
          <a:ln w="15875" cap="flat">
            <a:solidFill>
              <a:srgbClr val="004A9F"/>
            </a:solidFill>
            <a:prstDash val="solid"/>
            <a:tailEnd type="triangle" w="med" len="med"/>
          </a:ln>
        </p:spPr>
      </p:cxnSp>
      <p:cxnSp>
        <p:nvCxnSpPr>
          <p:cNvPr id="82" name="Editable connector"/>
          <p:cNvCxnSpPr/>
          <p:nvPr/>
        </p:nvCxnSpPr>
        <p:spPr>
          <a:xfrm>
            <a:off x="8369300" y="3670300"/>
            <a:ext cx="139700" cy="0"/>
          </a:xfrm>
          <a:prstGeom prst="line">
            <a:avLst/>
          </a:prstGeom>
          <a:ln w="15875" cap="flat">
            <a:solidFill>
              <a:srgbClr val="004A9F"/>
            </a:solidFill>
            <a:prstDash val="solid"/>
            <a:tailEnd type="triangle" w="med" len="med"/>
          </a:ln>
        </p:spPr>
      </p:cxnSp>
      <p:cxnSp>
        <p:nvCxnSpPr>
          <p:cNvPr id="83" name="Editable connector"/>
          <p:cNvCxnSpPr/>
          <p:nvPr/>
        </p:nvCxnSpPr>
        <p:spPr>
          <a:xfrm>
            <a:off x="8369300" y="4051300"/>
            <a:ext cx="76200" cy="0"/>
          </a:xfrm>
          <a:prstGeom prst="line">
            <a:avLst/>
          </a:prstGeom>
          <a:ln w="15875" cap="flat">
            <a:solidFill>
              <a:srgbClr val="004A9F"/>
            </a:solidFill>
            <a:prstDash val="solid"/>
          </a:ln>
        </p:spPr>
      </p:cxnSp>
      <p:cxnSp>
        <p:nvCxnSpPr>
          <p:cNvPr id="84" name="Editable connector"/>
          <p:cNvCxnSpPr/>
          <p:nvPr/>
        </p:nvCxnSpPr>
        <p:spPr>
          <a:xfrm>
            <a:off x="8445500" y="4051300"/>
            <a:ext cx="0" cy="101600"/>
          </a:xfrm>
          <a:prstGeom prst="line">
            <a:avLst/>
          </a:prstGeom>
          <a:ln w="15875" cap="flat">
            <a:solidFill>
              <a:srgbClr val="004A9F"/>
            </a:solidFill>
            <a:prstDash val="solid"/>
          </a:ln>
        </p:spPr>
      </p:cxnSp>
      <p:cxnSp>
        <p:nvCxnSpPr>
          <p:cNvPr id="85" name="Editable connector"/>
          <p:cNvCxnSpPr/>
          <p:nvPr/>
        </p:nvCxnSpPr>
        <p:spPr>
          <a:xfrm>
            <a:off x="8445500" y="4152900"/>
            <a:ext cx="63500" cy="0"/>
          </a:xfrm>
          <a:prstGeom prst="line">
            <a:avLst/>
          </a:prstGeom>
          <a:ln w="15875" cap="flat">
            <a:solidFill>
              <a:srgbClr val="004A9F"/>
            </a:solidFill>
            <a:prstDash val="solid"/>
            <a:tailEnd type="triangle" w="med" len="med"/>
          </a:ln>
        </p:spPr>
      </p:cxnSp>
      <p:sp>
        <p:nvSpPr>
          <p:cNvPr id="16" name="Lightweight step 1"/>
          <p:cNvSpPr/>
          <p:nvPr/>
        </p:nvSpPr>
        <p:spPr>
          <a:xfrm>
            <a:off x="355600" y="1422400"/>
            <a:ext cx="431800" cy="431800"/>
          </a:xfrm>
          <a:prstGeom prst="ellipse">
            <a:avLst/>
          </a:prstGeom>
          <a:solidFill>
            <a:srgbClr val="004A9F"/>
          </a:solidFill>
          <a:ln w="10160">
            <a:noFill/>
          </a:ln>
        </p:spPr>
      </p:sp>
      <p:sp>
        <p:nvSpPr>
          <p:cNvPr id="19" name="Lightweight step 2"/>
          <p:cNvSpPr/>
          <p:nvPr/>
        </p:nvSpPr>
        <p:spPr>
          <a:xfrm>
            <a:off x="5613400" y="1422400"/>
            <a:ext cx="431800" cy="431800"/>
          </a:xfrm>
          <a:prstGeom prst="ellipse">
            <a:avLst/>
          </a:prstGeom>
          <a:solidFill>
            <a:srgbClr val="008C89"/>
          </a:solidFill>
          <a:ln w="10160">
            <a:noFill/>
          </a:ln>
        </p:spPr>
      </p:sp>
      <p:sp>
        <p:nvSpPr>
          <p:cNvPr id="75" name="Softmax normalization"/>
          <p:cNvSpPr/>
          <p:nvPr/>
        </p:nvSpPr>
        <p:spPr>
          <a:xfrm>
            <a:off x="7480300" y="3454400"/>
            <a:ext cx="889000" cy="774700"/>
          </a:xfrm>
          <a:prstGeom prst="roundRect">
            <a:avLst>
              <a:gd name="adj" fmla="val 5000"/>
            </a:avLst>
          </a:prstGeom>
          <a:solidFill>
            <a:srgbClr val="EEF6FC"/>
          </a:solidFill>
          <a:ln w="10160">
            <a:solidFill>
              <a:srgbClr val="004A9F"/>
            </a:solidFill>
          </a:ln>
        </p:spPr>
      </p:sp>
      <p:sp>
        <p:nvSpPr>
          <p:cNvPr id="78" name="Lightweight image weight"/>
          <p:cNvSpPr/>
          <p:nvPr/>
        </p:nvSpPr>
        <p:spPr>
          <a:xfrm>
            <a:off x="8509000" y="3505200"/>
            <a:ext cx="508000" cy="330200"/>
          </a:xfrm>
          <a:prstGeom prst="roundRect">
            <a:avLst>
              <a:gd name="adj" fmla="val 5000"/>
            </a:avLst>
          </a:prstGeom>
          <a:solidFill>
            <a:srgbClr val="EEF6FC"/>
          </a:solidFill>
          <a:ln w="10160">
            <a:solidFill>
              <a:srgbClr val="004A9F"/>
            </a:solidFill>
          </a:ln>
        </p:spPr>
      </p:sp>
      <p:sp>
        <p:nvSpPr>
          <p:cNvPr id="80" name="Lightweight lidar weight"/>
          <p:cNvSpPr/>
          <p:nvPr/>
        </p:nvSpPr>
        <p:spPr>
          <a:xfrm>
            <a:off x="8509000" y="3987800"/>
            <a:ext cx="508000" cy="330200"/>
          </a:xfrm>
          <a:prstGeom prst="roundRect">
            <a:avLst>
              <a:gd name="adj" fmla="val 5000"/>
            </a:avLst>
          </a:prstGeom>
          <a:solidFill>
            <a:srgbClr val="ECF8F6"/>
          </a:solidFill>
          <a:ln w="10160">
            <a:solidFill>
              <a:srgbClr val="008C89"/>
            </a:solidFill>
          </a:ln>
        </p:spPr>
      </p:sp>
      <p:sp>
        <p:nvSpPr>
          <p:cNvPr id="88" name="Evaluation mark 0"/>
          <p:cNvSpPr/>
          <p:nvPr/>
        </p:nvSpPr>
        <p:spPr>
          <a:xfrm>
            <a:off x="9423400" y="2667000"/>
            <a:ext cx="38100" cy="444500"/>
          </a:xfrm>
          <a:prstGeom prst="rect">
            <a:avLst/>
          </a:prstGeom>
          <a:solidFill>
            <a:srgbClr val="004A9F"/>
          </a:solidFill>
          <a:ln w="10160">
            <a:noFill/>
          </a:ln>
        </p:spPr>
      </p:sp>
      <p:sp>
        <p:nvSpPr>
          <p:cNvPr id="91" name="Evaluation mark 1"/>
          <p:cNvSpPr/>
          <p:nvPr/>
        </p:nvSpPr>
        <p:spPr>
          <a:xfrm>
            <a:off x="9423400" y="3505200"/>
            <a:ext cx="38100" cy="444500"/>
          </a:xfrm>
          <a:prstGeom prst="rect">
            <a:avLst/>
          </a:prstGeom>
          <a:solidFill>
            <a:srgbClr val="004A9F"/>
          </a:solidFill>
          <a:ln w="10160">
            <a:noFill/>
          </a:ln>
        </p:spPr>
      </p:sp>
      <p:sp>
        <p:nvSpPr>
          <p:cNvPr id="94" name="Evaluation mark 2"/>
          <p:cNvSpPr/>
          <p:nvPr/>
        </p:nvSpPr>
        <p:spPr>
          <a:xfrm>
            <a:off x="9423400" y="4343400"/>
            <a:ext cx="38100" cy="444500"/>
          </a:xfrm>
          <a:prstGeom prst="rect">
            <a:avLst/>
          </a:prstGeom>
          <a:solidFill>
            <a:srgbClr val="004A9F"/>
          </a:solidFill>
          <a:ln w="10160">
            <a:noFill/>
          </a:ln>
        </p:spPr>
      </p:sp>
      <p:sp>
        <p:nvSpPr>
          <p:cNvPr id="100" name="Overhead 质量统计"/>
          <p:cNvSpPr/>
          <p:nvPr/>
        </p:nvSpPr>
        <p:spPr>
          <a:xfrm>
            <a:off x="2844800" y="5295900"/>
            <a:ext cx="2628900" cy="546100"/>
          </a:xfrm>
          <a:prstGeom prst="roundRect">
            <a:avLst>
              <a:gd name="adj" fmla="val 5000"/>
            </a:avLst>
          </a:prstGeom>
          <a:solidFill>
            <a:srgbClr val="FFFFFF"/>
          </a:solidFill>
          <a:ln w="10160">
            <a:solidFill>
              <a:srgbClr val="E77C18"/>
            </a:solidFill>
          </a:ln>
        </p:spPr>
      </p:sp>
      <p:sp>
        <p:nvSpPr>
          <p:cNvPr id="103" name="Overhead 权重生成"/>
          <p:cNvSpPr/>
          <p:nvPr/>
        </p:nvSpPr>
        <p:spPr>
          <a:xfrm>
            <a:off x="5918200" y="5295900"/>
            <a:ext cx="2171700" cy="546100"/>
          </a:xfrm>
          <a:prstGeom prst="roundRect">
            <a:avLst>
              <a:gd name="adj" fmla="val 5000"/>
            </a:avLst>
          </a:prstGeom>
          <a:solidFill>
            <a:srgbClr val="FFFFFF"/>
          </a:solidFill>
          <a:ln w="10160">
            <a:solidFill>
              <a:srgbClr val="E77C18"/>
            </a:solidFill>
          </a:ln>
        </p:spPr>
      </p:sp>
      <p:sp>
        <p:nvSpPr>
          <p:cNvPr id="106" name="Overhead 特征加权"/>
          <p:cNvSpPr/>
          <p:nvPr/>
        </p:nvSpPr>
        <p:spPr>
          <a:xfrm>
            <a:off x="8559800" y="5295900"/>
            <a:ext cx="3098800" cy="546100"/>
          </a:xfrm>
          <a:prstGeom prst="roundRect">
            <a:avLst>
              <a:gd name="adj" fmla="val 5000"/>
            </a:avLst>
          </a:prstGeom>
          <a:solidFill>
            <a:srgbClr val="FFFFFF"/>
          </a:solidFill>
          <a:ln w="10160">
            <a:solidFill>
              <a:srgbClr val="E77C18"/>
            </a:solidFill>
          </a:ln>
        </p:spPr>
      </p:sp>
      <p:sp>
        <p:nvSpPr>
          <p:cNvPr id="10" name="Section"/>
          <p:cNvSpPr txBox="1"/>
          <p:nvPr/>
        </p:nvSpPr>
        <p:spPr>
          <a:xfrm>
            <a:off x="355600" y="215900"/>
            <a:ext cx="609600" cy="457200"/>
          </a:xfrm>
          <a:prstGeom prst="rect">
            <a:avLst/>
          </a:prstGeom>
          <a:noFill/>
          <a:ln w="10160">
            <a:noFill/>
          </a:ln>
        </p:spPr>
        <p:txBody>
          <a:bodyPr wrap="square" lIns="0" tIns="0" rIns="0" bIns="0" anchor="ctr">
            <a:noAutofit/>
          </a:bodyPr>
          <a:lstStyle/>
          <a:p>
            <a:pPr marL="0" marR="0" algn="l">
              <a:lnSpc>
                <a:spcPts val="3585"/>
              </a:lnSpc>
              <a:buNone/>
            </a:pPr>
            <a:r>
              <a:rPr lang="zh-CN" sz="28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sz="2800"/>
          </a:p>
        </p:txBody>
      </p:sp>
      <p:sp>
        <p:nvSpPr>
          <p:cNvPr id="12" name="Slide title"/>
          <p:cNvSpPr txBox="1"/>
          <p:nvPr/>
        </p:nvSpPr>
        <p:spPr>
          <a:xfrm>
            <a:off x="1371600" y="215900"/>
            <a:ext cx="10464800" cy="457200"/>
          </a:xfrm>
          <a:prstGeom prst="rect">
            <a:avLst/>
          </a:prstGeom>
          <a:noFill/>
          <a:ln w="10160">
            <a:noFill/>
          </a:ln>
        </p:spPr>
        <p:txBody>
          <a:bodyPr wrap="square" lIns="0" tIns="0" rIns="0" bIns="0" anchor="ctr">
            <a:noAutofit/>
          </a:bodyPr>
          <a:lstStyle/>
          <a:p>
            <a:pPr marL="0" marR="0" algn="l">
              <a:lnSpc>
                <a:spcPts val="3330"/>
              </a:lnSpc>
              <a:buNone/>
            </a:pPr>
            <a:r>
              <a:rPr lang="zh-CN" sz="260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技术路线三：融合模块轻量化设计</a:t>
            </a:r>
            <a:endParaRPr lang="zh-CN" sz="2600"/>
          </a:p>
        </p:txBody>
      </p:sp>
      <p:sp>
        <p:nvSpPr>
          <p:cNvPr id="14" name="Subtitle"/>
          <p:cNvSpPr txBox="1"/>
          <p:nvPr/>
        </p:nvSpPr>
        <p:spPr>
          <a:xfrm>
            <a:off x="368300" y="927100"/>
            <a:ext cx="11455400" cy="342900"/>
          </a:xfrm>
          <a:prstGeom prst="rect">
            <a:avLst/>
          </a:prstGeom>
          <a:noFill/>
          <a:ln w="10160">
            <a:noFill/>
          </a:ln>
        </p:spPr>
        <p:txBody>
          <a:bodyPr wrap="square" lIns="0" tIns="0" rIns="0" bIns="0" anchor="ctr">
            <a:noAutofit/>
          </a:bodyPr>
          <a:lstStyle/>
          <a:p>
            <a:pPr marL="0" marR="0" algn="l">
              <a:lnSpc>
                <a:spcPts val="1730"/>
              </a:lnSpc>
              <a:buNone/>
            </a:pPr>
            <a:r>
              <a:rPr lang="zh-CN" sz="13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拟在保留鲁棒性收益的同时，控制融合改造的新增开销</a:t>
            </a:r>
            <a:endParaRPr lang="zh-CN" sz="1350"/>
          </a:p>
        </p:txBody>
      </p:sp>
      <p:sp>
        <p:nvSpPr>
          <p:cNvPr id="15" name="Page number"/>
          <p:cNvSpPr txBox="1"/>
          <p:nvPr/>
        </p:nvSpPr>
        <p:spPr>
          <a:xfrm>
            <a:off x="11569700" y="6604000"/>
            <a:ext cx="342900" cy="203200"/>
          </a:xfrm>
          <a:prstGeom prst="rect">
            <a:avLst/>
          </a:prstGeom>
          <a:noFill/>
          <a:ln w="10160">
            <a:noFill/>
          </a:ln>
        </p:spPr>
        <p:txBody>
          <a:bodyPr wrap="square" lIns="0" tIns="0" rIns="0" bIns="0" anchor="ctr">
            <a:noAutofit/>
          </a:bodyPr>
          <a:lstStyle/>
          <a:p>
            <a:pPr marL="0" marR="0" algn="r">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18</a:t>
            </a:r>
            <a:endParaRPr lang="zh-CN" sz="1150"/>
          </a:p>
        </p:txBody>
      </p:sp>
      <p:sp>
        <p:nvSpPr>
          <p:cNvPr id="17" name="Lightweight step 1 index"/>
          <p:cNvSpPr txBox="1"/>
          <p:nvPr/>
        </p:nvSpPr>
        <p:spPr>
          <a:xfrm>
            <a:off x="355600" y="1422400"/>
            <a:ext cx="431800" cy="431800"/>
          </a:xfrm>
          <a:prstGeom prst="rect">
            <a:avLst/>
          </a:prstGeom>
          <a:noFill/>
          <a:ln w="10160">
            <a:noFill/>
          </a:ln>
        </p:spPr>
        <p:txBody>
          <a:bodyPr wrap="square" lIns="0" tIns="0" rIns="0" bIns="0" anchor="ctr">
            <a:noAutofit/>
          </a:bodyPr>
          <a:lstStyle/>
          <a:p>
            <a:pPr marL="0" marR="0" algn="ctr">
              <a:lnSpc>
                <a:spcPts val="2370"/>
              </a:lnSpc>
              <a:buNone/>
            </a:pPr>
            <a:r>
              <a:rPr lang="zh-CN" sz="1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sz="1850"/>
          </a:p>
        </p:txBody>
      </p:sp>
      <p:sp>
        <p:nvSpPr>
          <p:cNvPr id="18" name="Lightweight step 1 heading"/>
          <p:cNvSpPr txBox="1"/>
          <p:nvPr/>
        </p:nvSpPr>
        <p:spPr>
          <a:xfrm>
            <a:off x="939800" y="1409700"/>
            <a:ext cx="2921000" cy="444500"/>
          </a:xfrm>
          <a:prstGeom prst="rect">
            <a:avLst/>
          </a:prstGeom>
          <a:noFill/>
          <a:ln w="10160">
            <a:noFill/>
          </a:ln>
        </p:spPr>
        <p:txBody>
          <a:bodyPr wrap="square" lIns="0" tIns="0" rIns="0" bIns="0" anchor="ctr">
            <a:noAutofit/>
          </a:bodyPr>
          <a:lstStyle/>
          <a:p>
            <a:pPr marL="0" marR="0" algn="l">
              <a:lnSpc>
                <a:spcPts val="2175"/>
              </a:lnSpc>
              <a:buNone/>
            </a:pPr>
            <a:r>
              <a:rPr lang="zh-CN" sz="17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质量指标精简</a:t>
            </a:r>
            <a:endParaRPr lang="zh-CN" sz="1700"/>
          </a:p>
        </p:txBody>
      </p:sp>
      <p:sp>
        <p:nvSpPr>
          <p:cNvPr id="20" name="Lightweight step 2 index"/>
          <p:cNvSpPr txBox="1"/>
          <p:nvPr/>
        </p:nvSpPr>
        <p:spPr>
          <a:xfrm>
            <a:off x="5613400" y="1422400"/>
            <a:ext cx="431800" cy="431800"/>
          </a:xfrm>
          <a:prstGeom prst="rect">
            <a:avLst/>
          </a:prstGeom>
          <a:noFill/>
          <a:ln w="10160">
            <a:noFill/>
          </a:ln>
        </p:spPr>
        <p:txBody>
          <a:bodyPr wrap="square" lIns="0" tIns="0" rIns="0" bIns="0" anchor="ctr">
            <a:noAutofit/>
          </a:bodyPr>
          <a:lstStyle/>
          <a:p>
            <a:pPr marL="0" marR="0" algn="ctr">
              <a:lnSpc>
                <a:spcPts val="2370"/>
              </a:lnSpc>
              <a:buNone/>
            </a:pPr>
            <a:r>
              <a:rPr lang="zh-CN" sz="18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02</a:t>
            </a:r>
            <a:endParaRPr lang="zh-CN" sz="1850"/>
          </a:p>
        </p:txBody>
      </p:sp>
      <p:sp>
        <p:nvSpPr>
          <p:cNvPr id="21" name="Lightweight step 2 heading"/>
          <p:cNvSpPr txBox="1"/>
          <p:nvPr/>
        </p:nvSpPr>
        <p:spPr>
          <a:xfrm>
            <a:off x="6197600" y="1409700"/>
            <a:ext cx="2921000" cy="444500"/>
          </a:xfrm>
          <a:prstGeom prst="rect">
            <a:avLst/>
          </a:prstGeom>
          <a:noFill/>
          <a:ln w="10160">
            <a:noFill/>
          </a:ln>
        </p:spPr>
        <p:txBody>
          <a:bodyPr wrap="square" lIns="0" tIns="0" rIns="0" bIns="0" anchor="ctr">
            <a:noAutofit/>
          </a:bodyPr>
          <a:lstStyle/>
          <a:p>
            <a:pPr marL="0" marR="0" algn="l">
              <a:lnSpc>
                <a:spcPts val="2175"/>
              </a:lnSpc>
              <a:buNone/>
            </a:pPr>
            <a:r>
              <a:rPr lang="zh-CN" sz="17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权重模块紧凑化</a:t>
            </a:r>
            <a:endParaRPr lang="zh-CN" sz="1700"/>
          </a:p>
        </p:txBody>
      </p:sp>
      <p:sp>
        <p:nvSpPr>
          <p:cNvPr id="22" name="Metric selection objectives"/>
          <p:cNvSpPr txBox="1"/>
          <p:nvPr/>
        </p:nvSpPr>
        <p:spPr>
          <a:xfrm>
            <a:off x="952500" y="1866900"/>
            <a:ext cx="4279900" cy="4699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筛选有效、低成本指标</a:t>
            </a:r>
            <a:endParaRPr lang="zh-CN" sz="1250"/>
          </a:p>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比较KNN等高成本统计的必要性</a:t>
            </a:r>
            <a:endParaRPr lang="zh-CN" sz="1250"/>
          </a:p>
        </p:txBody>
      </p:sp>
      <p:sp>
        <p:nvSpPr>
          <p:cNvPr id="23" name="Compact module objectives"/>
          <p:cNvSpPr txBox="1"/>
          <p:nvPr/>
        </p:nvSpPr>
        <p:spPr>
          <a:xfrm>
            <a:off x="6223000" y="1866900"/>
            <a:ext cx="2870200" cy="469900"/>
          </a:xfrm>
          <a:prstGeom prst="rect">
            <a:avLst/>
          </a:prstGeom>
          <a:noFill/>
          <a:ln w="10160">
            <a:noFill/>
          </a:ln>
        </p:spPr>
        <p:txBody>
          <a:bodyPr wrap="square" lIns="0" tIns="0" rIns="0" bIns="0" anchor="ctr">
            <a:noAutofit/>
          </a:bodyPr>
          <a:lstStyle/>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控制MLP宽度与层数</a:t>
            </a:r>
            <a:endParaRPr lang="zh-CN" sz="1250"/>
          </a:p>
          <a:p>
            <a:pPr marL="0" marR="0" algn="l">
              <a:lnSpc>
                <a:spcPts val="1600"/>
              </a:lnSpc>
              <a:buNone/>
            </a:pPr>
            <a:r>
              <a:rPr lang="zh-CN" sz="125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优先采用简单门控加权</a:t>
            </a:r>
            <a:endParaRPr lang="zh-CN" sz="1250"/>
          </a:p>
        </p:txBody>
      </p:sp>
      <p:sp>
        <p:nvSpPr>
          <p:cNvPr id="25" name="图像质量指标 candidate heading"/>
          <p:cNvSpPr txBox="1"/>
          <p:nvPr/>
        </p:nvSpPr>
        <p:spPr>
          <a:xfrm>
            <a:off x="469900" y="2654300"/>
            <a:ext cx="1714500" cy="279400"/>
          </a:xfrm>
          <a:prstGeom prst="rect">
            <a:avLst/>
          </a:prstGeom>
          <a:noFill/>
          <a:ln w="10160">
            <a:noFill/>
          </a:ln>
        </p:spPr>
        <p:txBody>
          <a:bodyPr wrap="square" lIns="0" tIns="0" rIns="0" bIns="0" anchor="ctr">
            <a:noAutofit/>
          </a:bodyPr>
          <a:lstStyle/>
          <a:p>
            <a:pPr marL="0" marR="0" algn="l">
              <a:lnSpc>
                <a:spcPts val="1510"/>
              </a:lnSpc>
              <a:buNone/>
            </a:pPr>
            <a:r>
              <a:rPr lang="zh-CN" sz="118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图像质量指标（候选）</a:t>
            </a:r>
            <a:endParaRPr lang="zh-CN" sz="1180"/>
          </a:p>
        </p:txBody>
      </p:sp>
      <p:sp>
        <p:nvSpPr>
          <p:cNvPr id="26" name="图像质量指标 亮度"/>
          <p:cNvSpPr txBox="1"/>
          <p:nvPr/>
        </p:nvSpPr>
        <p:spPr>
          <a:xfrm>
            <a:off x="469900" y="2971800"/>
            <a:ext cx="812800" cy="266700"/>
          </a:xfrm>
          <a:prstGeom prst="rect">
            <a:avLst/>
          </a:prstGeom>
          <a:solidFill>
            <a:srgbClr val="DDECF8"/>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亮度</a:t>
            </a:r>
            <a:endParaRPr lang="zh-CN" sz="1170"/>
          </a:p>
        </p:txBody>
      </p:sp>
      <p:sp>
        <p:nvSpPr>
          <p:cNvPr id="27" name="图像质量指标 对比度"/>
          <p:cNvSpPr txBox="1"/>
          <p:nvPr/>
        </p:nvSpPr>
        <p:spPr>
          <a:xfrm>
            <a:off x="1358900" y="2971800"/>
            <a:ext cx="812800" cy="266700"/>
          </a:xfrm>
          <a:prstGeom prst="rect">
            <a:avLst/>
          </a:prstGeom>
          <a:solidFill>
            <a:srgbClr val="DDECF8"/>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对比度</a:t>
            </a:r>
            <a:endParaRPr lang="zh-CN" sz="1170"/>
          </a:p>
        </p:txBody>
      </p:sp>
      <p:sp>
        <p:nvSpPr>
          <p:cNvPr id="28" name="图像质量指标 清晰度"/>
          <p:cNvSpPr txBox="1"/>
          <p:nvPr/>
        </p:nvSpPr>
        <p:spPr>
          <a:xfrm>
            <a:off x="469900" y="3289300"/>
            <a:ext cx="812800" cy="266700"/>
          </a:xfrm>
          <a:prstGeom prst="rect">
            <a:avLst/>
          </a:prstGeom>
          <a:solidFill>
            <a:srgbClr val="DDECF8"/>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清晰度</a:t>
            </a:r>
            <a:endParaRPr lang="zh-CN" sz="1170"/>
          </a:p>
        </p:txBody>
      </p:sp>
      <p:sp>
        <p:nvSpPr>
          <p:cNvPr id="29" name="图像质量指标 噪声"/>
          <p:cNvSpPr txBox="1"/>
          <p:nvPr/>
        </p:nvSpPr>
        <p:spPr>
          <a:xfrm>
            <a:off x="1358900" y="3289300"/>
            <a:ext cx="812800" cy="266700"/>
          </a:xfrm>
          <a:prstGeom prst="rect">
            <a:avLst/>
          </a:prstGeom>
          <a:solidFill>
            <a:srgbClr val="DDECF8"/>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噪声</a:t>
            </a:r>
            <a:endParaRPr lang="zh-CN" sz="1170"/>
          </a:p>
        </p:txBody>
      </p:sp>
      <p:sp>
        <p:nvSpPr>
          <p:cNvPr id="31" name="点云质量指标 candidate heading"/>
          <p:cNvSpPr txBox="1"/>
          <p:nvPr/>
        </p:nvSpPr>
        <p:spPr>
          <a:xfrm>
            <a:off x="469900" y="3848100"/>
            <a:ext cx="1714500" cy="279400"/>
          </a:xfrm>
          <a:prstGeom prst="rect">
            <a:avLst/>
          </a:prstGeom>
          <a:noFill/>
          <a:ln w="10160">
            <a:noFill/>
          </a:ln>
        </p:spPr>
        <p:txBody>
          <a:bodyPr wrap="square" lIns="0" tIns="0" rIns="0" bIns="0" anchor="ctr">
            <a:noAutofit/>
          </a:bodyPr>
          <a:lstStyle/>
          <a:p>
            <a:pPr marL="0" marR="0" algn="l">
              <a:lnSpc>
                <a:spcPts val="1510"/>
              </a:lnSpc>
              <a:buNone/>
            </a:pPr>
            <a:r>
              <a:rPr lang="zh-CN" sz="118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点云质量指标（候选）</a:t>
            </a:r>
            <a:endParaRPr lang="zh-CN" sz="1180"/>
          </a:p>
        </p:txBody>
      </p:sp>
      <p:sp>
        <p:nvSpPr>
          <p:cNvPr id="32" name="点云质量指标 点数"/>
          <p:cNvSpPr txBox="1"/>
          <p:nvPr/>
        </p:nvSpPr>
        <p:spPr>
          <a:xfrm>
            <a:off x="469900" y="4165600"/>
            <a:ext cx="812800" cy="266700"/>
          </a:xfrm>
          <a:prstGeom prst="rect">
            <a:avLst/>
          </a:prstGeom>
          <a:solidFill>
            <a:srgbClr val="D8F0E9"/>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点数</a:t>
            </a:r>
            <a:endParaRPr lang="zh-CN" sz="1170"/>
          </a:p>
        </p:txBody>
      </p:sp>
      <p:sp>
        <p:nvSpPr>
          <p:cNvPr id="33" name="点云质量指标 密度"/>
          <p:cNvSpPr txBox="1"/>
          <p:nvPr/>
        </p:nvSpPr>
        <p:spPr>
          <a:xfrm>
            <a:off x="1358900" y="4165600"/>
            <a:ext cx="812800" cy="266700"/>
          </a:xfrm>
          <a:prstGeom prst="rect">
            <a:avLst/>
          </a:prstGeom>
          <a:solidFill>
            <a:srgbClr val="D8F0E9"/>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密度</a:t>
            </a:r>
            <a:endParaRPr lang="zh-CN" sz="1170"/>
          </a:p>
        </p:txBody>
      </p:sp>
      <p:sp>
        <p:nvSpPr>
          <p:cNvPr id="34" name="点云质量指标 分布"/>
          <p:cNvSpPr txBox="1"/>
          <p:nvPr/>
        </p:nvSpPr>
        <p:spPr>
          <a:xfrm>
            <a:off x="469900" y="4483100"/>
            <a:ext cx="812800" cy="266700"/>
          </a:xfrm>
          <a:prstGeom prst="rect">
            <a:avLst/>
          </a:prstGeom>
          <a:solidFill>
            <a:srgbClr val="D8F0E9"/>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分布</a:t>
            </a:r>
            <a:endParaRPr lang="zh-CN" sz="1170"/>
          </a:p>
        </p:txBody>
      </p:sp>
      <p:sp>
        <p:nvSpPr>
          <p:cNvPr id="35" name="点云质量指标 KNN"/>
          <p:cNvSpPr txBox="1"/>
          <p:nvPr/>
        </p:nvSpPr>
        <p:spPr>
          <a:xfrm>
            <a:off x="1358900" y="4483100"/>
            <a:ext cx="812800" cy="266700"/>
          </a:xfrm>
          <a:prstGeom prst="rect">
            <a:avLst/>
          </a:prstGeom>
          <a:solidFill>
            <a:srgbClr val="D8F0E9"/>
          </a:solidFill>
          <a:ln w="10160">
            <a:noFill/>
          </a:ln>
        </p:spPr>
        <p:txBody>
          <a:bodyPr wrap="square" lIns="0" tIns="0" rIns="0" bIns="0" anchor="ctr">
            <a:noAutofit/>
          </a:bodyPr>
          <a:lstStyle/>
          <a:p>
            <a:pPr marL="0" marR="0" algn="ctr">
              <a:lnSpc>
                <a:spcPts val="1500"/>
              </a:lnSpc>
              <a:buNone/>
            </a:pPr>
            <a:r>
              <a:rPr lang="zh-CN" sz="11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KNN</a:t>
            </a:r>
            <a:endParaRPr lang="zh-CN" sz="1170"/>
          </a:p>
        </p:txBody>
      </p:sp>
      <p:sp>
        <p:nvSpPr>
          <p:cNvPr id="41" name="Selection operation label"/>
          <p:cNvSpPr txBox="1"/>
          <p:nvPr/>
        </p:nvSpPr>
        <p:spPr>
          <a:xfrm>
            <a:off x="2679700" y="3289300"/>
            <a:ext cx="381000" cy="304800"/>
          </a:xfrm>
          <a:prstGeom prst="rect">
            <a:avLst/>
          </a:prstGeom>
          <a:noFill/>
          <a:ln w="10160">
            <a:noFill/>
          </a:ln>
        </p:spPr>
        <p:txBody>
          <a:bodyPr wrap="square" lIns="0" tIns="0" rIns="0" bIns="0" anchor="ctr">
            <a:noAutofit/>
          </a:bodyPr>
          <a:lstStyle/>
          <a:p>
            <a:pPr marL="0" marR="0" algn="ctr">
              <a:lnSpc>
                <a:spcPts val="1470"/>
              </a:lnSpc>
              <a:buNone/>
            </a:pPr>
            <a:r>
              <a:rPr lang="zh-CN" sz="11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筛选</a:t>
            </a:r>
            <a:endParaRPr lang="zh-CN" sz="1150"/>
          </a:p>
        </p:txBody>
      </p:sp>
      <p:sp>
        <p:nvSpPr>
          <p:cNvPr id="43" name="Retained indicators heading"/>
          <p:cNvSpPr txBox="1"/>
          <p:nvPr/>
        </p:nvSpPr>
        <p:spPr>
          <a:xfrm>
            <a:off x="3225800" y="2730500"/>
            <a:ext cx="1587500" cy="304800"/>
          </a:xfrm>
          <a:prstGeom prst="rect">
            <a:avLst/>
          </a:prstGeom>
          <a:noFill/>
          <a:ln w="10160">
            <a:noFill/>
          </a:ln>
        </p:spPr>
        <p:txBody>
          <a:bodyPr wrap="square" lIns="0" tIns="0" rIns="0" bIns="0" anchor="ctr">
            <a:noAutofit/>
          </a:bodyPr>
          <a:lstStyle/>
          <a:p>
            <a:pPr marL="0" marR="0" algn="ctr">
              <a:lnSpc>
                <a:spcPts val="1600"/>
              </a:lnSpc>
              <a:buNone/>
            </a:pPr>
            <a:r>
              <a:rPr lang="zh-CN" sz="125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保留的质量指标</a:t>
            </a:r>
            <a:endParaRPr lang="zh-CN" sz="1250"/>
          </a:p>
        </p:txBody>
      </p:sp>
      <p:sp>
        <p:nvSpPr>
          <p:cNvPr id="44" name="Retained indicator 图像清晰度"/>
          <p:cNvSpPr txBox="1"/>
          <p:nvPr/>
        </p:nvSpPr>
        <p:spPr>
          <a:xfrm>
            <a:off x="3238500" y="3124200"/>
            <a:ext cx="1562100" cy="266700"/>
          </a:xfrm>
          <a:prstGeom prst="rect">
            <a:avLst/>
          </a:prstGeom>
          <a:solidFill>
            <a:srgbClr val="D7EEE7"/>
          </a:solidFill>
          <a:ln w="10160">
            <a:noFill/>
          </a:ln>
        </p:spPr>
        <p:txBody>
          <a:bodyPr wrap="square" lIns="0" tIns="0" rIns="0" bIns="0" anchor="ctr">
            <a:noAutofit/>
          </a:bodyPr>
          <a:lstStyle/>
          <a:p>
            <a:pPr marL="0" marR="0" algn="ctr">
              <a:lnSpc>
                <a:spcPts val="1560"/>
              </a:lnSpc>
              <a:buNone/>
            </a:pPr>
            <a:r>
              <a:rPr lang="zh-CN" sz="122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图像清晰度</a:t>
            </a:r>
            <a:endParaRPr lang="zh-CN" sz="1220"/>
          </a:p>
        </p:txBody>
      </p:sp>
      <p:sp>
        <p:nvSpPr>
          <p:cNvPr id="45" name="Retained indicator 图像亮度"/>
          <p:cNvSpPr txBox="1"/>
          <p:nvPr/>
        </p:nvSpPr>
        <p:spPr>
          <a:xfrm>
            <a:off x="3238500" y="3454400"/>
            <a:ext cx="1562100" cy="266700"/>
          </a:xfrm>
          <a:prstGeom prst="rect">
            <a:avLst/>
          </a:prstGeom>
          <a:solidFill>
            <a:srgbClr val="D7EEE7"/>
          </a:solidFill>
          <a:ln w="10160">
            <a:noFill/>
          </a:ln>
        </p:spPr>
        <p:txBody>
          <a:bodyPr wrap="square" lIns="0" tIns="0" rIns="0" bIns="0" anchor="ctr">
            <a:noAutofit/>
          </a:bodyPr>
          <a:lstStyle/>
          <a:p>
            <a:pPr marL="0" marR="0" algn="ctr">
              <a:lnSpc>
                <a:spcPts val="1560"/>
              </a:lnSpc>
              <a:buNone/>
            </a:pPr>
            <a:r>
              <a:rPr lang="zh-CN" sz="122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图像亮度</a:t>
            </a:r>
            <a:endParaRPr lang="zh-CN" sz="1220"/>
          </a:p>
        </p:txBody>
      </p:sp>
      <p:sp>
        <p:nvSpPr>
          <p:cNvPr id="46" name="Retained indicator 点云点数"/>
          <p:cNvSpPr txBox="1"/>
          <p:nvPr/>
        </p:nvSpPr>
        <p:spPr>
          <a:xfrm>
            <a:off x="3238500" y="3784600"/>
            <a:ext cx="1562100" cy="266700"/>
          </a:xfrm>
          <a:prstGeom prst="rect">
            <a:avLst/>
          </a:prstGeom>
          <a:solidFill>
            <a:srgbClr val="D7EEE7"/>
          </a:solidFill>
          <a:ln w="10160">
            <a:noFill/>
          </a:ln>
        </p:spPr>
        <p:txBody>
          <a:bodyPr wrap="square" lIns="0" tIns="0" rIns="0" bIns="0" anchor="ctr">
            <a:noAutofit/>
          </a:bodyPr>
          <a:lstStyle/>
          <a:p>
            <a:pPr marL="0" marR="0" algn="ctr">
              <a:lnSpc>
                <a:spcPts val="1560"/>
              </a:lnSpc>
              <a:buNone/>
            </a:pPr>
            <a:r>
              <a:rPr lang="zh-CN" sz="122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点云点数</a:t>
            </a:r>
            <a:endParaRPr lang="zh-CN" sz="1220"/>
          </a:p>
        </p:txBody>
      </p:sp>
      <p:sp>
        <p:nvSpPr>
          <p:cNvPr id="47" name="Retained indicator 点云密度"/>
          <p:cNvSpPr txBox="1"/>
          <p:nvPr/>
        </p:nvSpPr>
        <p:spPr>
          <a:xfrm>
            <a:off x="3238500" y="4114800"/>
            <a:ext cx="1562100" cy="266700"/>
          </a:xfrm>
          <a:prstGeom prst="rect">
            <a:avLst/>
          </a:prstGeom>
          <a:solidFill>
            <a:srgbClr val="D7EEE7"/>
          </a:solidFill>
          <a:ln w="10160">
            <a:noFill/>
          </a:ln>
        </p:spPr>
        <p:txBody>
          <a:bodyPr wrap="square" lIns="0" tIns="0" rIns="0" bIns="0" anchor="ctr">
            <a:noAutofit/>
          </a:bodyPr>
          <a:lstStyle/>
          <a:p>
            <a:pPr marL="0" marR="0" algn="ctr">
              <a:lnSpc>
                <a:spcPts val="1560"/>
              </a:lnSpc>
              <a:buNone/>
            </a:pPr>
            <a:r>
              <a:rPr lang="zh-CN" sz="122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点云密度</a:t>
            </a:r>
            <a:endParaRPr lang="zh-CN" sz="1220"/>
          </a:p>
        </p:txBody>
      </p:sp>
      <p:sp>
        <p:nvSpPr>
          <p:cNvPr id="48" name="Indicator combination schematic"/>
          <p:cNvSpPr txBox="1"/>
          <p:nvPr/>
        </p:nvSpPr>
        <p:spPr>
          <a:xfrm>
            <a:off x="3238500" y="4445000"/>
            <a:ext cx="1562100" cy="228600"/>
          </a:xfrm>
          <a:prstGeom prst="rect">
            <a:avLst/>
          </a:prstGeom>
          <a:noFill/>
          <a:ln w="10160">
            <a:noFill/>
          </a:ln>
        </p:spPr>
        <p:txBody>
          <a:bodyPr wrap="square" lIns="0" tIns="0" rIns="0" bIns="0" anchor="ctr">
            <a:noAutofit/>
          </a:bodyPr>
          <a:lstStyle/>
          <a:p>
            <a:pPr marL="0" marR="0" algn="ctr">
              <a:lnSpc>
                <a:spcPts val="1380"/>
              </a:lnSpc>
              <a:buNone/>
            </a:pPr>
            <a:r>
              <a:rPr lang="zh-CN" sz="108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示意组合</a:t>
            </a:r>
            <a:endParaRPr lang="zh-CN" sz="1080"/>
          </a:p>
        </p:txBody>
      </p:sp>
      <p:sp>
        <p:nvSpPr>
          <p:cNvPr id="53" name="Compact quality vector label"/>
          <p:cNvSpPr txBox="1"/>
          <p:nvPr/>
        </p:nvSpPr>
        <p:spPr>
          <a:xfrm>
            <a:off x="5029200" y="3060700"/>
            <a:ext cx="457200" cy="317500"/>
          </a:xfrm>
          <a:prstGeom prst="rect">
            <a:avLst/>
          </a:prstGeom>
          <a:noFill/>
          <a:ln w="10160">
            <a:noFill/>
          </a:ln>
        </p:spPr>
        <p:txBody>
          <a:bodyPr wrap="square" lIns="0" tIns="0" rIns="0" bIns="0" anchor="ctr">
            <a:noAutofit/>
          </a:bodyPr>
          <a:lstStyle/>
          <a:p>
            <a:pPr marL="0" marR="0" algn="ctr">
              <a:lnSpc>
                <a:spcPts val="1665"/>
              </a:lnSpc>
              <a:buNone/>
            </a:pPr>
            <a:r>
              <a:rPr lang="zh-CN" sz="13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q</a:t>
            </a:r>
            <a:endParaRPr lang="zh-CN" sz="1300"/>
          </a:p>
        </p:txBody>
      </p:sp>
      <p:sp>
        <p:nvSpPr>
          <p:cNvPr id="56" name="Compact controller heading"/>
          <p:cNvSpPr txBox="1"/>
          <p:nvPr/>
        </p:nvSpPr>
        <p:spPr>
          <a:xfrm>
            <a:off x="5765800" y="2692400"/>
            <a:ext cx="3149600" cy="304800"/>
          </a:xfrm>
          <a:prstGeom prst="rect">
            <a:avLst/>
          </a:prstGeom>
          <a:noFill/>
          <a:ln w="10160">
            <a:noFill/>
          </a:ln>
        </p:spPr>
        <p:txBody>
          <a:bodyPr wrap="square" lIns="0" tIns="0" rIns="0" bIns="0" anchor="ctr">
            <a:noAutofit/>
          </a:bodyPr>
          <a:lstStyle/>
          <a:p>
            <a:pPr marL="0" marR="0" algn="l">
              <a:lnSpc>
                <a:spcPts val="1790"/>
              </a:lnSpc>
              <a:buNone/>
            </a:pPr>
            <a:r>
              <a:rPr lang="zh-CN" sz="140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轻量权重生成模块</a:t>
            </a:r>
            <a:endParaRPr lang="zh-CN" sz="1400"/>
          </a:p>
        </p:txBody>
      </p:sp>
      <p:sp>
        <p:nvSpPr>
          <p:cNvPr id="62" name="Small MLP heading"/>
          <p:cNvSpPr txBox="1"/>
          <p:nvPr/>
        </p:nvSpPr>
        <p:spPr>
          <a:xfrm>
            <a:off x="6172200" y="3048000"/>
            <a:ext cx="1295400" cy="292100"/>
          </a:xfrm>
          <a:prstGeom prst="rect">
            <a:avLst/>
          </a:prstGeom>
          <a:noFill/>
          <a:ln w="10160">
            <a:noFill/>
          </a:ln>
        </p:spPr>
        <p:txBody>
          <a:bodyPr wrap="square" lIns="0" tIns="0" rIns="0" bIns="0" anchor="ctr">
            <a:noAutofit/>
          </a:bodyPr>
          <a:lstStyle/>
          <a:p>
            <a:pPr marL="0" marR="0" algn="ctr">
              <a:lnSpc>
                <a:spcPts val="1730"/>
              </a:lnSpc>
              <a:buNone/>
            </a:pPr>
            <a:r>
              <a:rPr lang="zh-CN" sz="135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小型MLP</a:t>
            </a:r>
            <a:endParaRPr lang="zh-CN" sz="1350"/>
          </a:p>
        </p:txBody>
      </p:sp>
      <p:sp>
        <p:nvSpPr>
          <p:cNvPr id="76" name="Softmax normalization label"/>
          <p:cNvSpPr txBox="1"/>
          <p:nvPr/>
        </p:nvSpPr>
        <p:spPr>
          <a:xfrm>
            <a:off x="7556500" y="3492500"/>
            <a:ext cx="736600" cy="698500"/>
          </a:xfrm>
          <a:prstGeom prst="rect">
            <a:avLst/>
          </a:prstGeom>
          <a:noFill/>
          <a:ln w="10160">
            <a:noFill/>
          </a:ln>
        </p:spPr>
        <p:txBody>
          <a:bodyPr wrap="square" lIns="0" tIns="0" rIns="0" bIns="0" anchor="ctr">
            <a:noAutofit/>
          </a:bodyPr>
          <a:lstStyle/>
          <a:p>
            <a:pPr marL="0" marR="0" algn="ctr">
              <a:lnSpc>
                <a:spcPts val="1470"/>
              </a:lnSpc>
              <a:buNone/>
            </a:pPr>
            <a:r>
              <a:rPr lang="zh-CN" sz="11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Softmax</a:t>
            </a:r>
            <a:endParaRPr lang="zh-CN" sz="1150"/>
          </a:p>
          <a:p>
            <a:pPr marL="0" marR="0" algn="ctr">
              <a:lnSpc>
                <a:spcPts val="1470"/>
              </a:lnSpc>
              <a:buNone/>
            </a:pPr>
            <a:r>
              <a:rPr lang="zh-CN" sz="115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归一化</a:t>
            </a:r>
            <a:endParaRPr lang="zh-CN" sz="1150"/>
          </a:p>
        </p:txBody>
      </p:sp>
      <p:sp>
        <p:nvSpPr>
          <p:cNvPr id="79" name="Lightweight image weight label"/>
          <p:cNvSpPr txBox="1"/>
          <p:nvPr/>
        </p:nvSpPr>
        <p:spPr>
          <a:xfrm>
            <a:off x="8585200" y="3543300"/>
            <a:ext cx="355600" cy="254000"/>
          </a:xfrm>
          <a:prstGeom prst="rect">
            <a:avLst/>
          </a:prstGeom>
          <a:noFill/>
          <a:ln w="10160">
            <a:noFill/>
          </a:ln>
        </p:spPr>
        <p:txBody>
          <a:bodyPr wrap="square" lIns="0" tIns="0" rIns="0" bIns="0" anchor="ctr">
            <a:noAutofit/>
          </a:bodyPr>
          <a:lstStyle/>
          <a:p>
            <a:pPr marL="0" marR="0" algn="ctr">
              <a:lnSpc>
                <a:spcPts val="1535"/>
              </a:lnSpc>
              <a:buNone/>
            </a:pPr>
            <a:r>
              <a:rPr lang="zh-CN" sz="12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w_I</a:t>
            </a:r>
            <a:endParaRPr lang="zh-CN" sz="1200"/>
          </a:p>
        </p:txBody>
      </p:sp>
      <p:sp>
        <p:nvSpPr>
          <p:cNvPr id="81" name="Lightweight lidar weight label"/>
          <p:cNvSpPr txBox="1"/>
          <p:nvPr/>
        </p:nvSpPr>
        <p:spPr>
          <a:xfrm>
            <a:off x="8585200" y="4025900"/>
            <a:ext cx="355600" cy="254000"/>
          </a:xfrm>
          <a:prstGeom prst="rect">
            <a:avLst/>
          </a:prstGeom>
          <a:noFill/>
          <a:ln w="10160">
            <a:noFill/>
          </a:ln>
        </p:spPr>
        <p:txBody>
          <a:bodyPr wrap="square" lIns="0" tIns="0" rIns="0" bIns="0" anchor="ctr">
            <a:noAutofit/>
          </a:bodyPr>
          <a:lstStyle/>
          <a:p>
            <a:pPr marL="0" marR="0" algn="ctr">
              <a:lnSpc>
                <a:spcPts val="1535"/>
              </a:lnSpc>
              <a:buNone/>
            </a:pPr>
            <a:r>
              <a:rPr lang="zh-CN" sz="1200" b="1" dirty="0">
                <a:solidFill>
                  <a:srgbClr val="008C89"/>
                </a:solidFill>
                <a:latin typeface="微软雅黑" panose="020B0503020204020204" pitchFamily="34" charset="-122"/>
                <a:ea typeface="微软雅黑" panose="020B0503020204020204" pitchFamily="34" charset="-122"/>
                <a:cs typeface="微软雅黑" panose="020B0503020204020204" pitchFamily="34" charset="-122"/>
              </a:rPr>
              <a:t>w_L</a:t>
            </a:r>
            <a:endParaRPr lang="zh-CN" sz="1200"/>
          </a:p>
        </p:txBody>
      </p:sp>
      <p:sp>
        <p:nvSpPr>
          <p:cNvPr id="86" name="Gate application caption"/>
          <p:cNvSpPr txBox="1"/>
          <p:nvPr/>
        </p:nvSpPr>
        <p:spPr>
          <a:xfrm>
            <a:off x="5740400" y="4457700"/>
            <a:ext cx="3238500" cy="279400"/>
          </a:xfrm>
          <a:prstGeom prst="rect">
            <a:avLst/>
          </a:prstGeom>
          <a:noFill/>
          <a:ln w="10160">
            <a:noFill/>
          </a:ln>
        </p:spPr>
        <p:txBody>
          <a:bodyPr wrap="square" lIns="0" tIns="0" rIns="0" bIns="0" anchor="ctr">
            <a:noAutofit/>
          </a:bodyPr>
          <a:lstStyle/>
          <a:p>
            <a:pPr marL="0" marR="0" algn="ctr">
              <a:lnSpc>
                <a:spcPts val="1560"/>
              </a:lnSpc>
              <a:buNone/>
            </a:pPr>
            <a:r>
              <a:rPr lang="zh-CN" sz="122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用于已有特征的门控加权</a:t>
            </a:r>
            <a:endParaRPr lang="zh-CN" sz="1220"/>
          </a:p>
        </p:txBody>
      </p:sp>
      <p:sp>
        <p:nvSpPr>
          <p:cNvPr id="87" name="Joint evaluation heading"/>
          <p:cNvSpPr txBox="1"/>
          <p:nvPr/>
        </p:nvSpPr>
        <p:spPr>
          <a:xfrm>
            <a:off x="9423400" y="1422400"/>
            <a:ext cx="2413000" cy="457200"/>
          </a:xfrm>
          <a:prstGeom prst="rect">
            <a:avLst/>
          </a:prstGeom>
          <a:noFill/>
          <a:ln w="10160">
            <a:noFill/>
          </a:ln>
        </p:spPr>
        <p:txBody>
          <a:bodyPr wrap="square" lIns="0" tIns="0" rIns="0" bIns="0" anchor="ctr">
            <a:noAutofit/>
          </a:bodyPr>
          <a:lstStyle/>
          <a:p>
            <a:pPr marL="0" marR="0" algn="l">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效果与效率联合评价</a:t>
            </a:r>
            <a:endParaRPr lang="zh-CN" sz="1600"/>
          </a:p>
        </p:txBody>
      </p:sp>
      <p:sp>
        <p:nvSpPr>
          <p:cNvPr id="89" name="Evaluation heading 0"/>
          <p:cNvSpPr txBox="1"/>
          <p:nvPr/>
        </p:nvSpPr>
        <p:spPr>
          <a:xfrm>
            <a:off x="9575800" y="2603500"/>
            <a:ext cx="2247900" cy="317500"/>
          </a:xfrm>
          <a:prstGeom prst="rect">
            <a:avLst/>
          </a:prstGeom>
          <a:noFill/>
          <a:ln w="10160">
            <a:noFill/>
          </a:ln>
        </p:spPr>
        <p:txBody>
          <a:bodyPr wrap="square" lIns="0" tIns="0" rIns="0" bIns="0" anchor="ctr">
            <a:noAutofit/>
          </a:bodyPr>
          <a:lstStyle/>
          <a:p>
            <a:pPr marL="0" marR="0" algn="l">
              <a:lnSpc>
                <a:spcPts val="1935"/>
              </a:lnSpc>
              <a:buNone/>
            </a:pPr>
            <a:r>
              <a:rPr lang="zh-CN" sz="151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检测性能</a:t>
            </a:r>
            <a:endParaRPr lang="zh-CN" sz="1510"/>
          </a:p>
        </p:txBody>
      </p:sp>
      <p:sp>
        <p:nvSpPr>
          <p:cNvPr id="90" name="Evaluation explanation 0"/>
          <p:cNvSpPr txBox="1"/>
          <p:nvPr/>
        </p:nvSpPr>
        <p:spPr>
          <a:xfrm>
            <a:off x="9575800" y="2959100"/>
            <a:ext cx="2247900" cy="406400"/>
          </a:xfrm>
          <a:prstGeom prst="rect">
            <a:avLst/>
          </a:prstGeom>
          <a:noFill/>
          <a:ln w="10160">
            <a:noFill/>
          </a:ln>
        </p:spPr>
        <p:txBody>
          <a:bodyPr wrap="square" lIns="0" tIns="0" rIns="0" bIns="0" anchor="ctr">
            <a:noAutofit/>
          </a:bodyPr>
          <a:lstStyle/>
          <a:p>
            <a:pPr marL="0" marR="0" algn="l">
              <a:lnSpc>
                <a:spcPts val="1525"/>
              </a:lnSpc>
              <a:buNone/>
            </a:pPr>
            <a:r>
              <a:rPr lang="zh-CN" sz="119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复杂工况下的三维检测性能</a:t>
            </a:r>
            <a:endParaRPr lang="zh-CN" sz="1190"/>
          </a:p>
        </p:txBody>
      </p:sp>
      <p:sp>
        <p:nvSpPr>
          <p:cNvPr id="92" name="Evaluation heading 1"/>
          <p:cNvSpPr txBox="1"/>
          <p:nvPr/>
        </p:nvSpPr>
        <p:spPr>
          <a:xfrm>
            <a:off x="9575800" y="3441700"/>
            <a:ext cx="2247900" cy="317500"/>
          </a:xfrm>
          <a:prstGeom prst="rect">
            <a:avLst/>
          </a:prstGeom>
          <a:noFill/>
          <a:ln w="10160">
            <a:noFill/>
          </a:ln>
        </p:spPr>
        <p:txBody>
          <a:bodyPr wrap="square" lIns="0" tIns="0" rIns="0" bIns="0" anchor="ctr">
            <a:noAutofit/>
          </a:bodyPr>
          <a:lstStyle/>
          <a:p>
            <a:pPr marL="0" marR="0" algn="l">
              <a:lnSpc>
                <a:spcPts val="1935"/>
              </a:lnSpc>
              <a:buNone/>
            </a:pPr>
            <a:r>
              <a:rPr lang="zh-CN" sz="151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端到端耗时</a:t>
            </a:r>
            <a:endParaRPr lang="zh-CN" sz="1510"/>
          </a:p>
        </p:txBody>
      </p:sp>
      <p:sp>
        <p:nvSpPr>
          <p:cNvPr id="93" name="Evaluation explanation 1"/>
          <p:cNvSpPr txBox="1"/>
          <p:nvPr/>
        </p:nvSpPr>
        <p:spPr>
          <a:xfrm>
            <a:off x="9575800" y="3797300"/>
            <a:ext cx="2247900" cy="406400"/>
          </a:xfrm>
          <a:prstGeom prst="rect">
            <a:avLst/>
          </a:prstGeom>
          <a:noFill/>
          <a:ln w="10160">
            <a:noFill/>
          </a:ln>
        </p:spPr>
        <p:txBody>
          <a:bodyPr wrap="square" lIns="0" tIns="0" rIns="0" bIns="0" anchor="ctr">
            <a:noAutofit/>
          </a:bodyPr>
          <a:lstStyle/>
          <a:p>
            <a:pPr marL="0" marR="0" algn="l">
              <a:lnSpc>
                <a:spcPts val="1525"/>
              </a:lnSpc>
              <a:buNone/>
            </a:pPr>
            <a:r>
              <a:rPr lang="zh-CN" sz="119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从输入至输出的整体推理时间</a:t>
            </a:r>
            <a:endParaRPr lang="zh-CN" sz="1190"/>
          </a:p>
        </p:txBody>
      </p:sp>
      <p:sp>
        <p:nvSpPr>
          <p:cNvPr id="95" name="Evaluation heading 2"/>
          <p:cNvSpPr txBox="1"/>
          <p:nvPr/>
        </p:nvSpPr>
        <p:spPr>
          <a:xfrm>
            <a:off x="9575800" y="4279900"/>
            <a:ext cx="2247900" cy="317500"/>
          </a:xfrm>
          <a:prstGeom prst="rect">
            <a:avLst/>
          </a:prstGeom>
          <a:noFill/>
          <a:ln w="10160">
            <a:noFill/>
          </a:ln>
        </p:spPr>
        <p:txBody>
          <a:bodyPr wrap="square" lIns="0" tIns="0" rIns="0" bIns="0" anchor="ctr">
            <a:noAutofit/>
          </a:bodyPr>
          <a:lstStyle/>
          <a:p>
            <a:pPr marL="0" marR="0" algn="l">
              <a:lnSpc>
                <a:spcPts val="1935"/>
              </a:lnSpc>
              <a:buNone/>
            </a:pPr>
            <a:r>
              <a:rPr lang="zh-CN" sz="151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参数量与显存</a:t>
            </a:r>
            <a:endParaRPr lang="zh-CN" sz="1510"/>
          </a:p>
        </p:txBody>
      </p:sp>
      <p:sp>
        <p:nvSpPr>
          <p:cNvPr id="96" name="Evaluation explanation 2"/>
          <p:cNvSpPr txBox="1"/>
          <p:nvPr/>
        </p:nvSpPr>
        <p:spPr>
          <a:xfrm>
            <a:off x="9575800" y="4635500"/>
            <a:ext cx="2247900" cy="406400"/>
          </a:xfrm>
          <a:prstGeom prst="rect">
            <a:avLst/>
          </a:prstGeom>
          <a:noFill/>
          <a:ln w="10160">
            <a:noFill/>
          </a:ln>
        </p:spPr>
        <p:txBody>
          <a:bodyPr wrap="square" lIns="0" tIns="0" rIns="0" bIns="0" anchor="ctr">
            <a:noAutofit/>
          </a:bodyPr>
          <a:lstStyle/>
          <a:p>
            <a:pPr marL="0" marR="0" algn="l">
              <a:lnSpc>
                <a:spcPts val="1525"/>
              </a:lnSpc>
              <a:buNone/>
            </a:pPr>
            <a:r>
              <a:rPr lang="zh-CN" sz="119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新增参数量与显存占用</a:t>
            </a:r>
            <a:endParaRPr lang="zh-CN" sz="1190"/>
          </a:p>
        </p:txBody>
      </p:sp>
      <p:sp>
        <p:nvSpPr>
          <p:cNvPr id="98" name="Added overhead heading"/>
          <p:cNvSpPr txBox="1"/>
          <p:nvPr/>
        </p:nvSpPr>
        <p:spPr>
          <a:xfrm>
            <a:off x="508000" y="5270500"/>
            <a:ext cx="2184400" cy="317500"/>
          </a:xfrm>
          <a:prstGeom prst="rect">
            <a:avLst/>
          </a:prstGeom>
          <a:noFill/>
          <a:ln w="10160">
            <a:noFill/>
          </a:ln>
        </p:spPr>
        <p:txBody>
          <a:bodyPr wrap="square" lIns="0" tIns="0" rIns="0" bIns="0" anchor="ctr">
            <a:noAutofit/>
          </a:bodyPr>
          <a:lstStyle/>
          <a:p>
            <a:pPr marL="0" marR="0" algn="l">
              <a:lnSpc>
                <a:spcPts val="2050"/>
              </a:lnSpc>
              <a:buNone/>
            </a:pPr>
            <a:r>
              <a:rPr lang="zh-CN" sz="16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新增开销统计</a:t>
            </a:r>
            <a:endParaRPr lang="zh-CN" sz="1600"/>
          </a:p>
        </p:txBody>
      </p:sp>
      <p:sp>
        <p:nvSpPr>
          <p:cNvPr id="99" name="Complete overhead caption"/>
          <p:cNvSpPr txBox="1"/>
          <p:nvPr/>
        </p:nvSpPr>
        <p:spPr>
          <a:xfrm>
            <a:off x="508000" y="5626100"/>
            <a:ext cx="2184400" cy="228600"/>
          </a:xfrm>
          <a:prstGeom prst="rect">
            <a:avLst/>
          </a:prstGeom>
          <a:noFill/>
          <a:ln w="10160">
            <a:noFill/>
          </a:ln>
        </p:spPr>
        <p:txBody>
          <a:bodyPr wrap="square" lIns="0" tIns="0" rIns="0" bIns="0" anchor="ctr">
            <a:noAutofit/>
          </a:bodyPr>
          <a:lstStyle/>
          <a:p>
            <a:pPr marL="0" marR="0" algn="l">
              <a:lnSpc>
                <a:spcPts val="1410"/>
              </a:lnSpc>
              <a:buNone/>
            </a:pPr>
            <a:r>
              <a:rPr lang="zh-CN" sz="110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完整统计新增计算成本</a:t>
            </a:r>
            <a:endParaRPr lang="zh-CN" sz="1100"/>
          </a:p>
        </p:txBody>
      </p:sp>
      <p:sp>
        <p:nvSpPr>
          <p:cNvPr id="101" name="Overhead 质量统计 heading"/>
          <p:cNvSpPr txBox="1"/>
          <p:nvPr/>
        </p:nvSpPr>
        <p:spPr>
          <a:xfrm>
            <a:off x="2959100" y="5359400"/>
            <a:ext cx="2400300" cy="292100"/>
          </a:xfrm>
          <a:prstGeom prst="rect">
            <a:avLst/>
          </a:prstGeom>
          <a:noFill/>
          <a:ln w="10160">
            <a:noFill/>
          </a:ln>
        </p:spPr>
        <p:txBody>
          <a:bodyPr wrap="square" lIns="0" tIns="0" rIns="0" bIns="0" anchor="ctr">
            <a:noAutofit/>
          </a:bodyPr>
          <a:lstStyle/>
          <a:p>
            <a:pPr marL="0" marR="0" algn="l">
              <a:lnSpc>
                <a:spcPts val="1675"/>
              </a:lnSpc>
              <a:buNone/>
            </a:pPr>
            <a:r>
              <a:rPr lang="zh-CN" sz="131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质量统计</a:t>
            </a:r>
            <a:endParaRPr lang="zh-CN" sz="1310"/>
          </a:p>
        </p:txBody>
      </p:sp>
      <p:sp>
        <p:nvSpPr>
          <p:cNvPr id="102" name="Overhead 质量统计 detail"/>
          <p:cNvSpPr txBox="1"/>
          <p:nvPr/>
        </p:nvSpPr>
        <p:spPr>
          <a:xfrm>
            <a:off x="2959100" y="5626100"/>
            <a:ext cx="2400300" cy="190500"/>
          </a:xfrm>
          <a:prstGeom prst="rect">
            <a:avLst/>
          </a:prstGeom>
          <a:noFill/>
          <a:ln w="10160">
            <a:noFill/>
          </a:ln>
        </p:spPr>
        <p:txBody>
          <a:bodyPr wrap="square" lIns="0" tIns="0" rIns="0" bIns="0" anchor="ctr">
            <a:noAutofit/>
          </a:bodyPr>
          <a:lstStyle/>
          <a:p>
            <a:pPr marL="0" marR="0" algn="l">
              <a:lnSpc>
                <a:spcPts val="1370"/>
              </a:lnSpc>
              <a:buNone/>
            </a:pPr>
            <a:r>
              <a:rPr lang="zh-CN" sz="10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图像 / 点云指标计算</a:t>
            </a:r>
            <a:endParaRPr lang="zh-CN" sz="1070"/>
          </a:p>
        </p:txBody>
      </p:sp>
      <p:sp>
        <p:nvSpPr>
          <p:cNvPr id="104" name="Overhead 权重生成 heading"/>
          <p:cNvSpPr txBox="1"/>
          <p:nvPr/>
        </p:nvSpPr>
        <p:spPr>
          <a:xfrm>
            <a:off x="6032500" y="5359400"/>
            <a:ext cx="1943100" cy="292100"/>
          </a:xfrm>
          <a:prstGeom prst="rect">
            <a:avLst/>
          </a:prstGeom>
          <a:noFill/>
          <a:ln w="10160">
            <a:noFill/>
          </a:ln>
        </p:spPr>
        <p:txBody>
          <a:bodyPr wrap="square" lIns="0" tIns="0" rIns="0" bIns="0" anchor="ctr">
            <a:noAutofit/>
          </a:bodyPr>
          <a:lstStyle/>
          <a:p>
            <a:pPr marL="0" marR="0" algn="l">
              <a:lnSpc>
                <a:spcPts val="1675"/>
              </a:lnSpc>
              <a:buNone/>
            </a:pPr>
            <a:r>
              <a:rPr lang="zh-CN" sz="131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权重生成</a:t>
            </a:r>
            <a:endParaRPr lang="zh-CN" sz="1310"/>
          </a:p>
        </p:txBody>
      </p:sp>
      <p:sp>
        <p:nvSpPr>
          <p:cNvPr id="105" name="Overhead 权重生成 detail"/>
          <p:cNvSpPr txBox="1"/>
          <p:nvPr/>
        </p:nvSpPr>
        <p:spPr>
          <a:xfrm>
            <a:off x="6032500" y="5626100"/>
            <a:ext cx="1943100" cy="190500"/>
          </a:xfrm>
          <a:prstGeom prst="rect">
            <a:avLst/>
          </a:prstGeom>
          <a:noFill/>
          <a:ln w="10160">
            <a:noFill/>
          </a:ln>
        </p:spPr>
        <p:txBody>
          <a:bodyPr wrap="square" lIns="0" tIns="0" rIns="0" bIns="0" anchor="ctr">
            <a:noAutofit/>
          </a:bodyPr>
          <a:lstStyle/>
          <a:p>
            <a:pPr marL="0" marR="0" algn="l">
              <a:lnSpc>
                <a:spcPts val="1370"/>
              </a:lnSpc>
              <a:buNone/>
            </a:pPr>
            <a:r>
              <a:rPr lang="zh-CN" sz="10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MLP生成模态权重</a:t>
            </a:r>
            <a:endParaRPr lang="zh-CN" sz="1070"/>
          </a:p>
        </p:txBody>
      </p:sp>
      <p:sp>
        <p:nvSpPr>
          <p:cNvPr id="107" name="Overhead 特征加权 heading"/>
          <p:cNvSpPr txBox="1"/>
          <p:nvPr/>
        </p:nvSpPr>
        <p:spPr>
          <a:xfrm>
            <a:off x="8674100" y="5359400"/>
            <a:ext cx="2870200" cy="292100"/>
          </a:xfrm>
          <a:prstGeom prst="rect">
            <a:avLst/>
          </a:prstGeom>
          <a:noFill/>
          <a:ln w="10160">
            <a:noFill/>
          </a:ln>
        </p:spPr>
        <p:txBody>
          <a:bodyPr wrap="square" lIns="0" tIns="0" rIns="0" bIns="0" anchor="ctr">
            <a:noAutofit/>
          </a:bodyPr>
          <a:lstStyle/>
          <a:p>
            <a:pPr marL="0" marR="0" algn="l">
              <a:lnSpc>
                <a:spcPts val="1675"/>
              </a:lnSpc>
              <a:buNone/>
            </a:pPr>
            <a:r>
              <a:rPr lang="zh-CN" sz="131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特征加权</a:t>
            </a:r>
            <a:endParaRPr lang="zh-CN" sz="1310"/>
          </a:p>
        </p:txBody>
      </p:sp>
      <p:sp>
        <p:nvSpPr>
          <p:cNvPr id="108" name="Overhead 特征加权 detail"/>
          <p:cNvSpPr txBox="1"/>
          <p:nvPr/>
        </p:nvSpPr>
        <p:spPr>
          <a:xfrm>
            <a:off x="8674100" y="5626100"/>
            <a:ext cx="2870200" cy="190500"/>
          </a:xfrm>
          <a:prstGeom prst="rect">
            <a:avLst/>
          </a:prstGeom>
          <a:noFill/>
          <a:ln w="10160">
            <a:noFill/>
          </a:ln>
        </p:spPr>
        <p:txBody>
          <a:bodyPr wrap="square" lIns="0" tIns="0" rIns="0" bIns="0" anchor="ctr">
            <a:noAutofit/>
          </a:bodyPr>
          <a:lstStyle/>
          <a:p>
            <a:pPr marL="0" marR="0" algn="l">
              <a:lnSpc>
                <a:spcPts val="1370"/>
              </a:lnSpc>
              <a:buNone/>
            </a:pPr>
            <a:r>
              <a:rPr lang="zh-CN" sz="107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对已有特征进行加权</a:t>
            </a:r>
            <a:endParaRPr lang="zh-CN" sz="1070"/>
          </a:p>
        </p:txBody>
      </p:sp>
      <p:sp>
        <p:nvSpPr>
          <p:cNvPr id="109" name="Overhead sum sign 1"/>
          <p:cNvSpPr txBox="1"/>
          <p:nvPr/>
        </p:nvSpPr>
        <p:spPr>
          <a:xfrm>
            <a:off x="5549900" y="5334000"/>
            <a:ext cx="317500" cy="419100"/>
          </a:xfrm>
          <a:prstGeom prst="rect">
            <a:avLst/>
          </a:prstGeom>
          <a:noFill/>
          <a:ln w="10160">
            <a:noFill/>
          </a:ln>
        </p:spPr>
        <p:txBody>
          <a:bodyPr wrap="square" lIns="0" tIns="0" rIns="0" bIns="0" anchor="ctr">
            <a:noAutofit/>
          </a:bodyPr>
          <a:lstStyle/>
          <a:p>
            <a:pPr marL="0" marR="0" algn="ctr">
              <a:lnSpc>
                <a:spcPts val="2815"/>
              </a:lnSpc>
              <a:buNone/>
            </a:pPr>
            <a:r>
              <a:rPr lang="zh-CN" sz="22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200"/>
          </a:p>
        </p:txBody>
      </p:sp>
      <p:sp>
        <p:nvSpPr>
          <p:cNvPr id="110" name="Overhead sum sign 2"/>
          <p:cNvSpPr txBox="1"/>
          <p:nvPr/>
        </p:nvSpPr>
        <p:spPr>
          <a:xfrm>
            <a:off x="8153400" y="5334000"/>
            <a:ext cx="330200" cy="419100"/>
          </a:xfrm>
          <a:prstGeom prst="rect">
            <a:avLst/>
          </a:prstGeom>
          <a:noFill/>
          <a:ln w="10160">
            <a:noFill/>
          </a:ln>
        </p:spPr>
        <p:txBody>
          <a:bodyPr wrap="square" lIns="0" tIns="0" rIns="0" bIns="0" anchor="ctr">
            <a:noAutofit/>
          </a:bodyPr>
          <a:lstStyle/>
          <a:p>
            <a:pPr marL="0" marR="0" algn="ctr">
              <a:lnSpc>
                <a:spcPts val="2815"/>
              </a:lnSpc>
              <a:buNone/>
            </a:pPr>
            <a:r>
              <a:rPr lang="zh-CN" sz="2200" b="1" dirty="0">
                <a:solidFill>
                  <a:srgbClr val="E77C18"/>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200"/>
          </a:p>
        </p:txBody>
      </p:sp>
      <p:sp>
        <p:nvSpPr>
          <p:cNvPr id="111" name="Efficiency target"/>
          <p:cNvSpPr txBox="1"/>
          <p:nvPr/>
        </p:nvSpPr>
        <p:spPr>
          <a:xfrm>
            <a:off x="355600" y="6210300"/>
            <a:ext cx="11480800" cy="368300"/>
          </a:xfrm>
          <a:prstGeom prst="rect">
            <a:avLst/>
          </a:prstGeom>
          <a:solidFill>
            <a:srgbClr val="EEF6FC"/>
          </a:solidFill>
          <a:ln w="10160">
            <a:noFill/>
          </a:ln>
        </p:spPr>
        <p:txBody>
          <a:bodyPr wrap="square" lIns="0" tIns="0" rIns="0" bIns="0" anchor="ctr">
            <a:noAutofit/>
          </a:bodyPr>
          <a:lstStyle/>
          <a:p>
            <a:pPr marL="0" marR="0" algn="ctr">
              <a:lnSpc>
                <a:spcPts val="2050"/>
              </a:lnSpc>
              <a:buNone/>
            </a:pPr>
            <a:r>
              <a:rPr lang="zh-CN" sz="16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目标：用较小新增成本获得有效的鲁棒性提升</a:t>
            </a:r>
            <a:endParaRPr lang="zh-CN" sz="1600"/>
          </a:p>
        </p:txBody>
      </p:sp>
      <p:pic>
        <p:nvPicPr>
          <p:cNvPr id="112" name="Original illustration crop: compact_quality_vector" descr="Exact crop from original image-based page 17; not detection evidence."/>
          <p:cNvPicPr>
            <a:picLocks noChangeAspect="1"/>
          </p:cNvPicPr>
          <p:nvPr/>
        </p:nvPicPr>
        <p:blipFill>
          <a:blip r:embed="rId1"/>
          <a:stretch>
            <a:fillRect/>
          </a:stretch>
        </p:blipFill>
        <p:spPr>
          <a:xfrm>
            <a:off x="5130800" y="3467100"/>
            <a:ext cx="228600" cy="647700"/>
          </a:xfrm>
          <a:prstGeom prst="rect">
            <a:avLst/>
          </a:prstGeom>
          <a:noFill/>
          <a:ln>
            <a:noFill/>
          </a:ln>
        </p:spPr>
      </p:pic>
      <p:pic>
        <p:nvPicPr>
          <p:cNvPr id="113" name="Original illustration crop: controller_quality_vector" descr="Exact crop from original image-based page 17; not detection evidence."/>
          <p:cNvPicPr>
            <a:picLocks noChangeAspect="1"/>
          </p:cNvPicPr>
          <p:nvPr/>
        </p:nvPicPr>
        <p:blipFill>
          <a:blip r:embed="rId2"/>
          <a:stretch>
            <a:fillRect/>
          </a:stretch>
        </p:blipFill>
        <p:spPr>
          <a:xfrm>
            <a:off x="5740400" y="3372394"/>
            <a:ext cx="228600" cy="646611"/>
          </a:xfrm>
          <a:prstGeom prst="rect">
            <a:avLst/>
          </a:prstGeom>
          <a:noFill/>
          <a:ln>
            <a:noFill/>
          </a:ln>
        </p:spPr>
      </p:pic>
      <p:pic>
        <p:nvPicPr>
          <p:cNvPr id="114" name="Original illustration crop: compact_MLP_neurons" descr="Exact crop from original image-based page 17; not detection evidence."/>
          <p:cNvPicPr>
            <a:picLocks noChangeAspect="1"/>
          </p:cNvPicPr>
          <p:nvPr/>
        </p:nvPicPr>
        <p:blipFill>
          <a:blip r:embed="rId3"/>
          <a:stretch>
            <a:fillRect/>
          </a:stretch>
        </p:blipFill>
        <p:spPr>
          <a:xfrm>
            <a:off x="6311900" y="3504609"/>
            <a:ext cx="977900" cy="7504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368300" y="215900"/>
            <a:ext cx="584200" cy="421640"/>
          </a:xfrm>
          <a:prstGeom prst="rect">
            <a:avLst/>
          </a:prstGeom>
          <a:noFill/>
        </p:spPr>
        <p:txBody>
          <a:bodyPr vert="horz" wrap="square" lIns="0" tIns="0" rIns="0" bIns="0" rtlCol="0">
            <a:noAutofit/>
          </a:bodyPr>
          <a:lstStyle/>
          <a:p>
            <a:r>
              <a:rPr lang="en-US" altLang="zh-CN" sz="2600" b="1">
                <a:solidFill>
                  <a:srgbClr val="004A9F"/>
                </a:solidFill>
                <a:latin typeface="微软雅黑" panose="020B0503020204020204" pitchFamily="34" charset="-122"/>
                <a:ea typeface="微软雅黑" panose="020B0503020204020204" pitchFamily="34" charset="-122"/>
              </a:rPr>
              <a:t>03</a:t>
            </a:r>
            <a:endParaRPr lang="zh-CN" altLang="en-US" sz="2600" b="1">
              <a:solidFill>
                <a:srgbClr val="004A9F"/>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79500" y="266700"/>
            <a:ext cx="0" cy="304800"/>
          </a:xfrm>
          <a:prstGeom prst="line">
            <a:avLst/>
          </a:prstGeom>
          <a:ln w="10160">
            <a:solidFill>
              <a:srgbClr val="A4B7CC"/>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71600" y="215900"/>
            <a:ext cx="10350500" cy="391160"/>
          </a:xfrm>
          <a:prstGeom prst="rect">
            <a:avLst/>
          </a:prstGeom>
          <a:noFill/>
        </p:spPr>
        <p:txBody>
          <a:bodyPr vert="horz" wrap="square" lIns="0" tIns="0" rIns="0" bIns="0" rtlCol="0">
            <a:noAutofit/>
          </a:bodyPr>
          <a:lstStyle/>
          <a:p>
            <a:r>
              <a:rPr lang="zh-CN" altLang="en-US" sz="2400" b="1">
                <a:solidFill>
                  <a:srgbClr val="18222D"/>
                </a:solidFill>
                <a:latin typeface="微软雅黑" panose="020B0503020204020204" pitchFamily="34" charset="-122"/>
                <a:ea typeface="微软雅黑" panose="020B0503020204020204" pitchFamily="34" charset="-122"/>
              </a:rPr>
              <a:t>可行性分析</a:t>
            </a:r>
            <a:endParaRPr lang="zh-CN" altLang="en-US" sz="2400" b="1">
              <a:solidFill>
                <a:srgbClr val="18222D"/>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55600" y="736600"/>
            <a:ext cx="11480800" cy="0"/>
          </a:xfrm>
          <a:prstGeom prst="line">
            <a:avLst/>
          </a:prstGeom>
          <a:ln w="12700">
            <a:solidFill>
              <a:srgbClr val="D8E4EF"/>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586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19</a:t>
            </a:r>
            <a:endParaRPr lang="zh-CN" altLang="en-US" sz="1200">
              <a:solidFill>
                <a:srgbClr val="586674"/>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68300" y="990600"/>
            <a:ext cx="11430000" cy="317500"/>
          </a:xfrm>
          <a:prstGeom prst="rect">
            <a:avLst/>
          </a:prstGeom>
          <a:noFill/>
        </p:spPr>
        <p:txBody>
          <a:bodyPr wrap="square" lIns="0" tIns="0" rIns="0" bIns="0" anchor="t">
            <a:noAutofit/>
          </a:bodyPr>
          <a:lstStyle/>
          <a:p>
            <a:pPr marL="0" marR="0" algn="l">
              <a:lnSpc>
                <a:spcPts val="1585"/>
              </a:lnSpc>
              <a:buNone/>
            </a:pPr>
            <a:r>
              <a:rPr lang="zh-CN" sz="128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已有检测系统与成对样例提供起点；后续围绕退化建模、自适应融合、轻量化设计和定量评测分步实施。</a:t>
            </a:r>
            <a:endParaRPr lang="zh-CN" sz="1280"/>
          </a:p>
        </p:txBody>
      </p:sp>
      <p:sp>
        <p:nvSpPr>
          <p:cNvPr id="8" name="矩形 7"/>
          <p:cNvSpPr/>
          <p:nvPr/>
        </p:nvSpPr>
        <p:spPr>
          <a:xfrm>
            <a:off x="330200" y="1600200"/>
            <a:ext cx="5626100" cy="15113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10" name="图片 9"/>
          <p:cNvPicPr/>
          <p:nvPr/>
        </p:nvPicPr>
        <p:blipFill>
          <a:blip r:embed="rId1">
            <a:extLst>
              <a:ext uri="{28A0092B-C50C-407E-A947-70E740481C1C}">
                <a14:useLocalDpi xmlns:a14="http://schemas.microsoft.com/office/drawing/2010/main" val="0"/>
              </a:ext>
            </a:extLst>
          </a:blip>
          <a:stretch>
            <a:fillRect/>
          </a:stretch>
        </p:blipFill>
        <p:spPr>
          <a:xfrm>
            <a:off x="422484" y="1879600"/>
            <a:ext cx="920333" cy="927100"/>
          </a:xfrm>
          <a:prstGeom prst="rect">
            <a:avLst/>
          </a:prstGeom>
        </p:spPr>
      </p:pic>
      <p:sp>
        <p:nvSpPr>
          <p:cNvPr id="11" name="矩形 10"/>
          <p:cNvSpPr/>
          <p:nvPr/>
        </p:nvSpPr>
        <p:spPr>
          <a:xfrm>
            <a:off x="1422400" y="1727200"/>
            <a:ext cx="50800" cy="12573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2" name="文本框 11"/>
          <p:cNvSpPr txBox="1"/>
          <p:nvPr/>
        </p:nvSpPr>
        <p:spPr>
          <a:xfrm>
            <a:off x="1701800" y="1752600"/>
            <a:ext cx="4140200" cy="304800"/>
          </a:xfrm>
          <a:prstGeom prst="rect">
            <a:avLst/>
          </a:prstGeom>
          <a:noFill/>
        </p:spPr>
        <p:txBody>
          <a:bodyPr vert="horz" wrap="square" lIns="0" tIns="0" rIns="0" bIns="0" rtlCol="0">
            <a:noAutofit/>
          </a:bodyPr>
          <a:lstStyle/>
          <a:p>
            <a:r>
              <a:rPr lang="zh-CN" altLang="en-US" sz="1700" b="1">
                <a:solidFill>
                  <a:srgbClr val="004A9F"/>
                </a:solidFill>
                <a:latin typeface="微软雅黑" panose="020B0503020204020204" pitchFamily="34" charset="-122"/>
                <a:ea typeface="微软雅黑" panose="020B0503020204020204" pitchFamily="34" charset="-122"/>
              </a:rPr>
              <a:t>实验基础具备可行性</a:t>
            </a:r>
            <a:endParaRPr lang="zh-CN" altLang="en-US" sz="1700" b="1">
              <a:solidFill>
                <a:srgbClr val="004A9F"/>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701800" y="2146300"/>
            <a:ext cx="4114800" cy="7747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已复现PointPillars与MVX-Net。KITTI提供图像、点云、标定及标注，可支撑样本扩充与检测评价。</a:t>
            </a:r>
            <a:endParaRPr lang="zh-CN" sz="1180"/>
          </a:p>
        </p:txBody>
      </p:sp>
      <p:sp>
        <p:nvSpPr>
          <p:cNvPr id="14" name="矩形 13"/>
          <p:cNvSpPr/>
          <p:nvPr/>
        </p:nvSpPr>
        <p:spPr>
          <a:xfrm>
            <a:off x="330200" y="3314700"/>
            <a:ext cx="5626100" cy="13716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16" name="图片 15"/>
          <p:cNvPicPr/>
          <p:nvPr/>
        </p:nvPicPr>
        <p:blipFill>
          <a:blip r:embed="rId2">
            <a:extLst>
              <a:ext uri="{28A0092B-C50C-407E-A947-70E740481C1C}">
                <a14:useLocalDpi xmlns:a14="http://schemas.microsoft.com/office/drawing/2010/main" val="0"/>
              </a:ext>
            </a:extLst>
          </a:blip>
          <a:stretch>
            <a:fillRect/>
          </a:stretch>
        </p:blipFill>
        <p:spPr>
          <a:xfrm>
            <a:off x="422484" y="3594100"/>
            <a:ext cx="920333" cy="927100"/>
          </a:xfrm>
          <a:prstGeom prst="rect">
            <a:avLst/>
          </a:prstGeom>
        </p:spPr>
      </p:pic>
      <p:sp>
        <p:nvSpPr>
          <p:cNvPr id="17" name="矩形 16"/>
          <p:cNvSpPr/>
          <p:nvPr/>
        </p:nvSpPr>
        <p:spPr>
          <a:xfrm>
            <a:off x="1422400" y="3441700"/>
            <a:ext cx="50800" cy="1117600"/>
          </a:xfrm>
          <a:prstGeom prst="rect">
            <a:avLst/>
          </a:prstGeom>
          <a:solidFill>
            <a:srgbClr val="209557"/>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8" name="文本框 17"/>
          <p:cNvSpPr txBox="1"/>
          <p:nvPr/>
        </p:nvSpPr>
        <p:spPr>
          <a:xfrm>
            <a:off x="1701800" y="3467100"/>
            <a:ext cx="4140200" cy="304800"/>
          </a:xfrm>
          <a:prstGeom prst="rect">
            <a:avLst/>
          </a:prstGeom>
          <a:noFill/>
        </p:spPr>
        <p:txBody>
          <a:bodyPr vert="horz" wrap="square" lIns="0" tIns="0" rIns="0" bIns="0" rtlCol="0">
            <a:noAutofit/>
          </a:bodyPr>
          <a:lstStyle/>
          <a:p>
            <a:r>
              <a:rPr lang="zh-CN" altLang="en-US" sz="1700" b="1">
                <a:solidFill>
                  <a:srgbClr val="209557"/>
                </a:solidFill>
                <a:latin typeface="微软雅黑" panose="020B0503020204020204" pitchFamily="34" charset="-122"/>
                <a:ea typeface="微软雅黑" panose="020B0503020204020204" pitchFamily="34" charset="-122"/>
              </a:rPr>
              <a:t>复杂工况构造具备可行性</a:t>
            </a:r>
            <a:endParaRPr lang="zh-CN" altLang="en-US" sz="1700" b="1">
              <a:solidFill>
                <a:srgbClr val="209557"/>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701800" y="3860800"/>
            <a:ext cx="4114800" cy="6858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图像侧已有亮度衰减、深度相关雾化与模糊、成像噪声建模等方法；点云侧可通过扫描线删减与坐标扰动实现退化，支持不同强度的成对样本构造。</a:t>
            </a:r>
            <a:endParaRPr lang="zh-CN" sz="1180"/>
          </a:p>
        </p:txBody>
      </p:sp>
      <p:sp>
        <p:nvSpPr>
          <p:cNvPr id="20" name="矩形 19"/>
          <p:cNvSpPr/>
          <p:nvPr/>
        </p:nvSpPr>
        <p:spPr>
          <a:xfrm>
            <a:off x="330200" y="4876800"/>
            <a:ext cx="5626100" cy="15621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22" name="图片 21"/>
          <p:cNvPicPr/>
          <p:nvPr/>
        </p:nvPicPr>
        <p:blipFill>
          <a:blip r:embed="rId3">
            <a:extLst>
              <a:ext uri="{28A0092B-C50C-407E-A947-70E740481C1C}">
                <a14:useLocalDpi xmlns:a14="http://schemas.microsoft.com/office/drawing/2010/main" val="0"/>
              </a:ext>
            </a:extLst>
          </a:blip>
          <a:stretch>
            <a:fillRect/>
          </a:stretch>
        </p:blipFill>
        <p:spPr>
          <a:xfrm>
            <a:off x="422484" y="5156200"/>
            <a:ext cx="920333" cy="927100"/>
          </a:xfrm>
          <a:prstGeom prst="rect">
            <a:avLst/>
          </a:prstGeom>
        </p:spPr>
      </p:pic>
      <p:sp>
        <p:nvSpPr>
          <p:cNvPr id="23" name="矩形 22"/>
          <p:cNvSpPr/>
          <p:nvPr/>
        </p:nvSpPr>
        <p:spPr>
          <a:xfrm>
            <a:off x="1422400" y="5003800"/>
            <a:ext cx="50800" cy="1308100"/>
          </a:xfrm>
          <a:prstGeom prst="rect">
            <a:avLst/>
          </a:prstGeom>
          <a:solidFill>
            <a:srgbClr val="F28E2B"/>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4" name="文本框 23"/>
          <p:cNvSpPr txBox="1"/>
          <p:nvPr/>
        </p:nvSpPr>
        <p:spPr>
          <a:xfrm>
            <a:off x="1701800" y="5029200"/>
            <a:ext cx="4140200" cy="304800"/>
          </a:xfrm>
          <a:prstGeom prst="rect">
            <a:avLst/>
          </a:prstGeom>
          <a:noFill/>
        </p:spPr>
        <p:txBody>
          <a:bodyPr vert="horz" wrap="square" lIns="0" tIns="0" rIns="0" bIns="0" rtlCol="0">
            <a:noAutofit/>
          </a:bodyPr>
          <a:lstStyle/>
          <a:p>
            <a:r>
              <a:rPr lang="zh-CN" altLang="en-US" sz="1700" b="1">
                <a:solidFill>
                  <a:srgbClr val="F28E2B"/>
                </a:solidFill>
                <a:latin typeface="微软雅黑" panose="020B0503020204020204" pitchFamily="34" charset="-122"/>
                <a:ea typeface="微软雅黑" panose="020B0503020204020204" pitchFamily="34" charset="-122"/>
              </a:rPr>
              <a:t>可靠性评估具备可行性</a:t>
            </a:r>
            <a:endParaRPr lang="zh-CN" altLang="en-US" sz="1700" b="1">
              <a:solidFill>
                <a:srgbClr val="F28E2B"/>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701800" y="5422900"/>
            <a:ext cx="4114800" cy="8128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图像亮度、清晰度与噪声可由OpenCV计算；点云点数、密度和局部结构可统计获得，指标有效性通过实验筛选。</a:t>
            </a:r>
            <a:endParaRPr lang="zh-CN" sz="1180"/>
          </a:p>
        </p:txBody>
      </p:sp>
      <p:sp>
        <p:nvSpPr>
          <p:cNvPr id="26" name="矩形 25"/>
          <p:cNvSpPr/>
          <p:nvPr/>
        </p:nvSpPr>
        <p:spPr>
          <a:xfrm>
            <a:off x="6311900" y="1600200"/>
            <a:ext cx="5562600" cy="15621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28" name="图片 27"/>
          <p:cNvPicPr/>
          <p:nvPr/>
        </p:nvPicPr>
        <p:blipFill>
          <a:blip r:embed="rId4">
            <a:extLst>
              <a:ext uri="{28A0092B-C50C-407E-A947-70E740481C1C}">
                <a14:useLocalDpi xmlns:a14="http://schemas.microsoft.com/office/drawing/2010/main" val="0"/>
              </a:ext>
            </a:extLst>
          </a:blip>
          <a:stretch>
            <a:fillRect/>
          </a:stretch>
        </p:blipFill>
        <p:spPr>
          <a:xfrm>
            <a:off x="6404184" y="1879600"/>
            <a:ext cx="920333" cy="927100"/>
          </a:xfrm>
          <a:prstGeom prst="rect">
            <a:avLst/>
          </a:prstGeom>
        </p:spPr>
      </p:pic>
      <p:sp>
        <p:nvSpPr>
          <p:cNvPr id="29" name="矩形 28"/>
          <p:cNvSpPr/>
          <p:nvPr/>
        </p:nvSpPr>
        <p:spPr>
          <a:xfrm>
            <a:off x="7404100" y="1727200"/>
            <a:ext cx="50800" cy="1308100"/>
          </a:xfrm>
          <a:prstGeom prst="rect">
            <a:avLst/>
          </a:prstGeom>
          <a:solidFill>
            <a:srgbClr val="16857D"/>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0" name="文本框 29"/>
          <p:cNvSpPr txBox="1"/>
          <p:nvPr/>
        </p:nvSpPr>
        <p:spPr>
          <a:xfrm>
            <a:off x="7683500" y="1752600"/>
            <a:ext cx="4076700" cy="304800"/>
          </a:xfrm>
          <a:prstGeom prst="rect">
            <a:avLst/>
          </a:prstGeom>
          <a:noFill/>
        </p:spPr>
        <p:txBody>
          <a:bodyPr vert="horz" wrap="square" lIns="0" tIns="0" rIns="0" bIns="0" rtlCol="0">
            <a:noAutofit/>
          </a:bodyPr>
          <a:lstStyle/>
          <a:p>
            <a:r>
              <a:rPr lang="zh-CN" altLang="en-US" sz="1700" b="1">
                <a:solidFill>
                  <a:srgbClr val="16857D"/>
                </a:solidFill>
                <a:latin typeface="微软雅黑" panose="020B0503020204020204" pitchFamily="34" charset="-122"/>
                <a:ea typeface="微软雅黑" panose="020B0503020204020204" pitchFamily="34" charset="-122"/>
              </a:rPr>
              <a:t>方法改造具备可行性</a:t>
            </a:r>
            <a:endParaRPr lang="zh-CN" altLang="en-US" sz="1700" b="1">
              <a:solidFill>
                <a:srgbClr val="16857D"/>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7683500" y="2146300"/>
            <a:ext cx="4051300" cy="8128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拟在MVX-Net融合环节接入小型MLP与Softmax，采用门控加权或加权拼接；通过指标精简与模块规模控制新增开销。</a:t>
            </a:r>
            <a:endParaRPr lang="zh-CN" sz="1180"/>
          </a:p>
        </p:txBody>
      </p:sp>
      <p:sp>
        <p:nvSpPr>
          <p:cNvPr id="32" name="矩形 31"/>
          <p:cNvSpPr/>
          <p:nvPr/>
        </p:nvSpPr>
        <p:spPr>
          <a:xfrm>
            <a:off x="6311900" y="3365500"/>
            <a:ext cx="5562600" cy="14224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34" name="图片 33"/>
          <p:cNvPicPr/>
          <p:nvPr/>
        </p:nvPicPr>
        <p:blipFill>
          <a:blip r:embed="rId5">
            <a:extLst>
              <a:ext uri="{28A0092B-C50C-407E-A947-70E740481C1C}">
                <a14:useLocalDpi xmlns:a14="http://schemas.microsoft.com/office/drawing/2010/main" val="0"/>
              </a:ext>
            </a:extLst>
          </a:blip>
          <a:stretch>
            <a:fillRect/>
          </a:stretch>
        </p:blipFill>
        <p:spPr>
          <a:xfrm>
            <a:off x="6404184" y="3644900"/>
            <a:ext cx="920333" cy="927100"/>
          </a:xfrm>
          <a:prstGeom prst="rect">
            <a:avLst/>
          </a:prstGeom>
        </p:spPr>
      </p:pic>
      <p:sp>
        <p:nvSpPr>
          <p:cNvPr id="35" name="矩形 34"/>
          <p:cNvSpPr/>
          <p:nvPr/>
        </p:nvSpPr>
        <p:spPr>
          <a:xfrm>
            <a:off x="7404100" y="3492500"/>
            <a:ext cx="50800" cy="1168400"/>
          </a:xfrm>
          <a:prstGeom prst="rect">
            <a:avLst/>
          </a:prstGeom>
          <a:solidFill>
            <a:srgbClr val="7251B5"/>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36" name="文本框 35"/>
          <p:cNvSpPr txBox="1"/>
          <p:nvPr/>
        </p:nvSpPr>
        <p:spPr>
          <a:xfrm>
            <a:off x="7683500" y="3517900"/>
            <a:ext cx="4076700" cy="304800"/>
          </a:xfrm>
          <a:prstGeom prst="rect">
            <a:avLst/>
          </a:prstGeom>
          <a:noFill/>
        </p:spPr>
        <p:txBody>
          <a:bodyPr vert="horz" wrap="square" lIns="0" tIns="0" rIns="0" bIns="0" rtlCol="0">
            <a:noAutofit/>
          </a:bodyPr>
          <a:lstStyle/>
          <a:p>
            <a:r>
              <a:rPr lang="zh-CN" altLang="en-US" sz="1700" b="1">
                <a:solidFill>
                  <a:srgbClr val="7251B5"/>
                </a:solidFill>
                <a:latin typeface="微软雅黑" panose="020B0503020204020204" pitchFamily="34" charset="-122"/>
                <a:ea typeface="微软雅黑" panose="020B0503020204020204" pitchFamily="34" charset="-122"/>
              </a:rPr>
              <a:t>实验验证具备可行性</a:t>
            </a:r>
            <a:endParaRPr lang="zh-CN" altLang="en-US" sz="1700" b="1">
              <a:solidFill>
                <a:srgbClr val="7251B5"/>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7683500" y="3911600"/>
            <a:ext cx="4051300" cy="8128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利用KITTI标注评价3D AP、召回与定位误差，比较原始和改进MVX-Net并开展消融；同时统计耗时、参数量和显存。</a:t>
            </a:r>
            <a:endParaRPr lang="zh-CN" sz="1180"/>
          </a:p>
        </p:txBody>
      </p:sp>
      <p:sp>
        <p:nvSpPr>
          <p:cNvPr id="38" name="矩形 37"/>
          <p:cNvSpPr/>
          <p:nvPr/>
        </p:nvSpPr>
        <p:spPr>
          <a:xfrm>
            <a:off x="6642100" y="5003800"/>
            <a:ext cx="5232400" cy="1371600"/>
          </a:xfrm>
          <a:prstGeom prst="rect">
            <a:avLst/>
          </a:prstGeom>
          <a:solidFill>
            <a:srgbClr val="F3F8FD"/>
          </a:solidFill>
          <a:ln w="8890">
            <a:solidFill>
              <a:srgbClr val="D8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pic>
        <p:nvPicPr>
          <p:cNvPr id="40" name="图片 39"/>
          <p:cNvPicPr/>
          <p:nvPr/>
        </p:nvPicPr>
        <p:blipFill>
          <a:blip r:embed="rId6">
            <a:extLst>
              <a:ext uri="{28A0092B-C50C-407E-A947-70E740481C1C}">
                <a14:useLocalDpi xmlns:a14="http://schemas.microsoft.com/office/drawing/2010/main" val="0"/>
              </a:ext>
            </a:extLst>
          </a:blip>
          <a:stretch>
            <a:fillRect/>
          </a:stretch>
        </p:blipFill>
        <p:spPr>
          <a:xfrm>
            <a:off x="6734384" y="5283200"/>
            <a:ext cx="920333" cy="927100"/>
          </a:xfrm>
          <a:prstGeom prst="rect">
            <a:avLst/>
          </a:prstGeom>
        </p:spPr>
      </p:pic>
      <p:sp>
        <p:nvSpPr>
          <p:cNvPr id="41" name="矩形 40"/>
          <p:cNvSpPr/>
          <p:nvPr/>
        </p:nvSpPr>
        <p:spPr>
          <a:xfrm>
            <a:off x="7734300" y="5130800"/>
            <a:ext cx="50800" cy="1117600"/>
          </a:xfrm>
          <a:prstGeom prst="rect">
            <a:avLst/>
          </a:prstGeom>
          <a:solidFill>
            <a:srgbClr val="004A9F"/>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42" name="文本框 41"/>
          <p:cNvSpPr txBox="1"/>
          <p:nvPr/>
        </p:nvSpPr>
        <p:spPr>
          <a:xfrm>
            <a:off x="8013700" y="5156200"/>
            <a:ext cx="3746500" cy="304800"/>
          </a:xfrm>
          <a:prstGeom prst="rect">
            <a:avLst/>
          </a:prstGeom>
          <a:noFill/>
        </p:spPr>
        <p:txBody>
          <a:bodyPr vert="horz" wrap="square" lIns="0" tIns="0" rIns="0" bIns="0" rtlCol="0">
            <a:noAutofit/>
          </a:bodyPr>
          <a:lstStyle/>
          <a:p>
            <a:r>
              <a:rPr lang="zh-CN" altLang="en-US" sz="1700" b="1">
                <a:solidFill>
                  <a:srgbClr val="004A9F"/>
                </a:solidFill>
                <a:latin typeface="微软雅黑" panose="020B0503020204020204" pitchFamily="34" charset="-122"/>
                <a:ea typeface="微软雅黑" panose="020B0503020204020204" pitchFamily="34" charset="-122"/>
              </a:rPr>
              <a:t>总体判断</a:t>
            </a:r>
            <a:endParaRPr lang="zh-CN" altLang="en-US" sz="1700" b="1">
              <a:solidFill>
                <a:srgbClr val="004A9F"/>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8013700" y="5549900"/>
            <a:ext cx="3721100" cy="673100"/>
          </a:xfrm>
          <a:prstGeom prst="rect">
            <a:avLst/>
          </a:prstGeom>
          <a:noFill/>
        </p:spPr>
        <p:txBody>
          <a:bodyPr wrap="square" lIns="0" tIns="0" rIns="0" bIns="0" anchor="t">
            <a:noAutofit/>
          </a:bodyPr>
          <a:lstStyle/>
          <a:p>
            <a:pPr marL="0" marR="0" algn="l">
              <a:lnSpc>
                <a:spcPts val="1475"/>
              </a:lnSpc>
              <a:buNone/>
            </a:pPr>
            <a:r>
              <a:rPr lang="zh-CN" sz="1180" b="0"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已有系统、公开数据和开源工具提供实施基础，可按数据构建、融合改造和轻量化验证逐步推进。</a:t>
            </a:r>
            <a:endParaRPr lang="zh-CN" sz="1180"/>
          </a:p>
        </p:txBody>
      </p:sp>
      <p:cxnSp>
        <p:nvCxnSpPr>
          <p:cNvPr id="44" name="直接连接符 43"/>
          <p:cNvCxnSpPr/>
          <p:nvPr/>
        </p:nvCxnSpPr>
        <p:spPr>
          <a:xfrm>
            <a:off x="6121400" y="1600200"/>
            <a:ext cx="0" cy="4889500"/>
          </a:xfrm>
          <a:prstGeom prst="line">
            <a:avLst/>
          </a:prstGeom>
          <a:ln w="10160">
            <a:solidFill>
              <a:srgbClr val="D8E4E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Editable connector"/>
          <p:cNvCxnSpPr/>
          <p:nvPr/>
        </p:nvCxnSpPr>
        <p:spPr>
          <a:xfrm>
            <a:off x="1079500" y="254000"/>
            <a:ext cx="0" cy="330200"/>
          </a:xfrm>
          <a:prstGeom prst="line">
            <a:avLst/>
          </a:prstGeom>
          <a:ln w="8890" cap="flat">
            <a:solidFill>
              <a:srgbClr val="9AB9D8"/>
            </a:solidFill>
            <a:prstDash val="solid"/>
          </a:ln>
        </p:spPr>
      </p:cxnSp>
      <p:cxnSp>
        <p:nvCxnSpPr>
          <p:cNvPr id="13" name="Editable connector"/>
          <p:cNvCxnSpPr/>
          <p:nvPr/>
        </p:nvCxnSpPr>
        <p:spPr>
          <a:xfrm>
            <a:off x="355600" y="736600"/>
            <a:ext cx="11480800" cy="0"/>
          </a:xfrm>
          <a:prstGeom prst="line">
            <a:avLst/>
          </a:prstGeom>
          <a:ln w="10160" cap="flat">
            <a:solidFill>
              <a:srgbClr val="C8DBEC"/>
            </a:solidFill>
            <a:prstDash val="solid"/>
          </a:ln>
        </p:spPr>
      </p:cxnSp>
      <p:cxnSp>
        <p:nvCxnSpPr>
          <p:cNvPr id="18" name="Editable connector"/>
          <p:cNvCxnSpPr/>
          <p:nvPr/>
        </p:nvCxnSpPr>
        <p:spPr>
          <a:xfrm>
            <a:off x="355600" y="1854200"/>
            <a:ext cx="11480800" cy="0"/>
          </a:xfrm>
          <a:prstGeom prst="line">
            <a:avLst/>
          </a:prstGeom>
          <a:ln w="8890" cap="flat">
            <a:solidFill>
              <a:srgbClr val="C8DBEC"/>
            </a:solidFill>
            <a:prstDash val="solid"/>
          </a:ln>
        </p:spPr>
      </p:cxnSp>
      <p:cxnSp>
        <p:nvCxnSpPr>
          <p:cNvPr id="21" name="Editable connector"/>
          <p:cNvCxnSpPr/>
          <p:nvPr/>
        </p:nvCxnSpPr>
        <p:spPr>
          <a:xfrm>
            <a:off x="355600" y="6159500"/>
            <a:ext cx="11480800" cy="0"/>
          </a:xfrm>
          <a:prstGeom prst="line">
            <a:avLst/>
          </a:prstGeom>
          <a:ln w="12700" cap="flat">
            <a:solidFill>
              <a:srgbClr val="004A9F"/>
            </a:solidFill>
            <a:prstDash val="solid"/>
          </a:ln>
        </p:spPr>
      </p:cxnSp>
      <p:graphicFrame>
        <p:nvGraphicFramePr>
          <p:cNvPr id="20" name="Editable research schedule table"/>
          <p:cNvGraphicFramePr/>
          <p:nvPr/>
        </p:nvGraphicFramePr>
        <p:xfrm>
          <a:off x="355600" y="2451100"/>
          <a:ext cx="11480800" cy="3752850"/>
        </p:xfrm>
        <a:graphic>
          <a:graphicData uri="http://schemas.openxmlformats.org/drawingml/2006/table">
            <a:tbl>
              <a:tblPr>
                <a:noFill/>
              </a:tblPr>
              <a:tblGrid>
                <a:gridCol w="619125"/>
                <a:gridCol w="4191000"/>
                <a:gridCol w="1000125"/>
                <a:gridCol w="2047875"/>
                <a:gridCol w="3619500"/>
              </a:tblGrid>
              <a:tr h="400050">
                <a:tc>
                  <a:txBody>
                    <a:bodyPr wrap="square">
                      <a:noAutofit/>
                    </a:bodyPr>
                    <a:lstStyle/>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序号</a:t>
                      </a:r>
                      <a:endParaRPr lang="zh-CN" sz="1250"/>
                    </a:p>
                  </a:txBody>
                  <a:tcPr marL="76200" marR="76200" marT="19050" marB="19050" anchor="ctr">
                    <a:lnL w="8890">
                      <a:noFill/>
                    </a:lnL>
                    <a:lnR w="8890">
                      <a:noFill/>
                    </a:lnR>
                    <a:lnT w="8890">
                      <a:noFill/>
                    </a:lnT>
                    <a:lnB w="8890">
                      <a:solidFill>
                        <a:srgbClr val="ABC2D9"/>
                      </a:solidFill>
                    </a:lnB>
                    <a:solidFill>
                      <a:srgbClr val="EBF3FA"/>
                    </a:solidFill>
                  </a:tcPr>
                </a:tc>
                <a:tc>
                  <a:txBody>
                    <a:bodyPr wrap="square">
                      <a:noAutofit/>
                    </a:bodyPr>
                    <a:lstStyle/>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阶段及内容</a:t>
                      </a:r>
                      <a:endParaRPr lang="zh-CN" sz="1250"/>
                    </a:p>
                  </a:txBody>
                  <a:tcPr marL="76200" marR="76200" marT="19050" marB="19050" anchor="ctr">
                    <a:lnL w="8890">
                      <a:noFill/>
                    </a:lnL>
                    <a:lnR w="8890">
                      <a:noFill/>
                    </a:lnR>
                    <a:lnT w="8890">
                      <a:noFill/>
                    </a:lnT>
                    <a:lnB w="8890">
                      <a:solidFill>
                        <a:srgbClr val="ABC2D9"/>
                      </a:solidFill>
                    </a:lnB>
                    <a:solidFill>
                      <a:srgbClr val="EBF3FA"/>
                    </a:solidFill>
                  </a:tcPr>
                </a:tc>
                <a:tc>
                  <a:txBody>
                    <a:bodyPr wrap="square">
                      <a:noAutofit/>
                    </a:bodyPr>
                    <a:lstStyle/>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预计工时</a:t>
                      </a:r>
                      <a:endParaRPr lang="zh-CN" sz="1250"/>
                    </a:p>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（小时）</a:t>
                      </a:r>
                      <a:endParaRPr lang="zh-CN" sz="1250"/>
                    </a:p>
                  </a:txBody>
                  <a:tcPr marL="76200" marR="76200" marT="19050" marB="19050" anchor="ctr">
                    <a:lnL w="8890">
                      <a:noFill/>
                    </a:lnL>
                    <a:lnR w="8890">
                      <a:noFill/>
                    </a:lnR>
                    <a:lnT w="8890">
                      <a:noFill/>
                    </a:lnT>
                    <a:lnB w="8890">
                      <a:solidFill>
                        <a:srgbClr val="ABC2D9"/>
                      </a:solidFill>
                    </a:lnB>
                    <a:solidFill>
                      <a:srgbClr val="EBF3FA"/>
                    </a:solidFill>
                  </a:tcPr>
                </a:tc>
                <a:tc>
                  <a:txBody>
                    <a:bodyPr wrap="square">
                      <a:noAutofit/>
                    </a:bodyPr>
                    <a:lstStyle/>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起止日期</a:t>
                      </a:r>
                      <a:endParaRPr lang="zh-CN" sz="1250"/>
                    </a:p>
                  </a:txBody>
                  <a:tcPr marL="76200" marR="76200" marT="19050" marB="19050" anchor="ctr">
                    <a:lnL w="8890">
                      <a:noFill/>
                    </a:lnL>
                    <a:lnR w="8890">
                      <a:noFill/>
                    </a:lnR>
                    <a:lnT w="8890">
                      <a:noFill/>
                    </a:lnT>
                    <a:lnB w="8890">
                      <a:solidFill>
                        <a:srgbClr val="ABC2D9"/>
                      </a:solidFill>
                    </a:lnB>
                    <a:solidFill>
                      <a:srgbClr val="EBF3FA"/>
                    </a:solidFill>
                  </a:tcPr>
                </a:tc>
                <a:tc>
                  <a:txBody>
                    <a:bodyPr wrap="square">
                      <a:noAutofit/>
                    </a:bodyPr>
                    <a:lstStyle/>
                    <a:p>
                      <a:pPr algn="ctr">
                        <a:lnSpc>
                          <a:spcPts val="1450"/>
                        </a:lnSpc>
                        <a:buNone/>
                      </a:pPr>
                      <a:r>
                        <a:rPr lang="zh-CN" sz="12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阶段目标</a:t>
                      </a:r>
                      <a:endParaRPr lang="zh-CN" sz="1250"/>
                    </a:p>
                  </a:txBody>
                  <a:tcPr marL="76200" marR="76200" marT="19050" marB="19050" anchor="ctr">
                    <a:lnL w="8890">
                      <a:noFill/>
                    </a:lnL>
                    <a:lnR w="8890">
                      <a:noFill/>
                    </a:lnR>
                    <a:lnT w="8890">
                      <a:noFill/>
                    </a:lnT>
                    <a:lnB w="8890">
                      <a:solidFill>
                        <a:srgbClr val="ABC2D9"/>
                      </a:solidFill>
                    </a:lnB>
                    <a:solidFill>
                      <a:srgbClr val="EBF3FA"/>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研究课题及研究背景的确定</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600</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2026.07.01—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2026.07.30</a:t>
                      </a:r>
                      <a:endParaRPr lang="zh-CN" sz="119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确定开展方向和题目</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资料收集、研究现状分析；</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课题初步方案的确定</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300</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2026.08.01—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2026.08.20</a:t>
                      </a:r>
                      <a:endParaRPr lang="zh-CN" sz="119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了解相关研究成果</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3</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课题方案最终确定；</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涉及的技术方法学习掌握</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600</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2026.08.20—</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2026.10.20</a:t>
                      </a:r>
                      <a:endParaRPr lang="zh-CN" sz="119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确定课题研究内容</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及相关指标</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4</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实现最初算法模型的设计；</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和其他论文方法进行对比</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800</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2026.10.21—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2027.01.01</a:t>
                      </a:r>
                      <a:endParaRPr lang="zh-CN" sz="119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设计最初模型，</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对比得出结果</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5</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模型优化改进；</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和其他论文方法进行对比</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1000</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2027.01.01—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2027.05.01</a:t>
                      </a:r>
                      <a:endParaRPr lang="zh-CN" sz="119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优化最初模型，</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对比实验结果</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6</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根据现有效果处理数据信息，</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补充细节处理</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1000</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2027.05.01—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2027.10.01</a:t>
                      </a:r>
                      <a:endParaRPr lang="zh-CN" sz="119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编写相关代码，</a:t>
                      </a:r>
                      <a:endParaRPr lang="zh-CN" sz="1240"/>
                    </a:p>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对比实验结果</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7</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学术论文的撰写和投递</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600</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2027.10.01—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2028.02.20</a:t>
                      </a:r>
                      <a:endParaRPr lang="zh-CN" sz="1190"/>
                    </a:p>
                  </a:txBody>
                  <a:tcPr marL="76200" marR="76200" marT="19050" marB="19050" anchor="ctr">
                    <a:lnL w="8890">
                      <a:noFill/>
                    </a:lnL>
                    <a:lnR w="8890">
                      <a:noFill/>
                    </a:lnR>
                    <a:lnT w="8890">
                      <a:noFill/>
                    </a:lnT>
                    <a:lnB w="8890">
                      <a:solidFill>
                        <a:srgbClr val="DCE6EF"/>
                      </a:solidFill>
                    </a:lnB>
                    <a:solidFill>
                      <a:srgbClr val="FFFFFF"/>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发表论文</a:t>
                      </a:r>
                      <a:endParaRPr lang="zh-CN" sz="1240"/>
                    </a:p>
                  </a:txBody>
                  <a:tcPr marL="76200" marR="76200" marT="19050" marB="19050" anchor="ctr">
                    <a:lnL w="8890">
                      <a:noFill/>
                    </a:lnL>
                    <a:lnR w="8890">
                      <a:noFill/>
                    </a:lnR>
                    <a:lnT w="8890">
                      <a:noFill/>
                    </a:lnT>
                    <a:lnB w="8890">
                      <a:solidFill>
                        <a:srgbClr val="DCE6EF"/>
                      </a:solidFill>
                    </a:lnB>
                    <a:solidFill>
                      <a:srgbClr val="FFFFFF"/>
                    </a:solidFill>
                  </a:tcPr>
                </a:tc>
              </a:tr>
              <a:tr h="419100">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8</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学位论文的撰写</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300</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2028.03.01—</a:t>
                      </a:r>
                      <a:endParaRPr lang="zh-CN" sz="1190"/>
                    </a:p>
                    <a:p>
                      <a:pPr algn="ctr">
                        <a:lnSpc>
                          <a:spcPts val="1450"/>
                        </a:lnSpc>
                        <a:buNone/>
                      </a:pPr>
                      <a:r>
                        <a:rPr lang="zh-CN" sz="119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2028.05.01</a:t>
                      </a:r>
                      <a:endParaRPr lang="zh-CN" sz="1190"/>
                    </a:p>
                  </a:txBody>
                  <a:tcPr marL="76200" marR="76200" marT="19050" marB="19050" anchor="ctr">
                    <a:lnL w="8890">
                      <a:noFill/>
                    </a:lnL>
                    <a:lnR w="8890">
                      <a:noFill/>
                    </a:lnR>
                    <a:lnT w="8890">
                      <a:noFill/>
                    </a:lnT>
                    <a:lnB w="8890">
                      <a:solidFill>
                        <a:srgbClr val="DCE6EF"/>
                      </a:solidFill>
                    </a:lnB>
                    <a:solidFill>
                      <a:srgbClr val="F5F8FC"/>
                    </a:solidFill>
                  </a:tcPr>
                </a:tc>
                <a:tc>
                  <a:txBody>
                    <a:bodyPr wrap="square">
                      <a:noAutofit/>
                    </a:bodyPr>
                    <a:lstStyle/>
                    <a:p>
                      <a:pPr algn="l">
                        <a:lnSpc>
                          <a:spcPts val="1450"/>
                        </a:lnSpc>
                        <a:buNone/>
                      </a:pPr>
                      <a:r>
                        <a:rPr lang="zh-CN" sz="124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论文撰写完成</a:t>
                      </a:r>
                      <a:endParaRPr lang="zh-CN" sz="1240"/>
                    </a:p>
                  </a:txBody>
                  <a:tcPr marL="76200" marR="76200" marT="19050" marB="19050" anchor="ctr">
                    <a:lnL w="8890">
                      <a:noFill/>
                    </a:lnL>
                    <a:lnR w="8890">
                      <a:noFill/>
                    </a:lnR>
                    <a:lnT w="8890">
                      <a:noFill/>
                    </a:lnT>
                    <a:lnB w="8890">
                      <a:solidFill>
                        <a:srgbClr val="DCE6EF"/>
                      </a:solidFill>
                    </a:lnB>
                    <a:solidFill>
                      <a:srgbClr val="F5F8FC"/>
                    </a:solidFill>
                  </a:tcPr>
                </a:tc>
              </a:tr>
            </a:tbl>
          </a:graphicData>
        </a:graphic>
      </p:graphicFrame>
      <p:sp>
        <p:nvSpPr>
          <p:cNvPr id="10" name="Section"/>
          <p:cNvSpPr txBox="1"/>
          <p:nvPr/>
        </p:nvSpPr>
        <p:spPr>
          <a:xfrm>
            <a:off x="355600" y="215900"/>
            <a:ext cx="609600" cy="457200"/>
          </a:xfrm>
          <a:prstGeom prst="rect">
            <a:avLst/>
          </a:prstGeom>
          <a:noFill/>
          <a:ln w="10160">
            <a:noFill/>
          </a:ln>
        </p:spPr>
        <p:txBody>
          <a:bodyPr wrap="square" lIns="0" tIns="0" rIns="0" bIns="0" anchor="ctr">
            <a:noAutofit/>
          </a:bodyPr>
          <a:lstStyle/>
          <a:p>
            <a:pPr marL="0" marR="0" algn="l">
              <a:lnSpc>
                <a:spcPts val="3585"/>
              </a:lnSpc>
              <a:buNone/>
            </a:pPr>
            <a:r>
              <a:rPr lang="zh-CN" sz="28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sz="2800"/>
          </a:p>
        </p:txBody>
      </p:sp>
      <p:sp>
        <p:nvSpPr>
          <p:cNvPr id="12" name="Slide title"/>
          <p:cNvSpPr txBox="1"/>
          <p:nvPr/>
        </p:nvSpPr>
        <p:spPr>
          <a:xfrm>
            <a:off x="1371600" y="215900"/>
            <a:ext cx="10464800" cy="457200"/>
          </a:xfrm>
          <a:prstGeom prst="rect">
            <a:avLst/>
          </a:prstGeom>
          <a:noFill/>
          <a:ln w="10160">
            <a:noFill/>
          </a:ln>
        </p:spPr>
        <p:txBody>
          <a:bodyPr wrap="square" lIns="0" tIns="0" rIns="0" bIns="0" anchor="ctr">
            <a:noAutofit/>
          </a:bodyPr>
          <a:lstStyle/>
          <a:p>
            <a:pPr marL="0" marR="0" algn="l">
              <a:lnSpc>
                <a:spcPts val="3330"/>
              </a:lnSpc>
              <a:buNone/>
            </a:pPr>
            <a:r>
              <a:rPr lang="zh-CN" sz="260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预期成果与工作计划</a:t>
            </a:r>
            <a:endParaRPr lang="zh-CN" sz="2600"/>
          </a:p>
        </p:txBody>
      </p:sp>
      <p:sp>
        <p:nvSpPr>
          <p:cNvPr id="14" name="Subtitle"/>
          <p:cNvSpPr txBox="1"/>
          <p:nvPr/>
        </p:nvSpPr>
        <p:spPr>
          <a:xfrm>
            <a:off x="368300" y="927100"/>
            <a:ext cx="11455400" cy="342900"/>
          </a:xfrm>
          <a:prstGeom prst="rect">
            <a:avLst/>
          </a:prstGeom>
          <a:noFill/>
          <a:ln w="10160">
            <a:noFill/>
          </a:ln>
        </p:spPr>
        <p:txBody>
          <a:bodyPr wrap="square" lIns="0" tIns="0" rIns="0" bIns="0" anchor="ctr">
            <a:noAutofit/>
          </a:bodyPr>
          <a:lstStyle/>
          <a:p>
            <a:pPr marL="0" marR="0" algn="l">
              <a:lnSpc>
                <a:spcPts val="1730"/>
              </a:lnSpc>
              <a:buNone/>
            </a:pPr>
            <a:endParaRPr lang="zh-CN" sz="1350"/>
          </a:p>
        </p:txBody>
      </p:sp>
      <p:sp>
        <p:nvSpPr>
          <p:cNvPr id="15" name="Page number"/>
          <p:cNvSpPr txBox="1"/>
          <p:nvPr/>
        </p:nvSpPr>
        <p:spPr>
          <a:xfrm>
            <a:off x="11569700" y="6604000"/>
            <a:ext cx="342900" cy="203200"/>
          </a:xfrm>
          <a:prstGeom prst="rect">
            <a:avLst/>
          </a:prstGeom>
          <a:noFill/>
          <a:ln w="10160">
            <a:noFill/>
          </a:ln>
        </p:spPr>
        <p:txBody>
          <a:bodyPr wrap="square" lIns="0" tIns="0" rIns="0" bIns="0" anchor="ctr">
            <a:noAutofit/>
          </a:bodyPr>
          <a:lstStyle/>
          <a:p>
            <a:pPr marL="0" marR="0" algn="r">
              <a:lnSpc>
                <a:spcPts val="1470"/>
              </a:lnSpc>
              <a:buNone/>
            </a:pPr>
            <a:r>
              <a:rPr lang="zh-CN" sz="1150" b="0"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20</a:t>
            </a:r>
            <a:endParaRPr lang="zh-CN" sz="1150"/>
          </a:p>
        </p:txBody>
      </p:sp>
      <p:sp>
        <p:nvSpPr>
          <p:cNvPr id="16" name="Expected results label"/>
          <p:cNvSpPr txBox="1"/>
          <p:nvPr/>
        </p:nvSpPr>
        <p:spPr>
          <a:xfrm>
            <a:off x="355600" y="1003300"/>
            <a:ext cx="1257300" cy="355600"/>
          </a:xfrm>
          <a:prstGeom prst="rect">
            <a:avLst/>
          </a:prstGeom>
          <a:noFill/>
          <a:ln w="10160">
            <a:noFill/>
          </a:ln>
        </p:spPr>
        <p:txBody>
          <a:bodyPr wrap="square" lIns="0" tIns="0" rIns="0" bIns="0" anchor="ctr">
            <a:noAutofit/>
          </a:bodyPr>
          <a:lstStyle/>
          <a:p>
            <a:pPr marL="0" marR="0" algn="l">
              <a:lnSpc>
                <a:spcPts val="2175"/>
              </a:lnSpc>
              <a:buNone/>
            </a:pPr>
            <a:r>
              <a:rPr lang="zh-CN" sz="1700" b="1" dirty="0">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预期成果</a:t>
            </a:r>
            <a:endParaRPr lang="zh-CN" sz="1700"/>
          </a:p>
        </p:txBody>
      </p:sp>
      <p:sp>
        <p:nvSpPr>
          <p:cNvPr id="17" name="Expected research results"/>
          <p:cNvSpPr txBox="1"/>
          <p:nvPr/>
        </p:nvSpPr>
        <p:spPr>
          <a:xfrm>
            <a:off x="1752600" y="977900"/>
            <a:ext cx="10083800" cy="698500"/>
          </a:xfrm>
          <a:prstGeom prst="rect">
            <a:avLst/>
          </a:prstGeom>
          <a:noFill/>
          <a:ln w="10160">
            <a:noFill/>
          </a:ln>
        </p:spPr>
        <p:txBody>
          <a:bodyPr wrap="square" lIns="0" tIns="0" rIns="0" bIns="0" anchor="ctr">
            <a:noAutofit/>
          </a:bodyPr>
          <a:lstStyle/>
          <a:p>
            <a:pPr marL="0" marR="0" algn="l">
              <a:lnSpc>
                <a:spcPts val="1800"/>
              </a:lnSpc>
              <a:buNone/>
            </a:pPr>
            <a:r>
              <a:rPr lang="zh-CN" sz="13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数据与规律：</a:t>
            </a:r>
            <a:r>
              <a:rPr lang="zh-CN" sz="135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建立六类强度可控的退化样本，明确模态质量变化对三维检测的影响。</a:t>
            </a:r>
            <a:endParaRPr lang="zh-CN" sz="1350"/>
          </a:p>
          <a:p>
            <a:pPr marL="0" marR="0" algn="l">
              <a:lnSpc>
                <a:spcPts val="1800"/>
              </a:lnSpc>
              <a:buNone/>
            </a:pPr>
            <a:r>
              <a:rPr lang="zh-CN" sz="13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融合效果：</a:t>
            </a:r>
            <a:r>
              <a:rPr lang="zh-CN" sz="135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形成质量引导的融合方法，较原始MVX-Net提高3D AP与召回、减少漏检。</a:t>
            </a:r>
            <a:endParaRPr lang="zh-CN" sz="1350"/>
          </a:p>
          <a:p>
            <a:pPr marL="0" marR="0" algn="l">
              <a:lnSpc>
                <a:spcPts val="1800"/>
              </a:lnSpc>
              <a:buNone/>
            </a:pPr>
            <a:r>
              <a:rPr lang="zh-CN" sz="1350" b="1">
                <a:solidFill>
                  <a:srgbClr val="004A9F"/>
                </a:solidFill>
                <a:latin typeface="微软雅黑" panose="020B0503020204020204" pitchFamily="34" charset="-122"/>
                <a:ea typeface="微软雅黑" panose="020B0503020204020204" pitchFamily="34" charset="-122"/>
                <a:cs typeface="微软雅黑" panose="020B0503020204020204" pitchFamily="34" charset="-122"/>
              </a:rPr>
              <a:t>运行效率：</a:t>
            </a:r>
            <a:r>
              <a:rPr lang="zh-CN" sz="1350" b="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形成精简指标与紧凑模块，较完整改进方案降低新增耗时与显存开销。</a:t>
            </a:r>
            <a:endParaRPr lang="zh-CN" sz="1350"/>
          </a:p>
        </p:txBody>
      </p:sp>
      <p:sp>
        <p:nvSpPr>
          <p:cNvPr id="19" name="Schedule heading"/>
          <p:cNvSpPr txBox="1"/>
          <p:nvPr/>
        </p:nvSpPr>
        <p:spPr>
          <a:xfrm>
            <a:off x="355600" y="1955800"/>
            <a:ext cx="11480800" cy="355600"/>
          </a:xfrm>
          <a:prstGeom prst="rect">
            <a:avLst/>
          </a:prstGeom>
          <a:noFill/>
          <a:ln w="10160">
            <a:noFill/>
          </a:ln>
        </p:spPr>
        <p:txBody>
          <a:bodyPr wrap="square" lIns="0" tIns="0" rIns="0" bIns="0" anchor="ctr">
            <a:noAutofit/>
          </a:bodyPr>
          <a:lstStyle/>
          <a:p>
            <a:pPr marL="0" marR="0" algn="ctr">
              <a:lnSpc>
                <a:spcPts val="2370"/>
              </a:lnSpc>
              <a:buNone/>
            </a:pPr>
            <a:r>
              <a:rPr lang="zh-CN" sz="1850" b="1" dirty="0">
                <a:solidFill>
                  <a:srgbClr val="18222D"/>
                </a:solidFill>
                <a:latin typeface="微软雅黑" panose="020B0503020204020204" pitchFamily="34" charset="-122"/>
                <a:ea typeface="微软雅黑" panose="020B0503020204020204" pitchFamily="34" charset="-122"/>
                <a:cs typeface="微软雅黑" panose="020B0503020204020204" pitchFamily="34" charset="-122"/>
              </a:rPr>
              <a:t>研究任务进度一览表</a:t>
            </a:r>
            <a:endParaRPr lang="zh-CN" sz="1850"/>
          </a:p>
        </p:txBody>
      </p:sp>
      <p:sp>
        <p:nvSpPr>
          <p:cNvPr id="22" name="Plan period"/>
          <p:cNvSpPr txBox="1"/>
          <p:nvPr/>
        </p:nvSpPr>
        <p:spPr>
          <a:xfrm>
            <a:off x="355600" y="6273800"/>
            <a:ext cx="11480800" cy="292100"/>
          </a:xfrm>
          <a:prstGeom prst="rect">
            <a:avLst/>
          </a:prstGeom>
          <a:noFill/>
          <a:ln w="10160">
            <a:noFill/>
          </a:ln>
        </p:spPr>
        <p:txBody>
          <a:bodyPr wrap="square" lIns="0" tIns="0" rIns="0" bIns="0" anchor="ctr">
            <a:noAutofit/>
          </a:bodyPr>
          <a:lstStyle/>
          <a:p>
            <a:pPr marL="0" marR="0" algn="ctr">
              <a:lnSpc>
                <a:spcPts val="1730"/>
              </a:lnSpc>
              <a:buNone/>
            </a:pPr>
            <a:r>
              <a:rPr lang="zh-CN" sz="1250" b="1" dirty="0">
                <a:solidFill>
                  <a:srgbClr val="586674"/>
                </a:solidFill>
                <a:latin typeface="微软雅黑" panose="020B0503020204020204" pitchFamily="34" charset="-122"/>
                <a:ea typeface="微软雅黑" panose="020B0503020204020204" pitchFamily="34" charset="-122"/>
                <a:cs typeface="微软雅黑" panose="020B0503020204020204" pitchFamily="34" charset="-122"/>
              </a:rPr>
              <a:t>计划周期：2026.07.01—2028.05.01    预计总工时：5200小时</a:t>
            </a:r>
            <a:endParaRPr lang="zh-CN" sz="13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图片 2"/>
          <p:cNvPicPr/>
          <p:nvPr/>
        </p:nvPicPr>
        <p:blipFill>
          <a:blip r:embed="rId1">
            <a:extLst>
              <a:ext uri="{28A0092B-C50C-407E-A947-70E740481C1C}">
                <a14:useLocalDpi xmlns:a14="http://schemas.microsoft.com/office/drawing/2010/main" val="0"/>
              </a:ext>
            </a:extLst>
          </a:blip>
          <a:stretch>
            <a:fillRect/>
          </a:stretch>
        </p:blipFill>
        <p:spPr>
          <a:xfrm>
            <a:off x="7018215" y="1041400"/>
            <a:ext cx="5115169" cy="5613400"/>
          </a:xfrm>
          <a:prstGeom prst="rect">
            <a:avLst/>
          </a:prstGeom>
        </p:spPr>
      </p:pic>
      <p:sp>
        <p:nvSpPr>
          <p:cNvPr id="4" name="文本框 3"/>
          <p:cNvSpPr txBox="1"/>
          <p:nvPr/>
        </p:nvSpPr>
        <p:spPr>
          <a:xfrm>
            <a:off x="622300" y="546100"/>
            <a:ext cx="6286500" cy="345440"/>
          </a:xfrm>
          <a:prstGeom prst="rect">
            <a:avLst/>
          </a:prstGeom>
          <a:noFill/>
        </p:spPr>
        <p:txBody>
          <a:bodyPr vert="horz" wrap="square" lIns="0" tIns="0" rIns="0" bIns="0" rtlCol="0">
            <a:noAutofit/>
          </a:bodyPr>
          <a:lstStyle/>
          <a:p>
            <a:r>
              <a:rPr lang="zh-CN" altLang="en-US" sz="2100" b="1">
                <a:solidFill>
                  <a:srgbClr val="004A9F"/>
                </a:solidFill>
                <a:latin typeface="微软雅黑" panose="020B0503020204020204" pitchFamily="34" charset="-122"/>
                <a:ea typeface="微软雅黑" panose="020B0503020204020204" pitchFamily="34" charset="-122"/>
              </a:rPr>
              <a:t>硕士学位论文开题汇报</a:t>
            </a:r>
            <a:endParaRPr lang="zh-CN" altLang="en-US" sz="2100" b="1">
              <a:solidFill>
                <a:srgbClr val="004A9F"/>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93200" y="596900"/>
            <a:ext cx="2705100" cy="276999"/>
          </a:xfrm>
          <a:prstGeom prst="rect">
            <a:avLst/>
          </a:prstGeom>
          <a:noFill/>
        </p:spPr>
        <p:txBody>
          <a:bodyPr vert="horz" wrap="square" lIns="0" tIns="0" rIns="0" bIns="0" rtlCol="0">
            <a:noAutofit/>
          </a:bodyPr>
          <a:lstStyle/>
          <a:p>
            <a:r>
              <a:rPr lang="en-US" altLang="zh-CN" sz="1300">
                <a:solidFill>
                  <a:srgbClr val="586674"/>
                </a:solidFill>
                <a:latin typeface="微软雅黑" panose="020B0503020204020204" pitchFamily="34" charset="-122"/>
                <a:ea typeface="微软雅黑" panose="020B0503020204020204" pitchFamily="34" charset="-122"/>
              </a:rPr>
              <a:t>Northeastern University</a:t>
            </a:r>
            <a:endParaRPr lang="zh-CN" altLang="en-US" sz="1300">
              <a:solidFill>
                <a:srgbClr val="586674"/>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35000" y="1028700"/>
            <a:ext cx="6858000" cy="0"/>
          </a:xfrm>
          <a:prstGeom prst="line">
            <a:avLst/>
          </a:prstGeom>
          <a:ln w="50800">
            <a:solidFill>
              <a:srgbClr val="D8E4E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35000" y="1028700"/>
            <a:ext cx="609600" cy="0"/>
          </a:xfrm>
          <a:prstGeom prst="line">
            <a:avLst/>
          </a:prstGeom>
          <a:ln w="50800">
            <a:solidFill>
              <a:srgbClr val="004A9F"/>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2300" y="1892300"/>
            <a:ext cx="7112000" cy="756920"/>
          </a:xfrm>
          <a:prstGeom prst="rect">
            <a:avLst/>
          </a:prstGeom>
          <a:noFill/>
        </p:spPr>
        <p:txBody>
          <a:bodyPr vert="horz" wrap="square" lIns="0" tIns="0" rIns="0" bIns="0" rtlCol="0">
            <a:noAutofit/>
          </a:bodyPr>
          <a:lstStyle/>
          <a:p>
            <a:r>
              <a:rPr lang="zh-CN" altLang="en-US" sz="4800" b="1">
                <a:solidFill>
                  <a:srgbClr val="004A9F"/>
                </a:solidFill>
                <a:latin typeface="微软雅黑" panose="020B0503020204020204" pitchFamily="34" charset="-122"/>
                <a:ea typeface="微软雅黑" panose="020B0503020204020204" pitchFamily="34" charset="-122"/>
              </a:rPr>
              <a:t>感谢各位老师聆听</a:t>
            </a:r>
            <a:endParaRPr lang="zh-CN" altLang="en-US" sz="4800" b="1">
              <a:solidFill>
                <a:srgbClr val="004A9F"/>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22300" y="2717800"/>
            <a:ext cx="7048500" cy="726440"/>
          </a:xfrm>
          <a:prstGeom prst="rect">
            <a:avLst/>
          </a:prstGeom>
          <a:noFill/>
        </p:spPr>
        <p:txBody>
          <a:bodyPr vert="horz" wrap="square" lIns="0" tIns="0" rIns="0" bIns="0" rtlCol="0">
            <a:noAutofit/>
          </a:bodyPr>
          <a:lstStyle/>
          <a:p>
            <a:r>
              <a:rPr lang="zh-CN" altLang="en-US" sz="4600" b="1">
                <a:solidFill>
                  <a:srgbClr val="004A9F"/>
                </a:solidFill>
                <a:latin typeface="微软雅黑" panose="020B0503020204020204" pitchFamily="34" charset="-122"/>
                <a:ea typeface="微软雅黑" panose="020B0503020204020204" pitchFamily="34" charset="-122"/>
              </a:rPr>
              <a:t>恳请批评指正</a:t>
            </a:r>
            <a:endParaRPr lang="zh-CN" altLang="en-US" sz="4600" b="1">
              <a:solidFill>
                <a:srgbClr val="004A9F"/>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35000" y="3733800"/>
            <a:ext cx="6680200" cy="276999"/>
          </a:xfrm>
          <a:prstGeom prst="rect">
            <a:avLst/>
          </a:prstGeom>
          <a:noFill/>
        </p:spPr>
        <p:txBody>
          <a:bodyPr vert="horz" wrap="square" lIns="0" tIns="0" rIns="0" bIns="0" rtlCol="0">
            <a:noAutofit/>
          </a:bodyPr>
          <a:lstStyle/>
          <a:p>
            <a:r>
              <a:rPr lang="zh-CN" altLang="en-US">
                <a:solidFill>
                  <a:srgbClr val="586674"/>
                </a:solidFill>
                <a:latin typeface="微软雅黑" panose="020B0503020204020204" pitchFamily="34" charset="-122"/>
                <a:ea typeface="微软雅黑" panose="020B0503020204020204" pitchFamily="34" charset="-122"/>
              </a:rPr>
              <a:t>复杂工况下三维目标检测方法研究</a:t>
            </a:r>
            <a:endParaRPr lang="zh-CN" altLang="en-US">
              <a:solidFill>
                <a:srgbClr val="586674"/>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a:off x="635000" y="4495800"/>
            <a:ext cx="4699000" cy="0"/>
          </a:xfrm>
          <a:prstGeom prst="line">
            <a:avLst/>
          </a:prstGeom>
          <a:ln w="50800">
            <a:solidFill>
              <a:srgbClr val="D8E4E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35000" y="4495800"/>
            <a:ext cx="723900" cy="0"/>
          </a:xfrm>
          <a:prstGeom prst="line">
            <a:avLst/>
          </a:prstGeom>
          <a:ln w="50800">
            <a:solidFill>
              <a:srgbClr val="004A9F"/>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35000" y="5486400"/>
            <a:ext cx="7112000" cy="276999"/>
          </a:xfrm>
          <a:prstGeom prst="rect">
            <a:avLst/>
          </a:prstGeom>
          <a:noFill/>
        </p:spPr>
        <p:txBody>
          <a:bodyPr vert="horz" wrap="square" lIns="0" tIns="0" rIns="0" bIns="0" rtlCol="0">
            <a:noAutofit/>
          </a:bodyPr>
          <a:lstStyle/>
          <a:p>
            <a:r>
              <a:rPr lang="zh-CN" altLang="en-US" sz="1700">
                <a:solidFill>
                  <a:srgbClr val="18222D"/>
                </a:solidFill>
                <a:latin typeface="微软雅黑" panose="020B0503020204020204" pitchFamily="34" charset="-122"/>
                <a:ea typeface="微软雅黑" panose="020B0503020204020204" pitchFamily="34" charset="-122"/>
              </a:rPr>
              <a:t>汇报人：罗思宇     导师：潘峰     时间：</a:t>
            </a:r>
            <a:r>
              <a:rPr lang="en-US" altLang="zh-CN" sz="1700">
                <a:solidFill>
                  <a:srgbClr val="18222D"/>
                </a:solidFill>
                <a:latin typeface="微软雅黑" panose="020B0503020204020204" pitchFamily="34" charset="-122"/>
                <a:ea typeface="微软雅黑" panose="020B0503020204020204" pitchFamily="34" charset="-122"/>
              </a:rPr>
              <a:t>2026</a:t>
            </a:r>
            <a:r>
              <a:rPr lang="zh-CN" altLang="en-US" sz="1700">
                <a:solidFill>
                  <a:srgbClr val="18222D"/>
                </a:solidFill>
                <a:latin typeface="微软雅黑" panose="020B0503020204020204" pitchFamily="34" charset="-122"/>
                <a:ea typeface="微软雅黑" panose="020B0503020204020204" pitchFamily="34" charset="-122"/>
              </a:rPr>
              <a:t>年</a:t>
            </a:r>
            <a:r>
              <a:rPr lang="en-US" altLang="zh-CN" sz="1700">
                <a:solidFill>
                  <a:srgbClr val="18222D"/>
                </a:solidFill>
                <a:latin typeface="微软雅黑" panose="020B0503020204020204" pitchFamily="34" charset="-122"/>
                <a:ea typeface="微软雅黑" panose="020B0503020204020204" pitchFamily="34" charset="-122"/>
              </a:rPr>
              <a:t>10</a:t>
            </a:r>
            <a:r>
              <a:rPr lang="zh-CN" altLang="en-US" sz="1700">
                <a:solidFill>
                  <a:srgbClr val="18222D"/>
                </a:solidFill>
                <a:latin typeface="微软雅黑" panose="020B0503020204020204" pitchFamily="34" charset="-122"/>
                <a:ea typeface="微软雅黑" panose="020B0503020204020204" pitchFamily="34" charset="-122"/>
              </a:rPr>
              <a:t>月</a:t>
            </a:r>
            <a:endParaRPr lang="zh-CN" altLang="en-US" sz="1700">
              <a:solidFill>
                <a:srgbClr val="18222D"/>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635000" y="5943600"/>
            <a:ext cx="7188200" cy="276999"/>
          </a:xfrm>
          <a:prstGeom prst="rect">
            <a:avLst/>
          </a:prstGeom>
          <a:noFill/>
        </p:spPr>
        <p:txBody>
          <a:bodyPr vert="horz" wrap="square" lIns="0" tIns="0" rIns="0" bIns="0" rtlCol="0">
            <a:noAutofit/>
          </a:bodyPr>
          <a:lstStyle/>
          <a:p>
            <a:r>
              <a:rPr lang="en-US" altLang="zh-CN" sz="1100">
                <a:solidFill>
                  <a:srgbClr val="586674"/>
                </a:solidFill>
                <a:latin typeface="微软雅黑" panose="020B0503020204020204" pitchFamily="34" charset="-122"/>
                <a:ea typeface="微软雅黑" panose="020B0503020204020204" pitchFamily="34" charset="-122"/>
              </a:rPr>
              <a:t>3D Object Detection Under Complex Driving Conditions</a:t>
            </a:r>
            <a:endParaRPr lang="zh-CN" altLang="en-US" sz="1100">
              <a:solidFill>
                <a:srgbClr val="586674"/>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1671300" y="6578600"/>
            <a:ext cx="355600" cy="276999"/>
          </a:xfrm>
          <a:prstGeom prst="rect">
            <a:avLst/>
          </a:prstGeom>
          <a:noFill/>
        </p:spPr>
        <p:txBody>
          <a:bodyPr vert="horz" wrap="square" lIns="0" tIns="0" rIns="0" bIns="0" rtlCol="0">
            <a:noAutofit/>
          </a:bodyPr>
          <a:lstStyle/>
          <a:p>
            <a:pPr algn="ctr"/>
            <a:r>
              <a:rPr lang="en-US" altLang="zh-CN" sz="1200">
                <a:solidFill>
                  <a:srgbClr val="586674"/>
                </a:solidFill>
                <a:latin typeface="微软雅黑" panose="020B0503020204020204" pitchFamily="34" charset="-122"/>
                <a:ea typeface="微软雅黑" panose="020B0503020204020204" pitchFamily="34" charset="-122"/>
              </a:rPr>
              <a:t>21</a:t>
            </a:r>
            <a:endParaRPr lang="en-US" altLang="zh-CN" sz="1200">
              <a:solidFill>
                <a:srgbClr val="586674"/>
              </a:solidFill>
              <a:latin typeface="微软雅黑" panose="020B0503020204020204" pitchFamily="34" charset="-122"/>
              <a:ea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6152</Words>
  <Application>WPS 演示</Application>
  <PresentationFormat>宽屏</PresentationFormat>
  <Paragraphs>1169</Paragraphs>
  <Slides>21</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微软雅黑</vt:lpstr>
      <vt:lpstr>Arial Unicode MS</vt:lpstr>
      <vt:lpstr>等线 Light</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思宇 罗</dc:creator>
  <cp:lastModifiedBy>酷哥</cp:lastModifiedBy>
  <cp:revision>4</cp:revision>
  <dcterms:created xsi:type="dcterms:W3CDTF">2026-10-18T04:47:00Z</dcterms:created>
  <dcterms:modified xsi:type="dcterms:W3CDTF">2026-10-23T11:59:35Z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8F8BCA0446784F398DFA786771C86D76_12</vt:lpwstr>
  </property>
  <property fmtid="{D5CDD505-2E9C-101B-9397-08002B2CF9AE}" pid="3" name="KSOProductBuildVer">
    <vt:lpwstr>2052-12.1.0.29161</vt:lpwstr>
  </property>
</Properties>
</file>